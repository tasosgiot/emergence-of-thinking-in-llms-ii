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8" r:id="rId3"/>
    <p:sldId id="259" r:id="rId4"/>
    <p:sldId id="296" r:id="rId5"/>
    <p:sldId id="295" r:id="rId6"/>
    <p:sldId id="288" r:id="rId7"/>
    <p:sldId id="305" r:id="rId8"/>
    <p:sldId id="292" r:id="rId9"/>
    <p:sldId id="291" r:id="rId10"/>
    <p:sldId id="290" r:id="rId11"/>
    <p:sldId id="289" r:id="rId12"/>
    <p:sldId id="294" r:id="rId13"/>
    <p:sldId id="293" r:id="rId14"/>
    <p:sldId id="297" r:id="rId15"/>
    <p:sldId id="306" r:id="rId16"/>
    <p:sldId id="286" r:id="rId17"/>
    <p:sldId id="287" r:id="rId18"/>
    <p:sldId id="274" r:id="rId19"/>
    <p:sldId id="285" r:id="rId20"/>
    <p:sldId id="284" r:id="rId21"/>
  </p:sldIdLst>
  <p:sldSz cx="12192000" cy="6858000"/>
  <p:notesSz cx="6858000" cy="9144000"/>
  <p:embeddedFontLst>
    <p:embeddedFont>
      <p:font typeface="Cambria Math" panose="02040503050406030204" pitchFamily="18" charset="0"/>
      <p:regular r:id="rId23"/>
    </p:embeddedFont>
    <p:embeddedFont>
      <p:font typeface="Lato" panose="020F0502020204030203" pitchFamily="34" charset="0"/>
      <p:regular r:id="rId24"/>
      <p:bold r:id="rId25"/>
      <p:italic r:id="rId26"/>
      <p:boldItalic r:id="rId27"/>
    </p:embeddedFont>
    <p:embeddedFont>
      <p:font typeface="Lato Black" panose="020F0502020204030203" pitchFamily="34" charset="0"/>
      <p:bold r:id="rId28"/>
      <p:boldItalic r:id="rId29"/>
    </p:embeddedFont>
    <p:embeddedFont>
      <p:font typeface="Poppins" panose="00000500000000000000" pitchFamily="2" charset="0"/>
      <p:regular r:id="rId30"/>
      <p:bold r:id="rId31"/>
      <p:italic r:id="rId32"/>
      <p:boldItalic r:id="rId33"/>
    </p:embeddedFont>
    <p:embeddedFont>
      <p:font typeface="Poppins SemiBold" panose="000007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96E33B0-2365-42D6-A461-B0E68D2D0F51}">
          <p14:sldIdLst>
            <p14:sldId id="256"/>
            <p14:sldId id="258"/>
            <p14:sldId id="259"/>
            <p14:sldId id="296"/>
            <p14:sldId id="295"/>
            <p14:sldId id="288"/>
          </p14:sldIdLst>
        </p14:section>
        <p14:section name="RECREATION" id="{1FF171C1-4AC2-4232-9814-24BDBE666E77}">
          <p14:sldIdLst>
            <p14:sldId id="305"/>
            <p14:sldId id="292"/>
            <p14:sldId id="291"/>
            <p14:sldId id="290"/>
            <p14:sldId id="289"/>
          </p14:sldIdLst>
        </p14:section>
        <p14:section name="EXTENSIONS" id="{66F2764A-7079-4617-BB2A-BE2C0750E524}">
          <p14:sldIdLst>
            <p14:sldId id="294"/>
            <p14:sldId id="293"/>
            <p14:sldId id="297"/>
            <p14:sldId id="306"/>
          </p14:sldIdLst>
        </p14:section>
        <p14:section name="Untitled Section" id="{F80AD1E6-2C0F-410E-B9B5-68E354166097}">
          <p14:sldIdLst>
            <p14:sldId id="286"/>
            <p14:sldId id="287"/>
            <p14:sldId id="274"/>
            <p14:sldId id="285"/>
            <p14:sldId id="284"/>
          </p14:sldIdLst>
        </p14:section>
      </p14:sectionLst>
    </p:ex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047"/>
    <a:srgbClr val="C084FC"/>
    <a:srgbClr val="4A7DBA"/>
    <a:srgbClr val="070B19"/>
    <a:srgbClr val="A281FF"/>
    <a:srgbClr val="514860"/>
    <a:srgbClr val="0F111C"/>
    <a:srgbClr val="0F1320"/>
    <a:srgbClr val="0F111D"/>
    <a:srgbClr val="0E1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6B673F-BD8D-45ED-9B1B-382C63B9D9E4}" v="6588" dt="2026-06-29T05:30:45.590"/>
    <p1510:client id="{145E33C0-22F6-79DA-E5E0-C49DC74E33C5}" v="1850" dt="2026-06-28T22:50:54.104"/>
    <p1510:client id="{336649D9-A8EB-0485-3EB9-EE9AB53F1C37}" v="11" dt="2026-06-28T23:01:29.440"/>
    <p1510:client id="{3B4192A1-F215-0120-6904-FE262012B17B}" v="61" dt="2026-06-28T21:53:34.230"/>
    <p1510:client id="{4999438F-1378-952A-5922-D54DE5FEA3FC}" v="2" dt="2026-06-28T22:11:33.025"/>
    <p1510:client id="{50E8F538-B4AF-BCE9-ECF2-CD4C5E343DAA}" v="4" dt="2026-06-28T21:11:28.917"/>
    <p1510:client id="{854F79EF-6A3B-9286-5B69-8AC1BC331B8D}" v="141" dt="2026-06-28T22:53:16.411"/>
    <p1510:client id="{9EB49B25-68BA-4AF9-CDF9-50EBA4230DA2}" v="14" dt="2026-06-28T19:41:44.769"/>
    <p1510:client id="{DEC3FA2C-359A-A129-1663-19F4B63F01C3}" v="13" dt="2026-06-28T23:05:04.932"/>
    <p1510:client id="{E96668F3-B74E-F0BF-A80E-1B0C3B0D8735}" v="308" dt="2026-06-28T21:27:09.323"/>
    <p1510:client id="{FDEB4F0F-D675-65CB-60B7-88108BB22795}" v="1" dt="2026-06-28T21:28:14.148"/>
    <p1510:client id="{FEE5A2E1-8D58-775C-86E0-1D02C0FE52F0}" v="75" dt="2026-06-28T15:54:05.941"/>
  </p1510:revLst>
</p1510:revInfo>
</file>

<file path=ppt/tableStyles.xml><?xml version="1.0" encoding="utf-8"?>
<a:tblStyleLst xmlns:a="http://schemas.openxmlformats.org/drawingml/2006/main" def="{9F999E4E-5BA7-4DE1-9601-BB02968FC5E9}">
  <a:tblStyle styleId="{9F999E4E-5BA7-4DE1-9601-BB02968FC5E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2.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B058ED92-0B83-D4C0-E26C-A887AF7EF22D}"/>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5040B96C-B66A-2FC3-7738-2CAAAB037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CC415CCB-95BC-AEC1-94B1-0FF014DBFA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30054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0EBB8F58-9BB2-FF63-0F75-27B0A347341E}"/>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15248574-780A-8131-18C2-3966665A9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2A5264E8-1D64-9083-98C7-9D35C188E5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95541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2660E22E-4ED7-0EE2-48F3-555AF382D09F}"/>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0417481E-5C7B-DE44-81B4-2C530F5288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162A67DD-E5C3-4737-AD50-6E1099376E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76485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3404C2A-161D-EFF8-9659-B5E1E1C4878E}"/>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E55C93D9-F6CE-A334-69A0-33B89C1D66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79536B7F-0814-D679-5BCC-51306FD312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19730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1215FBE0-A5DA-B713-8A60-DE7DC42A3145}"/>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7DB3104C-99D6-5C0F-0F7F-D55EDA3890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83C3F2A3-3646-C524-F116-1C0AECFAB1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57292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B4BACE34-3F0D-98B3-BB7D-F12F45EEFA51}"/>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D2676C68-4C0B-8F9B-5AE7-B511527BDC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9725625B-9BA4-F6F5-0131-285201FF7D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71993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D3FA7A65-EF85-794B-F9A1-96309F189289}"/>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C7D931D2-455D-AE23-E894-24D7206C64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E99E447D-A1DD-163E-A16F-6A4F6368D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2400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9CFA910F-D5CB-C956-6AFC-B52BF03D64FC}"/>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C9442759-EC34-F81B-0887-7D91289A1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3DE95751-54C3-FA05-F53E-A4776A4625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49205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84A3308F-8824-79B4-4B82-30407E3298ED}"/>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8464DA5C-0A7A-6C2F-7F5E-D31E96D168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2FFE6136-445F-DE6F-7015-49167EFEC9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534927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BD8FCE04-27C9-1479-50A5-A31F774AAB47}"/>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E1EBE19D-CBB8-74CE-8A20-F8CAC850D2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9C19E231-1E96-85A9-4A62-FF7CDEB4EE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07210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4B2EC3C1-0453-FA63-B830-EDBCE968C3FA}"/>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6E3A619A-A9A6-0736-01FD-0A4FF4D140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548A424F-5D6B-228F-14BA-72C466737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139289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B2182694-3DB6-E287-D4F3-8531573B9239}"/>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BF9A7AFA-F8DD-87B6-7662-EFD88EAE2D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3088061D-93B3-D430-7A14-0A0E272D3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2951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0033C734-4358-0AD8-7EF3-B2AE319B55F0}"/>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F09DFB02-D0B0-641F-6F1D-1F00494A1E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FF6F8994-655C-EC47-B1AD-573995DB3C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837923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D8140D21-2107-E79D-AAE7-3DA5BFF8340A}"/>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6E1A071E-505E-4304-8D09-B8F1DF7EC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3F20C67C-B728-239F-417D-2963B7356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522178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32065658-F5A8-172A-23F0-EDE50DCB9AA3}"/>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6D529EFE-1911-BC2C-2800-FE18477513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42FB3F25-697F-BB93-7D46-0185F7AE9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30343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AF056B05-A331-0B2A-CD64-812AD190744C}"/>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58C555C0-34DD-572C-EBA1-B821E775C2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722354D2-B6BD-B23A-6D6F-861BEE22C5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59715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893137D-8747-555A-4F56-6C6413014F11}"/>
            </a:ext>
          </a:extLst>
        </p:cNvPr>
        <p:cNvGrpSpPr/>
        <p:nvPr/>
      </p:nvGrpSpPr>
      <p:grpSpPr>
        <a:xfrm>
          <a:off x="0" y="0"/>
          <a:ext cx="0" cy="0"/>
          <a:chOff x="0" y="0"/>
          <a:chExt cx="0" cy="0"/>
        </a:xfrm>
      </p:grpSpPr>
      <p:sp>
        <p:nvSpPr>
          <p:cNvPr id="240" name="Google Shape;240;p8:notes">
            <a:extLst>
              <a:ext uri="{FF2B5EF4-FFF2-40B4-BE49-F238E27FC236}">
                <a16:creationId xmlns:a16="http://schemas.microsoft.com/office/drawing/2014/main" id="{E706CC9D-5A26-6779-DAC4-2F22DFA2D2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a:extLst>
              <a:ext uri="{FF2B5EF4-FFF2-40B4-BE49-F238E27FC236}">
                <a16:creationId xmlns:a16="http://schemas.microsoft.com/office/drawing/2014/main" id="{62CD1416-6747-3B92-A768-AFD81ABCD9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26542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00260335"/>
      </p:ext>
    </p:extLst>
  </p:cSld>
  <p:clrMapOvr>
    <a:masterClrMapping/>
  </p:clrMapOvr>
  <p:transition>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B19"/>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transition>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3.pn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4.png"/><Relationship Id="rId9"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24.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33.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2085340" y="1452880"/>
            <a:ext cx="7990840" cy="3688080"/>
          </a:xfrm>
          <a:prstGeom prst="rect">
            <a:avLst/>
          </a:prstGeom>
          <a:noFill/>
          <a:ln>
            <a:noFill/>
          </a:ln>
        </p:spPr>
      </p:pic>
      <p:sp>
        <p:nvSpPr>
          <p:cNvPr id="86" name="Google Shape;86;p13"/>
          <p:cNvSpPr txBox="1"/>
          <p:nvPr/>
        </p:nvSpPr>
        <p:spPr>
          <a:xfrm>
            <a:off x="3037999" y="1626870"/>
            <a:ext cx="6116002" cy="1384995"/>
          </a:xfrm>
          <a:prstGeom prst="rect">
            <a:avLst/>
          </a:prstGeom>
          <a:noFill/>
          <a:ln>
            <a:noFill/>
          </a:ln>
          <a:effectLst>
            <a:glow>
              <a:schemeClr val="accent2">
                <a:satMod val="175000"/>
              </a:schemeClr>
            </a:glow>
          </a:effectLst>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FFFFF"/>
                </a:solidFill>
                <a:latin typeface="Poppins"/>
                <a:ea typeface="Poppins"/>
                <a:cs typeface="Poppins"/>
                <a:sym typeface="Poppins"/>
              </a:rPr>
              <a:t>On the </a:t>
            </a:r>
            <a:r>
              <a:rPr lang="en-US" sz="4500" b="1">
                <a:solidFill>
                  <a:srgbClr val="FFFFFF"/>
                </a:solidFill>
                <a:latin typeface="Poppins"/>
                <a:ea typeface="Poppins"/>
                <a:cs typeface="Poppins"/>
                <a:sym typeface="Poppins"/>
              </a:rPr>
              <a:t>Emergence</a:t>
            </a:r>
            <a:r>
              <a:rPr lang="en-US" sz="4500" b="1" i="0" u="none" strike="noStrike" cap="none">
                <a:solidFill>
                  <a:srgbClr val="FFFFFF"/>
                </a:solidFill>
                <a:latin typeface="Poppins"/>
                <a:ea typeface="Poppins"/>
                <a:cs typeface="Poppins"/>
                <a:sym typeface="Poppins"/>
              </a:rPr>
              <a:t> of</a:t>
            </a:r>
            <a:br>
              <a:rPr lang="en-US" sz="1800" b="0" i="0" u="none" strike="noStrike" cap="none">
                <a:latin typeface="Calibri"/>
                <a:ea typeface="Calibri"/>
                <a:cs typeface="Calibri"/>
              </a:rPr>
            </a:br>
            <a:r>
              <a:rPr lang="en-US" sz="4500" b="1" i="0" u="none" strike="noStrike" cap="none">
                <a:solidFill>
                  <a:srgbClr val="FFFFFF"/>
                </a:solidFill>
                <a:latin typeface="Poppins"/>
                <a:ea typeface="Poppins"/>
                <a:cs typeface="Poppins"/>
                <a:sym typeface="Poppins"/>
              </a:rPr>
              <a:t> Thinking in LLMs </a:t>
            </a:r>
            <a:r>
              <a:rPr lang="en-US" sz="4500" b="1">
                <a:solidFill>
                  <a:srgbClr val="FFFFFF"/>
                </a:solidFill>
                <a:latin typeface="Poppins"/>
                <a:ea typeface="Poppins"/>
                <a:cs typeface="Poppins"/>
                <a:sym typeface="Poppins"/>
              </a:rPr>
              <a:t>I:</a:t>
            </a:r>
            <a:endParaRPr/>
          </a:p>
        </p:txBody>
      </p:sp>
      <p:sp>
        <p:nvSpPr>
          <p:cNvPr id="87" name="Google Shape;87;p13"/>
          <p:cNvSpPr txBox="1"/>
          <p:nvPr/>
        </p:nvSpPr>
        <p:spPr>
          <a:xfrm>
            <a:off x="3942715" y="3004548"/>
            <a:ext cx="4306570" cy="5539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b="1" i="1" u="none" strike="noStrike" cap="none">
                <a:solidFill>
                  <a:srgbClr val="C084FC"/>
                </a:solidFill>
                <a:latin typeface="Lato"/>
                <a:ea typeface="Lato"/>
                <a:cs typeface="Lato"/>
                <a:sym typeface="Lato"/>
              </a:rPr>
              <a:t>Searching for the Right </a:t>
            </a:r>
            <a:r>
              <a:rPr lang="en-US" sz="2400" b="1" i="1">
                <a:solidFill>
                  <a:srgbClr val="C084FC"/>
                </a:solidFill>
                <a:latin typeface="Lato"/>
                <a:ea typeface="Lato"/>
                <a:cs typeface="Lato"/>
                <a:sym typeface="Lato"/>
              </a:rPr>
              <a:t>Intuition</a:t>
            </a:r>
          </a:p>
        </p:txBody>
      </p:sp>
      <p:sp>
        <p:nvSpPr>
          <p:cNvPr id="2" name="TextBox 1">
            <a:extLst>
              <a:ext uri="{FF2B5EF4-FFF2-40B4-BE49-F238E27FC236}">
                <a16:creationId xmlns:a16="http://schemas.microsoft.com/office/drawing/2014/main" id="{05B33643-6D0F-A912-8C7C-D3831BCB0553}"/>
              </a:ext>
            </a:extLst>
          </p:cNvPr>
          <p:cNvSpPr txBox="1"/>
          <p:nvPr/>
        </p:nvSpPr>
        <p:spPr>
          <a:xfrm>
            <a:off x="5386977" y="3618280"/>
            <a:ext cx="13817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u="none" strike="noStrike" baseline="0">
                <a:solidFill>
                  <a:srgbClr val="FFC000"/>
                </a:solidFill>
                <a:latin typeface="Lato"/>
              </a:rPr>
              <a:t>Team 05</a:t>
            </a:r>
            <a:endParaRPr lang="en-GB">
              <a:solidFill>
                <a:srgbClr val="FFC000"/>
              </a:solidFill>
            </a:endParaRPr>
          </a:p>
        </p:txBody>
      </p:sp>
      <p:sp>
        <p:nvSpPr>
          <p:cNvPr id="3" name="TextBox 2">
            <a:extLst>
              <a:ext uri="{FF2B5EF4-FFF2-40B4-BE49-F238E27FC236}">
                <a16:creationId xmlns:a16="http://schemas.microsoft.com/office/drawing/2014/main" id="{8DE2CB39-A0AA-ECAD-9158-CEF41FDF5BC7}"/>
              </a:ext>
            </a:extLst>
          </p:cNvPr>
          <p:cNvSpPr txBox="1"/>
          <p:nvPr/>
        </p:nvSpPr>
        <p:spPr>
          <a:xfrm>
            <a:off x="2475413" y="3881483"/>
            <a:ext cx="294349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err="1">
                <a:solidFill>
                  <a:schemeClr val="bg1"/>
                </a:solidFill>
                <a:latin typeface="Lato Black"/>
                <a:ea typeface="Lato Black"/>
                <a:cs typeface="Lato Black"/>
              </a:rPr>
              <a:t>Στ</a:t>
            </a:r>
            <a:r>
              <a:rPr lang="en-US" b="1" i="1">
                <a:solidFill>
                  <a:schemeClr val="bg1"/>
                </a:solidFill>
                <a:latin typeface="Lato Black"/>
                <a:ea typeface="Lato Black"/>
                <a:cs typeface="Lato Black"/>
              </a:rPr>
              <a:t>α</a:t>
            </a:r>
            <a:r>
              <a:rPr lang="en-US" b="1" i="1" err="1">
                <a:solidFill>
                  <a:schemeClr val="bg1"/>
                </a:solidFill>
                <a:latin typeface="Lato Black"/>
                <a:ea typeface="Lato Black"/>
                <a:cs typeface="Lato Black"/>
              </a:rPr>
              <a:t>ύρος</a:t>
            </a:r>
            <a:r>
              <a:rPr lang="en-US" b="1" i="1">
                <a:solidFill>
                  <a:schemeClr val="bg1"/>
                </a:solidFill>
                <a:latin typeface="Lato Black"/>
                <a:ea typeface="Lato Black"/>
                <a:cs typeface="Lato Black"/>
              </a:rPr>
              <a:t> Μα</a:t>
            </a:r>
            <a:r>
              <a:rPr lang="en-US" b="1" i="1" err="1">
                <a:solidFill>
                  <a:schemeClr val="bg1"/>
                </a:solidFill>
                <a:latin typeface="Lato Black"/>
                <a:ea typeface="Lato Black"/>
                <a:cs typeface="Lato Black"/>
              </a:rPr>
              <a:t>νι</a:t>
            </a:r>
            <a:r>
              <a:rPr lang="en-US" b="1" i="1">
                <a:solidFill>
                  <a:schemeClr val="bg1"/>
                </a:solidFill>
                <a:latin typeface="Lato Black"/>
                <a:ea typeface="Lato Black"/>
                <a:cs typeface="Lato Black"/>
              </a:rPr>
              <a:t>α</a:t>
            </a:r>
            <a:r>
              <a:rPr lang="en-US" b="1" i="1" err="1">
                <a:solidFill>
                  <a:schemeClr val="bg1"/>
                </a:solidFill>
                <a:latin typeface="Lato Black"/>
                <a:ea typeface="Lato Black"/>
                <a:cs typeface="Lato Black"/>
              </a:rPr>
              <a:t>τογιάννης</a:t>
            </a:r>
            <a:endParaRPr lang="en-US" b="1" i="1">
              <a:solidFill>
                <a:schemeClr val="bg1"/>
              </a:solidFill>
              <a:latin typeface="Lato Black"/>
              <a:ea typeface="Lato Black"/>
              <a:cs typeface="Lato Black"/>
            </a:endParaRPr>
          </a:p>
          <a:p>
            <a:pPr algn="ctr"/>
            <a:r>
              <a:rPr lang="en-US" b="1" i="1" err="1">
                <a:solidFill>
                  <a:schemeClr val="bg1"/>
                </a:solidFill>
                <a:latin typeface="Lato Black"/>
                <a:ea typeface="Lato Black"/>
                <a:cs typeface="Lato Black"/>
              </a:rPr>
              <a:t>Ηλί</a:t>
            </a:r>
            <a:r>
              <a:rPr lang="en-US" b="1" i="1">
                <a:solidFill>
                  <a:schemeClr val="bg1"/>
                </a:solidFill>
                <a:latin typeface="Lato Black"/>
                <a:ea typeface="Lato Black"/>
                <a:cs typeface="Lato Black"/>
              </a:rPr>
              <a:t>ας </a:t>
            </a:r>
            <a:r>
              <a:rPr lang="en-US" b="1" i="1" err="1">
                <a:solidFill>
                  <a:schemeClr val="bg1"/>
                </a:solidFill>
                <a:latin typeface="Lato Black"/>
                <a:ea typeface="Lato Black"/>
                <a:cs typeface="Lato Black"/>
              </a:rPr>
              <a:t>Στυλι</a:t>
            </a:r>
            <a:r>
              <a:rPr lang="en-US" b="1" i="1">
                <a:solidFill>
                  <a:schemeClr val="bg1"/>
                </a:solidFill>
                <a:latin typeface="Lato Black"/>
                <a:ea typeface="Lato Black"/>
                <a:cs typeface="Lato Black"/>
              </a:rPr>
              <a:t>α</a:t>
            </a:r>
            <a:r>
              <a:rPr lang="en-US" b="1" i="1" err="1">
                <a:solidFill>
                  <a:schemeClr val="bg1"/>
                </a:solidFill>
                <a:latin typeface="Lato Black"/>
                <a:ea typeface="Lato Black"/>
                <a:cs typeface="Lato Black"/>
              </a:rPr>
              <a:t>νός</a:t>
            </a:r>
            <a:r>
              <a:rPr lang="en-US" b="1" i="1">
                <a:solidFill>
                  <a:schemeClr val="bg1"/>
                </a:solidFill>
                <a:latin typeface="Lato Black"/>
                <a:ea typeface="Lato Black"/>
                <a:cs typeface="Lato Black"/>
              </a:rPr>
              <a:t> Ηλιάδης</a:t>
            </a:r>
            <a:endParaRPr lang="en-US">
              <a:solidFill>
                <a:schemeClr val="bg1"/>
              </a:solidFill>
              <a:latin typeface="Lato Black"/>
              <a:ea typeface="Lato Black"/>
              <a:cs typeface="Lato Black"/>
            </a:endParaRPr>
          </a:p>
        </p:txBody>
      </p:sp>
      <p:sp>
        <p:nvSpPr>
          <p:cNvPr id="4" name="TextBox 3">
            <a:extLst>
              <a:ext uri="{FF2B5EF4-FFF2-40B4-BE49-F238E27FC236}">
                <a16:creationId xmlns:a16="http://schemas.microsoft.com/office/drawing/2014/main" id="{A99B01EC-E905-036B-093F-98ADD0E2D183}"/>
              </a:ext>
            </a:extLst>
          </p:cNvPr>
          <p:cNvSpPr txBox="1"/>
          <p:nvPr/>
        </p:nvSpPr>
        <p:spPr>
          <a:xfrm>
            <a:off x="6898079" y="3889465"/>
            <a:ext cx="244856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err="1">
                <a:solidFill>
                  <a:schemeClr val="bg1"/>
                </a:solidFill>
                <a:latin typeface="Lato Black"/>
                <a:ea typeface="Lato Black"/>
                <a:cs typeface="Lato Black"/>
              </a:rPr>
              <a:t>Αν</a:t>
            </a:r>
            <a:r>
              <a:rPr lang="en-US" b="1" i="1">
                <a:solidFill>
                  <a:schemeClr val="bg1"/>
                </a:solidFill>
                <a:latin typeface="Lato Black"/>
                <a:ea typeface="Lato Black"/>
                <a:cs typeface="Lato Black"/>
              </a:rPr>
              <a:t>α</a:t>
            </a:r>
            <a:r>
              <a:rPr lang="en-US" b="1" i="1" err="1">
                <a:solidFill>
                  <a:schemeClr val="bg1"/>
                </a:solidFill>
                <a:latin typeface="Lato Black"/>
                <a:ea typeface="Lato Black"/>
                <a:cs typeface="Lato Black"/>
              </a:rPr>
              <a:t>στάσιος</a:t>
            </a:r>
            <a:r>
              <a:rPr lang="en-US" b="1" i="1">
                <a:solidFill>
                  <a:schemeClr val="bg1"/>
                </a:solidFill>
                <a:latin typeface="Lato Black"/>
                <a:ea typeface="Lato Black"/>
                <a:cs typeface="Lato Black"/>
              </a:rPr>
              <a:t> </a:t>
            </a:r>
            <a:r>
              <a:rPr lang="en-US" b="1" i="1" err="1">
                <a:solidFill>
                  <a:schemeClr val="bg1"/>
                </a:solidFill>
                <a:latin typeface="Lato Black"/>
                <a:ea typeface="Lato Black"/>
                <a:cs typeface="Lato Black"/>
              </a:rPr>
              <a:t>Γιωτίτσ</a:t>
            </a:r>
            <a:r>
              <a:rPr lang="en-US" b="1" i="1">
                <a:solidFill>
                  <a:schemeClr val="bg1"/>
                </a:solidFill>
                <a:latin typeface="Lato Black"/>
                <a:ea typeface="Lato Black"/>
                <a:cs typeface="Lato Black"/>
              </a:rPr>
              <a:t>ας </a:t>
            </a:r>
            <a:r>
              <a:rPr lang="en-US" b="1" i="1" err="1">
                <a:solidFill>
                  <a:schemeClr val="bg1"/>
                </a:solidFill>
                <a:latin typeface="Lato Black"/>
                <a:ea typeface="Lato Black"/>
                <a:cs typeface="Lato Black"/>
              </a:rPr>
              <a:t>Δημήτριος</a:t>
            </a:r>
            <a:r>
              <a:rPr lang="en-US" b="1" i="1">
                <a:solidFill>
                  <a:srgbClr val="FFFFFF"/>
                </a:solidFill>
                <a:latin typeface="Lato Black"/>
                <a:ea typeface="Lato Black"/>
                <a:cs typeface="Lato Black"/>
              </a:rPr>
              <a:t> </a:t>
            </a:r>
            <a:r>
              <a:rPr lang="en-US" b="1" i="1" err="1">
                <a:solidFill>
                  <a:srgbClr val="FFFFFF"/>
                </a:solidFill>
                <a:latin typeface="Lato Black"/>
                <a:ea typeface="Lato Black"/>
                <a:cs typeface="Lato Black"/>
              </a:rPr>
              <a:t>Λι</a:t>
            </a:r>
            <a:r>
              <a:rPr lang="en-US" b="1" i="1">
                <a:solidFill>
                  <a:srgbClr val="FFFFFF"/>
                </a:solidFill>
                <a:latin typeface="Lato Black"/>
                <a:ea typeface="Lato Black"/>
                <a:cs typeface="Lato Black"/>
              </a:rPr>
              <a:t>βα</a:t>
            </a:r>
            <a:r>
              <a:rPr lang="en-US" b="1" i="1" err="1">
                <a:solidFill>
                  <a:srgbClr val="FFFFFF"/>
                </a:solidFill>
                <a:latin typeface="Lato Black"/>
                <a:ea typeface="Lato Black"/>
                <a:cs typeface="Lato Black"/>
              </a:rPr>
              <a:t>νάς</a:t>
            </a:r>
            <a:endParaRPr lang="en-US" err="1">
              <a:latin typeface="Lato Black"/>
              <a:ea typeface="Lato Black"/>
              <a:cs typeface="Lato Black"/>
            </a:endParaRPr>
          </a:p>
        </p:txBody>
      </p:sp>
      <p:sp>
        <p:nvSpPr>
          <p:cNvPr id="5" name="TextBox 4">
            <a:extLst>
              <a:ext uri="{FF2B5EF4-FFF2-40B4-BE49-F238E27FC236}">
                <a16:creationId xmlns:a16="http://schemas.microsoft.com/office/drawing/2014/main" id="{6ED5B71D-0CB1-E6FE-0814-7DE4B9E8C9DA}"/>
              </a:ext>
            </a:extLst>
          </p:cNvPr>
          <p:cNvSpPr txBox="1"/>
          <p:nvPr/>
        </p:nvSpPr>
        <p:spPr>
          <a:xfrm>
            <a:off x="4780642" y="4398916"/>
            <a:ext cx="25196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a:solidFill>
                  <a:srgbClr val="C084FC"/>
                </a:solidFill>
                <a:latin typeface="Lato Black"/>
                <a:ea typeface="Lato Black"/>
                <a:cs typeface="Lato Black"/>
              </a:rPr>
              <a:t>Supervisor:</a:t>
            </a:r>
            <a:endParaRPr lang="en-US" b="1" i="1">
              <a:solidFill>
                <a:schemeClr val="bg1"/>
              </a:solidFill>
              <a:latin typeface="Lato Black"/>
              <a:ea typeface="Lato Black"/>
              <a:cs typeface="Lato Black"/>
            </a:endParaRPr>
          </a:p>
          <a:p>
            <a:pPr algn="ctr"/>
            <a:r>
              <a:rPr lang="en-US" b="1" i="1" err="1">
                <a:solidFill>
                  <a:schemeClr val="bg1"/>
                </a:solidFill>
                <a:latin typeface="Lato Black"/>
                <a:ea typeface="Lato Black"/>
                <a:cs typeface="Lato Black"/>
              </a:rPr>
              <a:t>Ιωάννης</a:t>
            </a:r>
            <a:r>
              <a:rPr lang="en-US" b="1" i="1">
                <a:solidFill>
                  <a:schemeClr val="bg1"/>
                </a:solidFill>
                <a:latin typeface="Lato Black"/>
                <a:ea typeface="Lato Black"/>
                <a:cs typeface="Lato Black"/>
              </a:rPr>
              <a:t> </a:t>
            </a:r>
            <a:r>
              <a:rPr lang="en-US" b="1" i="1">
                <a:solidFill>
                  <a:srgbClr val="FFFFFF"/>
                </a:solidFill>
                <a:latin typeface="Lato Black"/>
                <a:ea typeface="Lato Black"/>
                <a:cs typeface="Lato Black"/>
              </a:rPr>
              <a:t>Κα</a:t>
            </a:r>
            <a:r>
              <a:rPr lang="en-US" b="1" i="1" err="1">
                <a:solidFill>
                  <a:srgbClr val="FFFFFF"/>
                </a:solidFill>
                <a:latin typeface="Lato Black"/>
                <a:ea typeface="Lato Black"/>
                <a:cs typeface="Lato Black"/>
              </a:rPr>
              <a:t>λογι</a:t>
            </a:r>
            <a:r>
              <a:rPr lang="en-US" b="1" i="1">
                <a:solidFill>
                  <a:srgbClr val="FFFFFF"/>
                </a:solidFill>
                <a:latin typeface="Lato Black"/>
                <a:ea typeface="Lato Black"/>
                <a:cs typeface="Lato Black"/>
              </a:rPr>
              <a:t>α</a:t>
            </a:r>
            <a:r>
              <a:rPr lang="en-US" b="1" i="1" err="1">
                <a:solidFill>
                  <a:srgbClr val="FFFFFF"/>
                </a:solidFill>
                <a:latin typeface="Lato Black"/>
                <a:ea typeface="Lato Black"/>
                <a:cs typeface="Lato Black"/>
              </a:rPr>
              <a:t>ννίδης</a:t>
            </a:r>
            <a:endParaRPr lang="en-US" b="1" i="1">
              <a:latin typeface="Lato Black"/>
              <a:ea typeface="Lato Black"/>
              <a:cs typeface="Lato Black"/>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6">
                                            <p:txEl>
                                              <p:pRg st="0" end="0"/>
                                            </p:txEl>
                                          </p:spTgt>
                                        </p:tgtEl>
                                        <p:attrNameLst>
                                          <p:attrName>style.visibility</p:attrName>
                                        </p:attrNameLst>
                                      </p:cBhvr>
                                      <p:to>
                                        <p:strVal val="visible"/>
                                      </p:to>
                                    </p:set>
                                    <p:animEffect transition="in" filter="barn(inVertical)">
                                      <p:cBhvr>
                                        <p:cTn id="7" dur="500"/>
                                        <p:tgtEl>
                                          <p:spTgt spid="86">
                                            <p:txEl>
                                              <p:pRg st="0" end="0"/>
                                            </p:txEl>
                                          </p:spTgt>
                                        </p:tgtEl>
                                      </p:cBhvr>
                                    </p:animEffect>
                                  </p:childTnLst>
                                </p:cTn>
                              </p:par>
                            </p:childTnLst>
                          </p:cTn>
                        </p:par>
                        <p:par>
                          <p:cTn id="8" fill="hold">
                            <p:stCondLst>
                              <p:cond delay="500"/>
                            </p:stCondLst>
                            <p:childTnLst>
                              <p:par>
                                <p:cTn id="9" presetID="16" presetClass="entr" presetSubtype="37" fill="hold" nodeType="afterEffect">
                                  <p:stCondLst>
                                    <p:cond delay="250"/>
                                  </p:stCondLst>
                                  <p:childTnLst>
                                    <p:set>
                                      <p:cBhvr>
                                        <p:cTn id="10" dur="1" fill="hold">
                                          <p:stCondLst>
                                            <p:cond delay="0"/>
                                          </p:stCondLst>
                                        </p:cTn>
                                        <p:tgtEl>
                                          <p:spTgt spid="87">
                                            <p:txEl>
                                              <p:pRg st="0" end="0"/>
                                            </p:txEl>
                                          </p:spTgt>
                                        </p:tgtEl>
                                        <p:attrNameLst>
                                          <p:attrName>style.visibility</p:attrName>
                                        </p:attrNameLst>
                                      </p:cBhvr>
                                      <p:to>
                                        <p:strVal val="visible"/>
                                      </p:to>
                                    </p:set>
                                    <p:animEffect transition="in" filter="barn(outVertical)">
                                      <p:cBhvr>
                                        <p:cTn id="11" dur="250"/>
                                        <p:tgtEl>
                                          <p:spTgt spid="87">
                                            <p:txEl>
                                              <p:pRg st="0" end="0"/>
                                            </p:txEl>
                                          </p:spTgt>
                                        </p:tgtEl>
                                      </p:cBhvr>
                                    </p:animEffect>
                                  </p:childTnLst>
                                </p:cTn>
                              </p:par>
                            </p:childTnLst>
                          </p:cTn>
                        </p:par>
                        <p:par>
                          <p:cTn id="12" fill="hold">
                            <p:stCondLst>
                              <p:cond delay="1000"/>
                            </p:stCondLst>
                            <p:childTnLst>
                              <p:par>
                                <p:cTn id="13" presetID="16" presetClass="entr" presetSubtype="21" fill="hold" grpId="0" nodeType="after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par>
                                <p:cTn id="16" presetID="16" presetClass="entr" presetSubtype="21" fill="hold" grpId="0" nodeType="withEffect">
                                  <p:stCondLst>
                                    <p:cond delay="500"/>
                                  </p:stCondLst>
                                  <p:childTnLst>
                                    <p:set>
                                      <p:cBhvr>
                                        <p:cTn id="17" dur="1" fill="hold">
                                          <p:stCondLst>
                                            <p:cond delay="0"/>
                                          </p:stCondLst>
                                        </p:cTn>
                                        <p:tgtEl>
                                          <p:spTgt spid="2"/>
                                        </p:tgtEl>
                                        <p:attrNameLst>
                                          <p:attrName>style.visibility</p:attrName>
                                        </p:attrNameLst>
                                      </p:cBhvr>
                                      <p:to>
                                        <p:strVal val="visible"/>
                                      </p:to>
                                    </p:set>
                                    <p:animEffect transition="in" filter="barn(inVertical)">
                                      <p:cBhvr>
                                        <p:cTn id="18" dur="500"/>
                                        <p:tgtEl>
                                          <p:spTgt spid="2"/>
                                        </p:tgtEl>
                                      </p:cBhvr>
                                    </p:animEffect>
                                  </p:childTnLst>
                                </p:cTn>
                              </p:par>
                              <p:par>
                                <p:cTn id="19" presetID="16" presetClass="entr" presetSubtype="21" fill="hold" grpId="0" nodeType="withEffect">
                                  <p:stCondLst>
                                    <p:cond delay="50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par>
                                <p:cTn id="22" presetID="16" presetClass="entr" presetSubtype="21" fill="hold" grpId="0" nodeType="withEffect">
                                  <p:stCondLst>
                                    <p:cond delay="50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29" name="Google Shape;129;p15"/>
          <p:cNvSpPr txBox="1"/>
          <p:nvPr/>
        </p:nvSpPr>
        <p:spPr>
          <a:xfrm>
            <a:off x="571500" y="47625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FFFF"/>
                </a:solidFill>
                <a:latin typeface="Poppins SemiBold"/>
                <a:ea typeface="Poppins SemiBold"/>
                <a:cs typeface="Poppins SemiBold"/>
                <a:sym typeface="Poppins SemiBold"/>
              </a:rPr>
              <a:t>The RLSP Framework: 3 Key Steps</a:t>
            </a:r>
            <a:endParaRPr/>
          </a:p>
        </p:txBody>
      </p:sp>
      <p:sp>
        <p:nvSpPr>
          <p:cNvPr id="130" name="Google Shape;130;p15"/>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14" name="Google Shape;114;p15"/>
          <p:cNvGrpSpPr/>
          <p:nvPr/>
        </p:nvGrpSpPr>
        <p:grpSpPr>
          <a:xfrm>
            <a:off x="561874" y="1586838"/>
            <a:ext cx="3492549" cy="3299924"/>
            <a:chOff x="571500" y="865606"/>
            <a:chExt cx="3492549" cy="6419334"/>
          </a:xfrm>
        </p:grpSpPr>
        <p:pic>
          <p:nvPicPr>
            <p:cNvPr id="115" name="Google Shape;115;p15" descr="image.png"/>
            <p:cNvPicPr preferRelativeResize="0"/>
            <p:nvPr/>
          </p:nvPicPr>
          <p:blipFill rotWithShape="1">
            <a:blip r:embed="rId3">
              <a:alphaModFix/>
            </a:blip>
            <a:srcRect/>
            <a:stretch/>
          </p:blipFill>
          <p:spPr>
            <a:xfrm>
              <a:off x="571500" y="865606"/>
              <a:ext cx="3492549" cy="6419334"/>
            </a:xfrm>
            <a:prstGeom prst="rect">
              <a:avLst/>
            </a:prstGeom>
            <a:noFill/>
            <a:ln>
              <a:noFill/>
            </a:ln>
          </p:spPr>
        </p:pic>
        <p:sp>
          <p:nvSpPr>
            <p:cNvPr id="116" name="Google Shape;116;p15"/>
            <p:cNvSpPr txBox="1"/>
            <p:nvPr/>
          </p:nvSpPr>
          <p:spPr>
            <a:xfrm>
              <a:off x="794224" y="1139654"/>
              <a:ext cx="3047100" cy="13770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00">
                  <a:solidFill>
                    <a:srgbClr val="FFFFFF"/>
                  </a:solidFill>
                  <a:latin typeface="Poppins SemiBold"/>
                  <a:ea typeface="Poppins SemiBold"/>
                  <a:cs typeface="Poppins SemiBold"/>
                  <a:sym typeface="Poppins SemiBold"/>
                </a:rPr>
                <a:t>1.</a:t>
              </a:r>
              <a:r>
                <a:rPr lang="en-US" sz="2300" b="0" i="0" u="none" strike="noStrike" cap="none">
                  <a:solidFill>
                    <a:srgbClr val="FFFFFF"/>
                  </a:solidFill>
                  <a:latin typeface="Poppins SemiBold"/>
                  <a:ea typeface="Poppins SemiBold"/>
                  <a:cs typeface="Poppins SemiBold"/>
                  <a:sym typeface="Poppins SemiBold"/>
                </a:rPr>
                <a:t> Supervised Fine-Tuning</a:t>
              </a:r>
              <a:endParaRPr sz="1600"/>
            </a:p>
          </p:txBody>
        </p:sp>
        <p:sp>
          <p:nvSpPr>
            <p:cNvPr id="117" name="Google Shape;117;p15"/>
            <p:cNvSpPr txBox="1"/>
            <p:nvPr/>
          </p:nvSpPr>
          <p:spPr>
            <a:xfrm>
              <a:off x="794224" y="2593081"/>
              <a:ext cx="2977777" cy="2963649"/>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650" b="1" i="0" u="none" strike="noStrike" cap="none">
                  <a:solidFill>
                    <a:srgbClr val="FDE047"/>
                  </a:solidFill>
                  <a:latin typeface="Lato"/>
                  <a:ea typeface="Lato"/>
                  <a:cs typeface="Lato"/>
                  <a:sym typeface="Lato"/>
                </a:rPr>
                <a:t>SFT  with  reasoning</a:t>
              </a:r>
            </a:p>
            <a:p>
              <a:pPr marL="0" marR="0" lvl="0" indent="0" algn="just" rtl="0">
                <a:lnSpc>
                  <a:spcPct val="150000"/>
                </a:lnSpc>
                <a:spcBef>
                  <a:spcPts val="0"/>
                </a:spcBef>
                <a:spcAft>
                  <a:spcPts val="0"/>
                </a:spcAft>
                <a:buNone/>
              </a:pPr>
              <a:r>
                <a:rPr lang="en-US" sz="1650" b="1" i="0" u="none" strike="noStrike" cap="none">
                  <a:solidFill>
                    <a:srgbClr val="FDE047"/>
                  </a:solidFill>
                  <a:latin typeface="Lato"/>
                  <a:ea typeface="Lato"/>
                  <a:cs typeface="Lato"/>
                  <a:sym typeface="Lato"/>
                </a:rPr>
                <a:t>demonstration dataset </a:t>
              </a:r>
              <a:r>
                <a:rPr lang="en-US" sz="1650" b="0" i="0" u="none" strike="noStrike" cap="none">
                  <a:solidFill>
                    <a:srgbClr val="E2E8F0"/>
                  </a:solidFill>
                  <a:latin typeface="Lato"/>
                  <a:ea typeface="Lato"/>
                  <a:cs typeface="Lato"/>
                  <a:sym typeface="Lato"/>
                </a:rPr>
                <a:t>(human or synthetic). Acts as textbook study before problem-solving.</a:t>
              </a:r>
              <a:endParaRPr/>
            </a:p>
          </p:txBody>
        </p:sp>
      </p:grpSp>
      <p:grpSp>
        <p:nvGrpSpPr>
          <p:cNvPr id="119" name="Google Shape;119;p15"/>
          <p:cNvGrpSpPr/>
          <p:nvPr/>
        </p:nvGrpSpPr>
        <p:grpSpPr>
          <a:xfrm>
            <a:off x="4349698" y="2810757"/>
            <a:ext cx="3492549" cy="3570993"/>
            <a:chOff x="4349799" y="1586369"/>
            <a:chExt cx="3492549" cy="4752975"/>
          </a:xfrm>
        </p:grpSpPr>
        <p:pic>
          <p:nvPicPr>
            <p:cNvPr id="120" name="Google Shape;120;p15" descr="image.png"/>
            <p:cNvPicPr preferRelativeResize="0"/>
            <p:nvPr/>
          </p:nvPicPr>
          <p:blipFill rotWithShape="1">
            <a:blip r:embed="rId4">
              <a:alphaModFix/>
            </a:blip>
            <a:srcRect/>
            <a:stretch/>
          </p:blipFill>
          <p:spPr>
            <a:xfrm>
              <a:off x="4349799" y="1586369"/>
              <a:ext cx="3492549" cy="4752975"/>
            </a:xfrm>
            <a:prstGeom prst="rect">
              <a:avLst/>
            </a:prstGeom>
            <a:noFill/>
            <a:ln>
              <a:noFill/>
            </a:ln>
          </p:spPr>
        </p:pic>
        <p:sp>
          <p:nvSpPr>
            <p:cNvPr id="121" name="Google Shape;121;p15"/>
            <p:cNvSpPr txBox="1"/>
            <p:nvPr/>
          </p:nvSpPr>
          <p:spPr>
            <a:xfrm>
              <a:off x="4572524" y="1808690"/>
              <a:ext cx="3047100" cy="942193"/>
            </a:xfrm>
            <a:prstGeom prst="rect">
              <a:avLst/>
            </a:prstGeom>
            <a:noFill/>
            <a:ln>
              <a:noFill/>
            </a:ln>
          </p:spPr>
          <p:txBody>
            <a:bodyPr spcFirstLastPara="1" wrap="square" lIns="0" tIns="0" rIns="0" bIns="0" anchor="t" anchorCtr="0">
              <a:spAutoFit/>
            </a:bodyPr>
            <a:lstStyle/>
            <a:p>
              <a:r>
                <a:rPr lang="en-US" sz="2300">
                  <a:solidFill>
                    <a:srgbClr val="FFFFFF"/>
                  </a:solidFill>
                  <a:latin typeface="Poppins SemiBold"/>
                  <a:ea typeface="Poppins SemiBold"/>
                  <a:cs typeface="Poppins SemiBold"/>
                  <a:sym typeface="Poppins SemiBold"/>
                </a:rPr>
                <a:t>2. Independent</a:t>
              </a:r>
              <a:r>
                <a:rPr lang="en-US" sz="2300" b="0" i="0" u="none" strike="noStrike" cap="none">
                  <a:solidFill>
                    <a:srgbClr val="FFFFFF"/>
                  </a:solidFill>
                  <a:latin typeface="Poppins SemiBold"/>
                  <a:ea typeface="Poppins SemiBold"/>
                  <a:cs typeface="Poppins SemiBold"/>
                  <a:sym typeface="Poppins SemiBold"/>
                </a:rPr>
                <a:t> Exploration Reward</a:t>
              </a:r>
              <a:endParaRPr sz="1600"/>
            </a:p>
          </p:txBody>
        </p:sp>
        <p:sp>
          <p:nvSpPr>
            <p:cNvPr id="122" name="Google Shape;122;p15"/>
            <p:cNvSpPr txBox="1"/>
            <p:nvPr/>
          </p:nvSpPr>
          <p:spPr>
            <a:xfrm>
              <a:off x="4572525" y="2813166"/>
              <a:ext cx="3047100" cy="3041645"/>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650" b="1" i="0" u="none" strike="noStrike" cap="none">
                  <a:solidFill>
                    <a:srgbClr val="C084FC"/>
                  </a:solidFill>
                  <a:latin typeface="Lato"/>
                  <a:ea typeface="Lato"/>
                  <a:cs typeface="Lato"/>
                  <a:sym typeface="Lato"/>
                </a:rPr>
                <a:t>Encourag</a:t>
              </a:r>
              <a:r>
                <a:rPr lang="en-US" sz="1650" b="1">
                  <a:solidFill>
                    <a:srgbClr val="C084FC"/>
                  </a:solidFill>
                  <a:latin typeface="Lato"/>
                  <a:ea typeface="Lato"/>
                  <a:cs typeface="Lato"/>
                  <a:sym typeface="Lato"/>
                </a:rPr>
                <a:t>ing </a:t>
              </a:r>
              <a:r>
                <a:rPr lang="en-US" sz="1650" b="1" i="0" u="none" strike="noStrike" cap="none">
                  <a:solidFill>
                    <a:srgbClr val="C084FC"/>
                  </a:solidFill>
                  <a:latin typeface="Lato"/>
                  <a:ea typeface="Lato"/>
                  <a:cs typeface="Lato"/>
                  <a:sym typeface="Lato"/>
                </a:rPr>
                <a:t>diverse search behaviors</a:t>
              </a:r>
              <a:r>
                <a:rPr lang="en-US" sz="1650" b="0" i="0" u="none" strike="noStrike" cap="none">
                  <a:solidFill>
                    <a:srgbClr val="E2E8F0"/>
                  </a:solidFill>
                  <a:latin typeface="Lato"/>
                  <a:ea typeface="Lato"/>
                  <a:cs typeface="Lato"/>
                  <a:sym typeface="Lato"/>
                </a:rPr>
                <a:t> (length penalty or LLM-judge) </a:t>
              </a:r>
              <a:r>
                <a:rPr lang="en-US" sz="1650">
                  <a:solidFill>
                    <a:srgbClr val="E2E8F0"/>
                  </a:solidFill>
                  <a:latin typeface="Lato"/>
                  <a:ea typeface="Lato"/>
                  <a:cs typeface="Lato"/>
                  <a:sym typeface="Lato"/>
                </a:rPr>
                <a:t>regardless of solution’s correctness. Motivates model to synthetically create novel </a:t>
              </a:r>
              <a:r>
                <a:rPr lang="en-US" sz="1650" err="1">
                  <a:solidFill>
                    <a:srgbClr val="E2E8F0"/>
                  </a:solidFill>
                  <a:latin typeface="Lato"/>
                  <a:ea typeface="Lato"/>
                  <a:cs typeface="Lato"/>
                  <a:sym typeface="Lato"/>
                </a:rPr>
                <a:t>CoT</a:t>
              </a:r>
              <a:r>
                <a:rPr lang="en-US" sz="1650">
                  <a:solidFill>
                    <a:srgbClr val="E2E8F0"/>
                  </a:solidFill>
                  <a:latin typeface="Lato"/>
                  <a:ea typeface="Lato"/>
                  <a:cs typeface="Lato"/>
                  <a:sym typeface="Lato"/>
                </a:rPr>
                <a:t> data </a:t>
              </a:r>
              <a:endParaRPr/>
            </a:p>
          </p:txBody>
        </p:sp>
      </p:grpSp>
      <p:grpSp>
        <p:nvGrpSpPr>
          <p:cNvPr id="124" name="Google Shape;124;p15"/>
          <p:cNvGrpSpPr/>
          <p:nvPr/>
        </p:nvGrpSpPr>
        <p:grpSpPr>
          <a:xfrm>
            <a:off x="8137577" y="1586838"/>
            <a:ext cx="3492549" cy="3299924"/>
            <a:chOff x="8128099" y="1732447"/>
            <a:chExt cx="3492549" cy="4264291"/>
          </a:xfrm>
        </p:grpSpPr>
        <p:pic>
          <p:nvPicPr>
            <p:cNvPr id="125" name="Google Shape;125;p15" descr="image.png"/>
            <p:cNvPicPr preferRelativeResize="0"/>
            <p:nvPr/>
          </p:nvPicPr>
          <p:blipFill rotWithShape="1">
            <a:blip r:embed="rId5">
              <a:alphaModFix/>
            </a:blip>
            <a:srcRect/>
            <a:stretch/>
          </p:blipFill>
          <p:spPr>
            <a:xfrm>
              <a:off x="8128099" y="1732447"/>
              <a:ext cx="3492549" cy="4264291"/>
            </a:xfrm>
            <a:prstGeom prst="rect">
              <a:avLst/>
            </a:prstGeom>
            <a:noFill/>
            <a:ln>
              <a:noFill/>
            </a:ln>
          </p:spPr>
        </p:pic>
        <p:sp>
          <p:nvSpPr>
            <p:cNvPr id="126" name="Google Shape;126;p15"/>
            <p:cNvSpPr txBox="1"/>
            <p:nvPr/>
          </p:nvSpPr>
          <p:spPr>
            <a:xfrm>
              <a:off x="8350824" y="1923103"/>
              <a:ext cx="3047100" cy="914758"/>
            </a:xfrm>
            <a:prstGeom prst="rect">
              <a:avLst/>
            </a:prstGeom>
            <a:noFill/>
            <a:ln>
              <a:noFill/>
            </a:ln>
          </p:spPr>
          <p:txBody>
            <a:bodyPr spcFirstLastPara="1" wrap="square" lIns="0" tIns="0" rIns="0" bIns="0" anchor="t" anchorCtr="0">
              <a:spAutoFit/>
            </a:bodyPr>
            <a:lstStyle/>
            <a:p>
              <a:r>
                <a:rPr lang="en-US" sz="2300">
                  <a:solidFill>
                    <a:srgbClr val="FFFFFF"/>
                  </a:solidFill>
                  <a:latin typeface="Poppins SemiBold"/>
                  <a:ea typeface="Poppins SemiBold"/>
                  <a:cs typeface="Poppins SemiBold"/>
                  <a:sym typeface="Poppins SemiBold"/>
                </a:rPr>
                <a:t>3. RL</a:t>
              </a:r>
              <a:r>
                <a:rPr lang="en-US" sz="2300" b="0" i="0" u="none" strike="noStrike" cap="none">
                  <a:solidFill>
                    <a:srgbClr val="FFFFFF"/>
                  </a:solidFill>
                  <a:latin typeface="Poppins SemiBold"/>
                  <a:ea typeface="Poppins SemiBold"/>
                  <a:cs typeface="Poppins SemiBold"/>
                  <a:sym typeface="Poppins SemiBold"/>
                </a:rPr>
                <a:t> with PP</a:t>
              </a:r>
              <a:r>
                <a:rPr lang="en-US" sz="2300">
                  <a:solidFill>
                    <a:srgbClr val="FFFFFF"/>
                  </a:solidFill>
                  <a:latin typeface="Poppins SemiBold"/>
                  <a:ea typeface="Poppins SemiBold"/>
                  <a:cs typeface="Poppins SemiBold"/>
                  <a:sym typeface="Poppins SemiBold"/>
                </a:rPr>
                <a:t>O</a:t>
              </a:r>
              <a:r>
                <a:rPr lang="en-US" sz="2300" b="0" i="0" u="none" strike="noStrike" cap="none">
                  <a:solidFill>
                    <a:srgbClr val="FFFFFF"/>
                  </a:solidFill>
                  <a:latin typeface="Poppins SemiBold"/>
                  <a:ea typeface="Poppins SemiBold"/>
                  <a:cs typeface="Poppins SemiBold"/>
                  <a:sym typeface="Poppins SemiBold"/>
                </a:rPr>
                <a:t> as Training Algorith</a:t>
              </a:r>
              <a:r>
                <a:rPr lang="en-US" sz="2300">
                  <a:solidFill>
                    <a:srgbClr val="FFFFFF"/>
                  </a:solidFill>
                  <a:latin typeface="Poppins SemiBold"/>
                  <a:ea typeface="Poppins SemiBold"/>
                  <a:cs typeface="Poppins SemiBold"/>
                  <a:sym typeface="Poppins SemiBold"/>
                </a:rPr>
                <a:t>m </a:t>
              </a:r>
              <a:endParaRPr sz="1600"/>
            </a:p>
          </p:txBody>
        </p:sp>
        <p:sp>
          <p:nvSpPr>
            <p:cNvPr id="127" name="Google Shape;127;p15"/>
            <p:cNvSpPr txBox="1"/>
            <p:nvPr/>
          </p:nvSpPr>
          <p:spPr>
            <a:xfrm>
              <a:off x="8423374" y="2927578"/>
              <a:ext cx="2965074" cy="2460898"/>
            </a:xfrm>
            <a:prstGeom prst="rect">
              <a:avLst/>
            </a:prstGeom>
            <a:noFill/>
            <a:ln>
              <a:noFill/>
            </a:ln>
          </p:spPr>
          <p:txBody>
            <a:bodyPr spcFirstLastPara="1" wrap="square" lIns="0" tIns="0" rIns="0" bIns="0" anchor="t" anchorCtr="0">
              <a:spAutoFit/>
            </a:bodyPr>
            <a:lstStyle/>
            <a:p>
              <a:pPr marL="0" marR="0" lvl="0" indent="0" algn="just" rtl="0">
                <a:lnSpc>
                  <a:spcPct val="150000"/>
                </a:lnSpc>
                <a:spcBef>
                  <a:spcPts val="0"/>
                </a:spcBef>
                <a:spcAft>
                  <a:spcPts val="0"/>
                </a:spcAft>
                <a:buNone/>
              </a:pPr>
              <a:r>
                <a:rPr lang="en-US" sz="1650" b="1" i="0" u="none" strike="noStrike" cap="none">
                  <a:solidFill>
                    <a:srgbClr val="C084FC"/>
                  </a:solidFill>
                  <a:latin typeface="Lato"/>
                  <a:ea typeface="Lato"/>
                  <a:cs typeface="Lato"/>
                  <a:sym typeface="Lato"/>
                </a:rPr>
                <a:t>PPO training using binary outcome verifier.</a:t>
              </a:r>
              <a:r>
                <a:rPr lang="en-US" sz="1650" b="0" i="0" u="none" strike="noStrike" cap="none">
                  <a:solidFill>
                    <a:srgbClr val="E2E8F0"/>
                  </a:solidFill>
                  <a:latin typeface="Lato"/>
                  <a:ea typeface="Lato"/>
                  <a:cs typeface="Lato"/>
                  <a:sym typeface="Lato"/>
                </a:rPr>
                <a:t> </a:t>
              </a:r>
              <a:r>
                <a:rPr lang="en-US" sz="1650">
                  <a:solidFill>
                    <a:srgbClr val="E2E8F0"/>
                  </a:solidFill>
                  <a:latin typeface="Lato"/>
                  <a:ea typeface="Lato"/>
                  <a:cs typeface="Lato"/>
                  <a:sym typeface="Lato"/>
                </a:rPr>
                <a:t>I</a:t>
              </a:r>
              <a:r>
                <a:rPr lang="en-US" sz="1650" b="0" i="0" u="none" strike="noStrike" cap="none">
                  <a:solidFill>
                    <a:srgbClr val="E2E8F0"/>
                  </a:solidFill>
                  <a:latin typeface="Lato"/>
                  <a:ea typeface="Lato"/>
                  <a:cs typeface="Lato"/>
                  <a:sym typeface="Lato"/>
                </a:rPr>
                <a:t>ncentivizing self-play over new </a:t>
              </a:r>
              <a:r>
                <a:rPr lang="en-US" sz="1650" b="0" i="0" u="none" strike="noStrike" cap="none" err="1">
                  <a:solidFill>
                    <a:srgbClr val="E2E8F0"/>
                  </a:solidFill>
                  <a:latin typeface="Lato"/>
                  <a:ea typeface="Lato"/>
                  <a:cs typeface="Lato"/>
                  <a:sym typeface="Lato"/>
                </a:rPr>
                <a:t>CoT</a:t>
              </a:r>
              <a:r>
                <a:rPr lang="en-US" sz="1650" b="0" i="0" u="none" strike="noStrike" cap="none">
                  <a:solidFill>
                    <a:srgbClr val="E2E8F0"/>
                  </a:solidFill>
                  <a:latin typeface="Lato"/>
                  <a:ea typeface="Lato"/>
                  <a:cs typeface="Lato"/>
                  <a:sym typeface="Lato"/>
                </a:rPr>
                <a:t> reasoning traces of previous step.</a:t>
              </a:r>
              <a:endParaRPr/>
            </a:p>
          </p:txBody>
        </p:sp>
      </p:gr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51" name="Google Shape;151;p16"/>
          <p:cNvSpPr txBox="1"/>
          <p:nvPr/>
        </p:nvSpPr>
        <p:spPr>
          <a:xfrm>
            <a:off x="571500" y="476250"/>
            <a:ext cx="11601450"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FFFF"/>
                </a:solidFill>
                <a:latin typeface="Poppins SemiBold"/>
                <a:ea typeface="Poppins SemiBold"/>
                <a:cs typeface="Poppins SemiBold"/>
                <a:sym typeface="Poppins SemiBold"/>
              </a:rPr>
              <a:t>The Reward Function Dynamics</a:t>
            </a:r>
            <a:endParaRPr/>
          </a:p>
        </p:txBody>
      </p:sp>
      <p:sp>
        <p:nvSpPr>
          <p:cNvPr id="152" name="Google Shape;152;p16"/>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3" name="Google Shape;153;p16" descr="{&quot;type&quot;:&quot;$$&quot;,&quot;code&quot;:&quot;$$\\mathcal{R}(q, o) = \\alpha \\cdot \\mathbf{\\mathbb{1}} \\, [\\text{Ver}(q, o) = \\text{True}] + (1 - \\alpha) \\cdot \\mathcal{R}_{\\text{ex}}(q, o)$$&quot;,&quot;font&quot;:{&quot;size&quot;:26.5,&quot;family&quot;:&quot;Arial&quot;,&quot;color&quot;:&quot;#ffffff&quot;},&quot;aid&quot;:null,&quot;backgroundColor&quot;:&quot;#070B19&quot;,&quot;backgroundColorModified&quot;:false,&quot;id&quot;:&quot;2&quot;,&quot;ts&quot;:1779427328191,&quot;cs&quot;:&quot;uLUUBfzO+ULGMTc8yVrXfg==&quot;,&quot;size&quot;:{&quot;width&quot;:946,&quot;height&quot;:42}}"/>
          <p:cNvPicPr preferRelativeResize="0"/>
          <p:nvPr/>
        </p:nvPicPr>
        <p:blipFill>
          <a:blip r:embed="rId3">
            <a:alphaModFix/>
          </a:blip>
          <a:stretch>
            <a:fillRect/>
          </a:stretch>
        </p:blipFill>
        <p:spPr>
          <a:xfrm>
            <a:off x="1590675" y="1533525"/>
            <a:ext cx="9010650" cy="400050"/>
          </a:xfrm>
          <a:prstGeom prst="rect">
            <a:avLst/>
          </a:prstGeom>
          <a:noFill/>
          <a:ln>
            <a:noFill/>
          </a:ln>
        </p:spPr>
      </p:pic>
      <p:grpSp>
        <p:nvGrpSpPr>
          <p:cNvPr id="139" name="Google Shape;139;p16"/>
          <p:cNvGrpSpPr/>
          <p:nvPr/>
        </p:nvGrpSpPr>
        <p:grpSpPr>
          <a:xfrm>
            <a:off x="571500" y="2164065"/>
            <a:ext cx="9952798" cy="714996"/>
            <a:chOff x="571500" y="1628775"/>
            <a:chExt cx="5160855" cy="714996"/>
          </a:xfrm>
        </p:grpSpPr>
        <p:sp>
          <p:nvSpPr>
            <p:cNvPr id="140" name="Google Shape;140;p16"/>
            <p:cNvSpPr txBox="1"/>
            <p:nvPr/>
          </p:nvSpPr>
          <p:spPr>
            <a:xfrm>
              <a:off x="683955" y="1651071"/>
              <a:ext cx="5048400" cy="692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a:solidFill>
                    <a:srgbClr val="C084FC"/>
                  </a:solidFill>
                  <a:latin typeface="Lato"/>
                  <a:ea typeface="Lato"/>
                  <a:cs typeface="Lato"/>
                  <a:sym typeface="Lato"/>
                </a:rPr>
                <a:t>Decoupled Signals:</a:t>
              </a:r>
              <a:r>
                <a:rPr lang="en-US" sz="1800" b="0" i="0" u="none" strike="noStrike" cap="none">
                  <a:solidFill>
                    <a:srgbClr val="E2E8F0"/>
                  </a:solidFill>
                  <a:latin typeface="Lato"/>
                  <a:ea typeface="Lato"/>
                  <a:cs typeface="Lato"/>
                  <a:sym typeface="Lato"/>
                </a:rPr>
                <a:t> Separates exploration effort from the objective correctness of the answer.</a:t>
              </a:r>
              <a:endParaRPr/>
            </a:p>
          </p:txBody>
        </p:sp>
        <p:sp>
          <p:nvSpPr>
            <p:cNvPr id="141" name="Google Shape;141;p16"/>
            <p:cNvSpPr txBox="1"/>
            <p:nvPr/>
          </p:nvSpPr>
          <p:spPr>
            <a:xfrm>
              <a:off x="571500" y="1628775"/>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142" name="Google Shape;142;p16"/>
          <p:cNvGrpSpPr/>
          <p:nvPr/>
        </p:nvGrpSpPr>
        <p:grpSpPr>
          <a:xfrm>
            <a:off x="571500" y="3029301"/>
            <a:ext cx="9952798" cy="692700"/>
            <a:chOff x="571500" y="2358771"/>
            <a:chExt cx="5160855" cy="692700"/>
          </a:xfrm>
        </p:grpSpPr>
        <p:sp>
          <p:nvSpPr>
            <p:cNvPr id="143" name="Google Shape;143;p16"/>
            <p:cNvSpPr txBox="1"/>
            <p:nvPr/>
          </p:nvSpPr>
          <p:spPr>
            <a:xfrm>
              <a:off x="683955" y="2358771"/>
              <a:ext cx="5048400" cy="692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a:solidFill>
                    <a:srgbClr val="FDE047"/>
                  </a:solidFill>
                  <a:latin typeface="Lato"/>
                  <a:ea typeface="Lato"/>
                  <a:cs typeface="Lato"/>
                  <a:sym typeface="Lato"/>
                </a:rPr>
                <a:t>Outcome Verifier:</a:t>
              </a:r>
              <a:r>
                <a:rPr lang="en-US" sz="1800" b="0" i="0" u="none" strike="noStrike" cap="none">
                  <a:solidFill>
                    <a:srgbClr val="E2E8F0"/>
                  </a:solidFill>
                  <a:latin typeface="Lato"/>
                  <a:ea typeface="Lato"/>
                  <a:cs typeface="Lato"/>
                  <a:sym typeface="Lato"/>
                </a:rPr>
                <a:t> Provides unambiguous binary signal on final correctness.</a:t>
              </a:r>
              <a:endParaRPr/>
            </a:p>
          </p:txBody>
        </p:sp>
        <p:sp>
          <p:nvSpPr>
            <p:cNvPr id="144" name="Google Shape;144;p16"/>
            <p:cNvSpPr txBox="1"/>
            <p:nvPr/>
          </p:nvSpPr>
          <p:spPr>
            <a:xfrm>
              <a:off x="571500" y="2358771"/>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145" name="Google Shape;145;p16"/>
          <p:cNvGrpSpPr/>
          <p:nvPr/>
        </p:nvGrpSpPr>
        <p:grpSpPr>
          <a:xfrm>
            <a:off x="571500" y="3781469"/>
            <a:ext cx="10703053" cy="1066767"/>
            <a:chOff x="571500" y="3015870"/>
            <a:chExt cx="5549887" cy="1066767"/>
          </a:xfrm>
        </p:grpSpPr>
        <mc:AlternateContent xmlns:mc="http://schemas.openxmlformats.org/markup-compatibility/2006" xmlns:a14="http://schemas.microsoft.com/office/drawing/2010/main">
          <mc:Choice Requires="a14">
            <p:sp>
              <p:nvSpPr>
                <p:cNvPr id="146" name="Google Shape;146;p16"/>
                <p:cNvSpPr txBox="1"/>
                <p:nvPr/>
              </p:nvSpPr>
              <p:spPr>
                <a:xfrm>
                  <a:off x="683955" y="3015870"/>
                  <a:ext cx="5437432" cy="1066767"/>
                </a:xfrm>
                <a:prstGeom prst="rect">
                  <a:avLst/>
                </a:prstGeom>
                <a:noFill/>
                <a:ln>
                  <a:noFill/>
                </a:ln>
              </p:spPr>
              <p:txBody>
                <a:bodyPr spcFirstLastPara="1" wrap="square" lIns="0" tIns="0" rIns="0" bIns="0" anchor="t" anchorCtr="0">
                  <a:spAutoFit/>
                </a:bodyPr>
                <a:lstStyle/>
                <a:p>
                  <a:pPr>
                    <a:lnSpc>
                      <a:spcPct val="150000"/>
                    </a:lnSpc>
                  </a:pPr>
                  <a:r>
                    <a:rPr lang="en-US" sz="1800" b="1" i="0" u="none" strike="noStrike" cap="none">
                      <a:solidFill>
                        <a:srgbClr val="C084FC"/>
                      </a:solidFill>
                      <a:latin typeface="Lato"/>
                      <a:ea typeface="Lato"/>
                      <a:cs typeface="Lato"/>
                      <a:sym typeface="Lato"/>
                    </a:rPr>
                    <a:t>Exploration Reward:</a:t>
                  </a:r>
                  <a:r>
                    <a:rPr lang="en-US" sz="1800" b="0" i="0" u="none" strike="noStrike" cap="none">
                      <a:solidFill>
                        <a:srgbClr val="E2E8F0"/>
                      </a:solidFill>
                      <a:latin typeface="Lato"/>
                      <a:ea typeface="Lato"/>
                      <a:cs typeface="Lato"/>
                      <a:sym typeface="Lato"/>
                    </a:rPr>
                    <a:t> </a:t>
                  </a:r>
                  <a:r>
                    <a:rPr lang="en-US" sz="1800">
                      <a:solidFill>
                        <a:srgbClr val="E2E8F0"/>
                      </a:solidFill>
                      <a:latin typeface="Lato"/>
                      <a:ea typeface="Lato"/>
                      <a:cs typeface="Lato"/>
                      <a:sym typeface="Lato"/>
                    </a:rPr>
                    <a:t>Based on: (I) Function of Length Response </a:t>
                  </a:r>
                  <a14:m>
                    <m:oMath xmlns:m="http://schemas.openxmlformats.org/officeDocument/2006/math">
                      <m:sSub>
                        <m:sSubPr>
                          <m:ctrlPr>
                            <a:rPr lang="ar-AE" sz="1800" b="1" i="1">
                              <a:solidFill>
                                <a:schemeClr val="bg1"/>
                              </a:solidFill>
                              <a:latin typeface="Cambria Math" panose="02040503050406030204" pitchFamily="18" charset="0"/>
                              <a:ea typeface="Lato"/>
                              <a:cs typeface="Lato"/>
                              <a:sym typeface="Lato"/>
                            </a:rPr>
                          </m:ctrlPr>
                        </m:sSubPr>
                        <m:e>
                          <m:r>
                            <a:rPr lang="en-US" sz="1800" b="1" i="1" smtClean="0">
                              <a:solidFill>
                                <a:schemeClr val="bg1"/>
                              </a:solidFill>
                              <a:latin typeface="Cambria Math" panose="02040503050406030204" pitchFamily="18" charset="0"/>
                              <a:ea typeface="Lato"/>
                              <a:cs typeface="Lato"/>
                              <a:sym typeface="Lato"/>
                            </a:rPr>
                            <m:t>,</m:t>
                          </m:r>
                          <m:r>
                            <a:rPr lang="ar-AE" sz="1800" b="1" i="1">
                              <a:solidFill>
                                <a:schemeClr val="bg1"/>
                              </a:solidFill>
                              <a:latin typeface="Cambria Math" panose="02040503050406030204" pitchFamily="18" charset="0"/>
                              <a:ea typeface="Lato"/>
                              <a:cs typeface="Lato"/>
                              <a:sym typeface="Lato"/>
                            </a:rPr>
                            <m:t>𝑹</m:t>
                          </m:r>
                        </m:e>
                        <m:sub>
                          <m:r>
                            <a:rPr lang="ar-AE" sz="1800" b="1" i="1">
                              <a:solidFill>
                                <a:schemeClr val="bg1"/>
                              </a:solidFill>
                              <a:latin typeface="Cambria Math" panose="02040503050406030204" pitchFamily="18" charset="0"/>
                              <a:ea typeface="Lato"/>
                              <a:cs typeface="Lato"/>
                              <a:sym typeface="Lato"/>
                            </a:rPr>
                            <m:t>𝒆𝒙</m:t>
                          </m:r>
                        </m:sub>
                      </m:sSub>
                      <m:d>
                        <m:dPr>
                          <m:ctrlPr>
                            <a:rPr lang="ar-AE" sz="1800" b="1" i="1">
                              <a:solidFill>
                                <a:schemeClr val="bg1"/>
                              </a:solidFill>
                              <a:latin typeface="Cambria Math" panose="02040503050406030204" pitchFamily="18" charset="0"/>
                              <a:ea typeface="Lato"/>
                              <a:cs typeface="Lato"/>
                              <a:sym typeface="Lato"/>
                            </a:rPr>
                          </m:ctrlPr>
                        </m:dPr>
                        <m:e>
                          <m:r>
                            <a:rPr lang="ar-AE" sz="1800" b="1" i="1">
                              <a:solidFill>
                                <a:schemeClr val="bg1"/>
                              </a:solidFill>
                              <a:latin typeface="Cambria Math" panose="02040503050406030204" pitchFamily="18" charset="0"/>
                              <a:ea typeface="Lato"/>
                              <a:cs typeface="Lato"/>
                              <a:sym typeface="Lato"/>
                            </a:rPr>
                            <m:t>𝒒</m:t>
                          </m:r>
                          <m:r>
                            <a:rPr lang="ar-AE" sz="1800" b="1" i="1">
                              <a:solidFill>
                                <a:schemeClr val="bg1"/>
                              </a:solidFill>
                              <a:latin typeface="Cambria Math" panose="02040503050406030204" pitchFamily="18" charset="0"/>
                              <a:ea typeface="Lato"/>
                              <a:cs typeface="Lato"/>
                              <a:sym typeface="Lato"/>
                            </a:rPr>
                            <m:t>,</m:t>
                          </m:r>
                          <m:r>
                            <a:rPr lang="ar-AE" sz="1800" b="1" i="1">
                              <a:solidFill>
                                <a:schemeClr val="bg1"/>
                              </a:solidFill>
                              <a:latin typeface="Cambria Math" panose="02040503050406030204" pitchFamily="18" charset="0"/>
                              <a:ea typeface="Lato"/>
                              <a:cs typeface="Lato"/>
                              <a:sym typeface="Lato"/>
                            </a:rPr>
                            <m:t>𝒐</m:t>
                          </m:r>
                        </m:e>
                      </m:d>
                      <m:r>
                        <a:rPr lang="ar-AE" sz="1800" b="1" i="1">
                          <a:solidFill>
                            <a:schemeClr val="bg1"/>
                          </a:solidFill>
                          <a:latin typeface="Cambria Math" panose="02040503050406030204" pitchFamily="18" charset="0"/>
                          <a:ea typeface="Lato"/>
                          <a:cs typeface="Lato"/>
                          <a:sym typeface="Lato"/>
                        </a:rPr>
                        <m:t>=</m:t>
                      </m:r>
                      <m:r>
                        <a:rPr lang="ar-AE" sz="1800" b="1">
                          <a:solidFill>
                            <a:schemeClr val="bg1"/>
                          </a:solidFill>
                          <a:latin typeface="Cambria Math" panose="02040503050406030204" pitchFamily="18" charset="0"/>
                          <a:ea typeface="Lato"/>
                          <a:cs typeface="Lato"/>
                          <a:sym typeface="Lato"/>
                        </a:rPr>
                        <m:t>−</m:t>
                      </m:r>
                      <m:f>
                        <m:fPr>
                          <m:ctrlPr>
                            <a:rPr lang="ar-AE" sz="1800" b="1" i="1">
                              <a:solidFill>
                                <a:schemeClr val="bg1"/>
                              </a:solidFill>
                              <a:latin typeface="Cambria Math" panose="02040503050406030204" pitchFamily="18" charset="0"/>
                              <a:ea typeface="Lato"/>
                              <a:cs typeface="Lato"/>
                              <a:sym typeface="Lato"/>
                            </a:rPr>
                          </m:ctrlPr>
                        </m:fPr>
                        <m:num>
                          <m:r>
                            <a:rPr lang="ar-AE" sz="1800" b="1" i="1">
                              <a:solidFill>
                                <a:schemeClr val="bg1"/>
                              </a:solidFill>
                              <a:latin typeface="Cambria Math" panose="02040503050406030204" pitchFamily="18" charset="0"/>
                              <a:ea typeface="Lato"/>
                              <a:cs typeface="Lato"/>
                              <a:sym typeface="Lato"/>
                            </a:rPr>
                            <m:t>𝑪</m:t>
                          </m:r>
                        </m:num>
                        <m:den>
                          <m:r>
                            <a:rPr lang="ar-AE" sz="1800" b="1" i="1">
                              <a:solidFill>
                                <a:schemeClr val="bg1"/>
                              </a:solidFill>
                              <a:latin typeface="Cambria Math" panose="02040503050406030204" pitchFamily="18" charset="0"/>
                              <a:ea typeface="Lato"/>
                              <a:cs typeface="Lato"/>
                              <a:sym typeface="Lato"/>
                            </a:rPr>
                            <m:t>|</m:t>
                          </m:r>
                          <m:r>
                            <a:rPr lang="ar-AE" sz="1800" b="1" i="1">
                              <a:solidFill>
                                <a:schemeClr val="bg1"/>
                              </a:solidFill>
                              <a:latin typeface="Cambria Math" panose="02040503050406030204" pitchFamily="18" charset="0"/>
                              <a:ea typeface="Lato"/>
                              <a:cs typeface="Lato"/>
                              <a:sym typeface="Lato"/>
                            </a:rPr>
                            <m:t>𝒐</m:t>
                          </m:r>
                          <m:r>
                            <a:rPr lang="ar-AE" sz="1800" b="1" i="1">
                              <a:solidFill>
                                <a:schemeClr val="bg1"/>
                              </a:solidFill>
                              <a:latin typeface="Cambria Math" panose="02040503050406030204" pitchFamily="18" charset="0"/>
                              <a:ea typeface="Lato"/>
                              <a:cs typeface="Lato"/>
                              <a:sym typeface="Lato"/>
                            </a:rPr>
                            <m:t>|</m:t>
                          </m:r>
                        </m:den>
                      </m:f>
                    </m:oMath>
                  </a14:m>
                  <a:endParaRPr lang="en-US" sz="1800">
                    <a:solidFill>
                      <a:srgbClr val="E2E8F0"/>
                    </a:solidFill>
                    <a:latin typeface="Lato"/>
                    <a:ea typeface="Lato"/>
                    <a:cs typeface="Lato"/>
                    <a:sym typeface="Lato"/>
                  </a:endParaRPr>
                </a:p>
                <a:p>
                  <a:pPr>
                    <a:lnSpc>
                      <a:spcPct val="150000"/>
                    </a:lnSpc>
                  </a:pPr>
                  <a:r>
                    <a:rPr lang="en-US" sz="1800">
                      <a:solidFill>
                        <a:srgbClr val="E2E8F0"/>
                      </a:solidFill>
                      <a:latin typeface="Lato"/>
                      <a:ea typeface="Lato"/>
                      <a:cs typeface="Lato"/>
                      <a:sym typeface="Lato"/>
                    </a:rPr>
                    <a:t>			       (II) LLM as a judge</a:t>
                  </a:r>
                  <a:endParaRPr lang="en-US" sz="1800">
                    <a:solidFill>
                      <a:schemeClr val="bg1"/>
                    </a:solidFill>
                    <a:latin typeface="Lato"/>
                    <a:ea typeface="Lato"/>
                    <a:cs typeface="Lato"/>
                  </a:endParaRPr>
                </a:p>
              </p:txBody>
            </p:sp>
          </mc:Choice>
          <mc:Fallback xmlns="">
            <p:sp>
              <p:nvSpPr>
                <p:cNvPr id="146" name="Google Shape;146;p16"/>
                <p:cNvSpPr txBox="1">
                  <a:spLocks noRot="1" noChangeAspect="1" noMove="1" noResize="1" noEditPoints="1" noAdjustHandles="1" noChangeArrowheads="1" noChangeShapeType="1" noTextEdit="1"/>
                </p:cNvSpPr>
                <p:nvPr/>
              </p:nvSpPr>
              <p:spPr>
                <a:xfrm>
                  <a:off x="683955" y="3015870"/>
                  <a:ext cx="5437432" cy="1066767"/>
                </a:xfrm>
                <a:prstGeom prst="rect">
                  <a:avLst/>
                </a:prstGeom>
                <a:blipFill>
                  <a:blip r:embed="rId4"/>
                  <a:stretch>
                    <a:fillRect l="-1336" b="-7429"/>
                  </a:stretch>
                </a:blipFill>
                <a:ln>
                  <a:noFill/>
                </a:ln>
              </p:spPr>
              <p:txBody>
                <a:bodyPr/>
                <a:lstStyle/>
                <a:p>
                  <a:r>
                    <a:rPr lang="en-US">
                      <a:noFill/>
                    </a:rPr>
                    <a:t> </a:t>
                  </a:r>
                </a:p>
              </p:txBody>
            </p:sp>
          </mc:Fallback>
        </mc:AlternateContent>
        <p:sp>
          <p:nvSpPr>
            <p:cNvPr id="147" name="Google Shape;147;p16"/>
            <p:cNvSpPr txBox="1"/>
            <p:nvPr/>
          </p:nvSpPr>
          <p:spPr>
            <a:xfrm>
              <a:off x="571500" y="3137151"/>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148" name="Google Shape;148;p16"/>
          <p:cNvGrpSpPr/>
          <p:nvPr/>
        </p:nvGrpSpPr>
        <p:grpSpPr>
          <a:xfrm>
            <a:off x="561875" y="5130560"/>
            <a:ext cx="10570582" cy="1246495"/>
            <a:chOff x="571500" y="4257675"/>
            <a:chExt cx="5369971" cy="1246495"/>
          </a:xfrm>
        </p:grpSpPr>
        <p:sp>
          <p:nvSpPr>
            <p:cNvPr id="149" name="Google Shape;149;p16"/>
            <p:cNvSpPr txBox="1"/>
            <p:nvPr/>
          </p:nvSpPr>
          <p:spPr>
            <a:xfrm>
              <a:off x="676200" y="4257675"/>
              <a:ext cx="5265271" cy="1246495"/>
            </a:xfrm>
            <a:prstGeom prst="rect">
              <a:avLst/>
            </a:prstGeom>
            <a:noFill/>
            <a:ln>
              <a:noFill/>
            </a:ln>
          </p:spPr>
          <p:txBody>
            <a:bodyPr spcFirstLastPara="1" wrap="square" lIns="0" tIns="0" rIns="0" bIns="0" anchor="t" anchorCtr="0">
              <a:spAutoFit/>
            </a:bodyPr>
            <a:lstStyle/>
            <a:p>
              <a:pPr algn="just">
                <a:lnSpc>
                  <a:spcPct val="150000"/>
                </a:lnSpc>
              </a:pPr>
              <a:r>
                <a:rPr lang="en-US" sz="1800" b="1" i="0" u="none" strike="noStrike" cap="none">
                  <a:solidFill>
                    <a:srgbClr val="FDE047"/>
                  </a:solidFill>
                  <a:latin typeface="Lato"/>
                  <a:ea typeface="Lato"/>
                  <a:cs typeface="Lato"/>
                  <a:sym typeface="Lato"/>
                </a:rPr>
                <a:t>Balance Requirement:</a:t>
              </a:r>
              <a:r>
                <a:rPr lang="en-US" sz="1800">
                  <a:solidFill>
                    <a:srgbClr val="E2E8F0"/>
                  </a:solidFill>
                  <a:latin typeface="Lato"/>
                  <a:ea typeface="Lato"/>
                  <a:cs typeface="Lato"/>
                  <a:sym typeface="Lato"/>
                </a:rPr>
                <a:t> Although in the presented paper’s experiments </a:t>
              </a:r>
              <a:r>
                <a:rPr lang="el-GR" sz="1800">
                  <a:solidFill>
                    <a:srgbClr val="E2E8F0"/>
                  </a:solidFill>
                  <a:latin typeface="Lato"/>
                  <a:ea typeface="Lato"/>
                  <a:cs typeface="Lato"/>
                  <a:sym typeface="Lato"/>
                </a:rPr>
                <a:t>α</a:t>
              </a:r>
              <a:r>
                <a:rPr lang="en-US" sz="1800">
                  <a:solidFill>
                    <a:srgbClr val="E2E8F0"/>
                  </a:solidFill>
                  <a:latin typeface="Lato"/>
                  <a:ea typeface="Lato"/>
                  <a:cs typeface="Lato"/>
                  <a:sym typeface="Lato"/>
                </a:rPr>
                <a:t> is set as 0.8, in </a:t>
              </a:r>
              <a:r>
                <a:rPr lang="en-US" sz="1800" b="0" i="0" u="none" strike="noStrike" cap="none">
                  <a:solidFill>
                    <a:srgbClr val="E2E8F0"/>
                  </a:solidFill>
                  <a:latin typeface="Lato"/>
                  <a:ea typeface="Lato"/>
                  <a:cs typeface="Lato"/>
                  <a:sym typeface="Lato"/>
                </a:rPr>
                <a:t>practice</a:t>
              </a:r>
              <a:r>
                <a:rPr lang="el-GR" sz="1800" b="0" i="0" u="none" strike="noStrike" cap="none">
                  <a:solidFill>
                    <a:srgbClr val="E2E8F0"/>
                  </a:solidFill>
                  <a:latin typeface="Lato"/>
                  <a:ea typeface="Lato"/>
                  <a:cs typeface="Lato"/>
                  <a:sym typeface="Lato"/>
                </a:rPr>
                <a:t> </a:t>
              </a:r>
              <a:r>
                <a:rPr lang="en-US" sz="1800" b="0" i="0" u="none" strike="noStrike" cap="none">
                  <a:solidFill>
                    <a:srgbClr val="E2E8F0"/>
                  </a:solidFill>
                  <a:latin typeface="Lato"/>
                  <a:ea typeface="Lato"/>
                  <a:cs typeface="Lato"/>
                  <a:sym typeface="Lato"/>
                </a:rPr>
                <a:t>this hyperparameter needs to be tuned</a:t>
              </a:r>
              <a:r>
                <a:rPr lang="el-GR" sz="1800" b="0" i="0" u="none" strike="noStrike" cap="none">
                  <a:solidFill>
                    <a:srgbClr val="E2E8F0"/>
                  </a:solidFill>
                  <a:latin typeface="Lato"/>
                  <a:ea typeface="Lato"/>
                  <a:cs typeface="Lato"/>
                  <a:sym typeface="Lato"/>
                </a:rPr>
                <a:t> </a:t>
              </a:r>
              <a:r>
                <a:rPr lang="en-US" sz="1800" b="0" i="0" u="none" strike="noStrike" cap="none">
                  <a:solidFill>
                    <a:srgbClr val="E2E8F0"/>
                  </a:solidFill>
                  <a:latin typeface="Lato"/>
                  <a:ea typeface="Lato"/>
                  <a:cs typeface="Lato"/>
                  <a:sym typeface="Lato"/>
                </a:rPr>
                <a:t>and </a:t>
              </a:r>
              <a:r>
                <a:rPr lang="en-US" sz="1800">
                  <a:solidFill>
                    <a:srgbClr val="E2E8F0"/>
                  </a:solidFill>
                  <a:latin typeface="Lato"/>
                  <a:ea typeface="Lato"/>
                  <a:cs typeface="Lato"/>
                  <a:sym typeface="Lato"/>
                </a:rPr>
                <a:t>increased over</a:t>
              </a:r>
              <a:r>
                <a:rPr lang="en-US" sz="1800" b="0" i="0" u="none" strike="noStrike" cap="none">
                  <a:solidFill>
                    <a:srgbClr val="E2E8F0"/>
                  </a:solidFill>
                  <a:latin typeface="Lato"/>
                  <a:ea typeface="Lato"/>
                  <a:cs typeface="Lato"/>
                  <a:sym typeface="Lato"/>
                </a:rPr>
                <a:t> time</a:t>
              </a:r>
              <a:r>
                <a:rPr lang="en-US" sz="1800">
                  <a:solidFill>
                    <a:srgbClr val="E2E8F0"/>
                  </a:solidFill>
                  <a:latin typeface="Lato"/>
                  <a:ea typeface="Lato"/>
                  <a:cs typeface="Lato"/>
                  <a:sym typeface="Lato"/>
                </a:rPr>
                <a:t>, preventing reward hacking of the exploration reward signal and ensuring </a:t>
              </a:r>
              <a:r>
                <a:rPr lang="en-US" sz="1800" b="0" i="0" u="none" strike="noStrike" cap="none">
                  <a:solidFill>
                    <a:srgbClr val="E2E8F0"/>
                  </a:solidFill>
                  <a:latin typeface="Lato"/>
                  <a:ea typeface="Lato"/>
                  <a:cs typeface="Lato"/>
                  <a:sym typeface="Lato"/>
                </a:rPr>
                <a:t>true reasoning and better generalization. </a:t>
              </a:r>
              <a:endParaRPr/>
            </a:p>
          </p:txBody>
        </p:sp>
        <p:sp>
          <p:nvSpPr>
            <p:cNvPr id="150" name="Google Shape;150;p16"/>
            <p:cNvSpPr txBox="1"/>
            <p:nvPr/>
          </p:nvSpPr>
          <p:spPr>
            <a:xfrm>
              <a:off x="571500" y="4257675"/>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793864DF-43CF-B5C3-11CC-72EBB1B9BCD6}"/>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50177F40-6F53-E1EC-539C-7C5227AA3B53}"/>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Paper’s Results Recap (I) – Exploration Reward Effect</a:t>
            </a:r>
          </a:p>
        </p:txBody>
      </p:sp>
      <p:sp>
        <p:nvSpPr>
          <p:cNvPr id="255" name="Google Shape;255;p21">
            <a:extLst>
              <a:ext uri="{FF2B5EF4-FFF2-40B4-BE49-F238E27FC236}">
                <a16:creationId xmlns:a16="http://schemas.microsoft.com/office/drawing/2014/main" id="{10D316C7-9DD9-B620-B2E1-770F9F6A122F}"/>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4" name="Group 13">
            <a:extLst>
              <a:ext uri="{FF2B5EF4-FFF2-40B4-BE49-F238E27FC236}">
                <a16:creationId xmlns:a16="http://schemas.microsoft.com/office/drawing/2014/main" id="{EC44E8EE-A3FB-9E89-48DC-B4F6B831C6C2}"/>
              </a:ext>
            </a:extLst>
          </p:cNvPr>
          <p:cNvGrpSpPr/>
          <p:nvPr/>
        </p:nvGrpSpPr>
        <p:grpSpPr>
          <a:xfrm>
            <a:off x="411907" y="1198182"/>
            <a:ext cx="3714207" cy="5449966"/>
            <a:chOff x="548501" y="1198181"/>
            <a:chExt cx="3714207" cy="5449966"/>
          </a:xfrm>
        </p:grpSpPr>
        <p:pic>
          <p:nvPicPr>
            <p:cNvPr id="6" name="Google Shape;178;p18" descr="image.png">
              <a:extLst>
                <a:ext uri="{FF2B5EF4-FFF2-40B4-BE49-F238E27FC236}">
                  <a16:creationId xmlns:a16="http://schemas.microsoft.com/office/drawing/2014/main" id="{4C8E02A9-6939-EDD6-4B78-EB40938D852F}"/>
                </a:ext>
              </a:extLst>
            </p:cNvPr>
            <p:cNvPicPr preferRelativeResize="0"/>
            <p:nvPr/>
          </p:nvPicPr>
          <p:blipFill rotWithShape="1">
            <a:blip r:embed="rId3">
              <a:alphaModFix/>
            </a:blip>
            <a:srcRect/>
            <a:stretch/>
          </p:blipFill>
          <p:spPr>
            <a:xfrm>
              <a:off x="762394" y="1198181"/>
              <a:ext cx="3291307" cy="5449966"/>
            </a:xfrm>
            <a:prstGeom prst="rect">
              <a:avLst/>
            </a:prstGeom>
            <a:noFill/>
            <a:ln>
              <a:noFill/>
            </a:ln>
          </p:spPr>
        </p:pic>
        <p:pic>
          <p:nvPicPr>
            <p:cNvPr id="194" name="Picture 193">
              <a:extLst>
                <a:ext uri="{FF2B5EF4-FFF2-40B4-BE49-F238E27FC236}">
                  <a16:creationId xmlns:a16="http://schemas.microsoft.com/office/drawing/2014/main" id="{9FA1D469-F059-3A21-837C-45B691F2841F}"/>
                </a:ext>
              </a:extLst>
            </p:cNvPr>
            <p:cNvPicPr>
              <a:picLocks noChangeAspect="1"/>
            </p:cNvPicPr>
            <p:nvPr/>
          </p:nvPicPr>
          <p:blipFill>
            <a:blip r:embed="rId4"/>
            <a:srcRect l="1813" t="4236" r="1333" b="1179"/>
            <a:stretch>
              <a:fillRect/>
            </a:stretch>
          </p:blipFill>
          <p:spPr>
            <a:xfrm>
              <a:off x="948820" y="1298069"/>
              <a:ext cx="2913570" cy="2301717"/>
            </a:xfrm>
            <a:prstGeom prst="rect">
              <a:avLst/>
            </a:prstGeom>
          </p:spPr>
        </p:pic>
        <p:sp>
          <p:nvSpPr>
            <p:cNvPr id="3" name="TextBox 2">
              <a:extLst>
                <a:ext uri="{FF2B5EF4-FFF2-40B4-BE49-F238E27FC236}">
                  <a16:creationId xmlns:a16="http://schemas.microsoft.com/office/drawing/2014/main" id="{975BF68D-99ED-CE0D-8718-7E1A488B5B1D}"/>
                </a:ext>
              </a:extLst>
            </p:cNvPr>
            <p:cNvSpPr txBox="1"/>
            <p:nvPr/>
          </p:nvSpPr>
          <p:spPr>
            <a:xfrm>
              <a:off x="548501" y="3647136"/>
              <a:ext cx="3714207" cy="523220"/>
            </a:xfrm>
            <a:prstGeom prst="rect">
              <a:avLst/>
            </a:prstGeom>
            <a:noFill/>
          </p:spPr>
          <p:txBody>
            <a:bodyPr wrap="square">
              <a:spAutoFit/>
            </a:bodyPr>
            <a:lstStyle/>
            <a:p>
              <a:pPr algn="ctr"/>
              <a:r>
                <a:rPr lang="en-US">
                  <a:solidFill>
                    <a:srgbClr val="C084FC"/>
                  </a:solidFill>
                  <a:latin typeface="Lato" panose="020F0502020204030203" pitchFamily="34" charset="0"/>
                  <a:ea typeface="Lato" panose="020F0502020204030203" pitchFamily="34" charset="0"/>
                  <a:cs typeface="Lato" panose="020F0502020204030203" pitchFamily="34" charset="0"/>
                </a:rPr>
                <a:t>Response length during RL training of </a:t>
              </a:r>
            </a:p>
            <a:p>
              <a:pPr algn="ctr"/>
              <a:r>
                <a:rPr lang="en-US">
                  <a:solidFill>
                    <a:srgbClr val="C084FC"/>
                  </a:solidFill>
                  <a:latin typeface="Lato" panose="020F0502020204030203" pitchFamily="34" charset="0"/>
                  <a:ea typeface="Lato" panose="020F0502020204030203" pitchFamily="34" charset="0"/>
                  <a:cs typeface="Lato" panose="020F0502020204030203" pitchFamily="34" charset="0"/>
                </a:rPr>
                <a:t>Llama-3.1-8B-Instruct.</a:t>
              </a:r>
            </a:p>
          </p:txBody>
        </p:sp>
        <p:pic>
          <p:nvPicPr>
            <p:cNvPr id="195" name="Picture 194">
              <a:extLst>
                <a:ext uri="{FF2B5EF4-FFF2-40B4-BE49-F238E27FC236}">
                  <a16:creationId xmlns:a16="http://schemas.microsoft.com/office/drawing/2014/main" id="{3E15C790-2440-CFA7-03FF-81A7131EFB17}"/>
                </a:ext>
              </a:extLst>
            </p:cNvPr>
            <p:cNvPicPr>
              <a:picLocks noChangeAspect="1"/>
            </p:cNvPicPr>
            <p:nvPr/>
          </p:nvPicPr>
          <p:blipFill>
            <a:blip r:embed="rId5"/>
            <a:srcRect r="4653" b="1943"/>
            <a:stretch>
              <a:fillRect/>
            </a:stretch>
          </p:blipFill>
          <p:spPr>
            <a:xfrm>
              <a:off x="959423" y="4217707"/>
              <a:ext cx="2913571" cy="2358557"/>
            </a:xfrm>
            <a:prstGeom prst="rect">
              <a:avLst/>
            </a:prstGeom>
          </p:spPr>
        </p:pic>
      </p:grpSp>
      <p:grpSp>
        <p:nvGrpSpPr>
          <p:cNvPr id="13" name="Group 12">
            <a:extLst>
              <a:ext uri="{FF2B5EF4-FFF2-40B4-BE49-F238E27FC236}">
                <a16:creationId xmlns:a16="http://schemas.microsoft.com/office/drawing/2014/main" id="{7F0992AE-3B12-198E-3E79-7B0C947D6667}"/>
              </a:ext>
            </a:extLst>
          </p:cNvPr>
          <p:cNvGrpSpPr/>
          <p:nvPr/>
        </p:nvGrpSpPr>
        <p:grpSpPr>
          <a:xfrm>
            <a:off x="4106524" y="1216767"/>
            <a:ext cx="3714206" cy="5449967"/>
            <a:chOff x="5754161" y="1221850"/>
            <a:chExt cx="3714206" cy="5449967"/>
          </a:xfrm>
        </p:grpSpPr>
        <p:pic>
          <p:nvPicPr>
            <p:cNvPr id="10" name="Google Shape;178;p18" descr="image.png">
              <a:extLst>
                <a:ext uri="{FF2B5EF4-FFF2-40B4-BE49-F238E27FC236}">
                  <a16:creationId xmlns:a16="http://schemas.microsoft.com/office/drawing/2014/main" id="{32EFF146-EA83-BF82-7B67-8AA8417B7BDF}"/>
                </a:ext>
              </a:extLst>
            </p:cNvPr>
            <p:cNvPicPr preferRelativeResize="0"/>
            <p:nvPr/>
          </p:nvPicPr>
          <p:blipFill rotWithShape="1">
            <a:blip r:embed="rId3">
              <a:alphaModFix/>
            </a:blip>
            <a:srcRect/>
            <a:stretch/>
          </p:blipFill>
          <p:spPr>
            <a:xfrm>
              <a:off x="5977469" y="1221850"/>
              <a:ext cx="3291307" cy="5449967"/>
            </a:xfrm>
            <a:prstGeom prst="rect">
              <a:avLst/>
            </a:prstGeom>
            <a:noFill/>
            <a:ln>
              <a:noFill/>
            </a:ln>
          </p:spPr>
        </p:pic>
        <p:pic>
          <p:nvPicPr>
            <p:cNvPr id="192" name="Picture 191">
              <a:extLst>
                <a:ext uri="{FF2B5EF4-FFF2-40B4-BE49-F238E27FC236}">
                  <a16:creationId xmlns:a16="http://schemas.microsoft.com/office/drawing/2014/main" id="{CA148621-2422-2A16-DC0C-4BE877341438}"/>
                </a:ext>
              </a:extLst>
            </p:cNvPr>
            <p:cNvPicPr>
              <a:picLocks noChangeAspect="1"/>
            </p:cNvPicPr>
            <p:nvPr/>
          </p:nvPicPr>
          <p:blipFill>
            <a:blip r:embed="rId6"/>
            <a:srcRect t="1398" r="3227" b="1576"/>
            <a:stretch>
              <a:fillRect/>
            </a:stretch>
          </p:blipFill>
          <p:spPr>
            <a:xfrm>
              <a:off x="6202955" y="4241377"/>
              <a:ext cx="2825949" cy="2358557"/>
            </a:xfrm>
            <a:prstGeom prst="rect">
              <a:avLst/>
            </a:prstGeom>
          </p:spPr>
        </p:pic>
        <p:pic>
          <p:nvPicPr>
            <p:cNvPr id="193" name="Picture 192">
              <a:extLst>
                <a:ext uri="{FF2B5EF4-FFF2-40B4-BE49-F238E27FC236}">
                  <a16:creationId xmlns:a16="http://schemas.microsoft.com/office/drawing/2014/main" id="{18701032-99F3-809F-4995-8C6B33605D2D}"/>
                </a:ext>
              </a:extLst>
            </p:cNvPr>
            <p:cNvPicPr>
              <a:picLocks noChangeAspect="1"/>
            </p:cNvPicPr>
            <p:nvPr/>
          </p:nvPicPr>
          <p:blipFill>
            <a:blip r:embed="rId7"/>
            <a:srcRect t="2996" r="1621" b="969"/>
            <a:stretch>
              <a:fillRect/>
            </a:stretch>
          </p:blipFill>
          <p:spPr>
            <a:xfrm>
              <a:off x="6186390" y="1321739"/>
              <a:ext cx="2859078" cy="2358557"/>
            </a:xfrm>
            <a:prstGeom prst="rect">
              <a:avLst/>
            </a:prstGeom>
          </p:spPr>
        </p:pic>
        <p:sp>
          <p:nvSpPr>
            <p:cNvPr id="4" name="TextBox 3">
              <a:extLst>
                <a:ext uri="{FF2B5EF4-FFF2-40B4-BE49-F238E27FC236}">
                  <a16:creationId xmlns:a16="http://schemas.microsoft.com/office/drawing/2014/main" id="{64DCDF33-0597-84B5-4870-346B527991DF}"/>
                </a:ext>
              </a:extLst>
            </p:cNvPr>
            <p:cNvSpPr txBox="1"/>
            <p:nvPr/>
          </p:nvSpPr>
          <p:spPr>
            <a:xfrm>
              <a:off x="5754161" y="3715202"/>
              <a:ext cx="3714206" cy="523220"/>
            </a:xfrm>
            <a:prstGeom prst="rect">
              <a:avLst/>
            </a:prstGeom>
            <a:noFill/>
          </p:spPr>
          <p:txBody>
            <a:bodyPr wrap="square">
              <a:spAutoFit/>
            </a:bodyPr>
            <a:lstStyle/>
            <a:p>
              <a:pPr algn="ctr"/>
              <a:r>
                <a:rPr lang="en-US">
                  <a:solidFill>
                    <a:srgbClr val="C084FC"/>
                  </a:solidFill>
                  <a:latin typeface="Lato" panose="020F0502020204030203" pitchFamily="34" charset="0"/>
                  <a:ea typeface="Lato" panose="020F0502020204030203" pitchFamily="34" charset="0"/>
                  <a:cs typeface="Lato" panose="020F0502020204030203" pitchFamily="34" charset="0"/>
                </a:rPr>
                <a:t>Response length during RL training of </a:t>
              </a:r>
            </a:p>
            <a:p>
              <a:pPr algn="ctr"/>
              <a:r>
                <a:rPr lang="en-US">
                  <a:solidFill>
                    <a:srgbClr val="C084FC"/>
                  </a:solidFill>
                  <a:latin typeface="Lato" panose="020F0502020204030203" pitchFamily="34" charset="0"/>
                  <a:ea typeface="Lato" panose="020F0502020204030203" pitchFamily="34" charset="0"/>
                  <a:cs typeface="Lato" panose="020F0502020204030203" pitchFamily="34" charset="0"/>
                </a:rPr>
                <a:t>Qwen2.5-7B-Instruct model domain.</a:t>
              </a:r>
            </a:p>
          </p:txBody>
        </p:sp>
      </p:grpSp>
      <p:sp>
        <p:nvSpPr>
          <p:cNvPr id="12" name="TextBox 11">
            <a:extLst>
              <a:ext uri="{FF2B5EF4-FFF2-40B4-BE49-F238E27FC236}">
                <a16:creationId xmlns:a16="http://schemas.microsoft.com/office/drawing/2014/main" id="{2FF4836A-2017-6FB5-AF57-7A544DF82E87}"/>
              </a:ext>
            </a:extLst>
          </p:cNvPr>
          <p:cNvSpPr txBox="1"/>
          <p:nvPr/>
        </p:nvSpPr>
        <p:spPr>
          <a:xfrm>
            <a:off x="8352944" y="3426667"/>
            <a:ext cx="3822313" cy="1323439"/>
          </a:xfrm>
          <a:prstGeom prst="rect">
            <a:avLst/>
          </a:prstGeom>
          <a:noFill/>
        </p:spPr>
        <p:txBody>
          <a:bodyPr wrap="square">
            <a:spAutoFit/>
          </a:bodyPr>
          <a:lstStyle/>
          <a:p>
            <a:pPr algn="just"/>
            <a:r>
              <a:rPr lang="en-US" sz="1600" b="1">
                <a:solidFill>
                  <a:srgbClr val="FDE047"/>
                </a:solidFill>
                <a:latin typeface="Lato"/>
                <a:ea typeface="Lato"/>
                <a:cs typeface="Lato"/>
                <a:sym typeface="Lato"/>
              </a:rPr>
              <a:t>Some form of explicit reward </a:t>
            </a:r>
          </a:p>
          <a:p>
            <a:pPr algn="just"/>
            <a:r>
              <a:rPr lang="en-US" sz="1600" b="1">
                <a:solidFill>
                  <a:srgbClr val="FDE047"/>
                </a:solidFill>
                <a:latin typeface="Lato"/>
                <a:ea typeface="Lato"/>
                <a:cs typeface="Lato"/>
                <a:sym typeface="Lato"/>
              </a:rPr>
              <a:t>to encourage the thinking process </a:t>
            </a:r>
          </a:p>
          <a:p>
            <a:pPr algn="just"/>
            <a:r>
              <a:rPr lang="en-US" sz="1600" b="1">
                <a:solidFill>
                  <a:schemeClr val="bg1"/>
                </a:solidFill>
                <a:latin typeface="Lato" panose="020F0502020204030203" pitchFamily="34" charset="0"/>
                <a:ea typeface="Lato" panose="020F0502020204030203" pitchFamily="34" charset="0"/>
                <a:cs typeface="Lato" panose="020F0502020204030203" pitchFamily="34" charset="0"/>
              </a:rPr>
              <a:t>may be more efficient and scalable way</a:t>
            </a:r>
          </a:p>
          <a:p>
            <a:pPr algn="just"/>
            <a:r>
              <a:rPr lang="en-US" sz="1600" b="1">
                <a:solidFill>
                  <a:schemeClr val="bg1"/>
                </a:solidFill>
                <a:latin typeface="Lato" panose="020F0502020204030203" pitchFamily="34" charset="0"/>
                <a:ea typeface="Lato" panose="020F0502020204030203" pitchFamily="34" charset="0"/>
                <a:cs typeface="Lato" panose="020F0502020204030203" pitchFamily="34" charset="0"/>
              </a:rPr>
              <a:t>to enable search behavior in LLMs overall</a:t>
            </a:r>
          </a:p>
        </p:txBody>
      </p:sp>
      <p:sp>
        <p:nvSpPr>
          <p:cNvPr id="18" name="Right Brace 17">
            <a:extLst>
              <a:ext uri="{FF2B5EF4-FFF2-40B4-BE49-F238E27FC236}">
                <a16:creationId xmlns:a16="http://schemas.microsoft.com/office/drawing/2014/main" id="{55359837-A30B-817E-4102-51D5BEF25656}"/>
              </a:ext>
            </a:extLst>
          </p:cNvPr>
          <p:cNvSpPr/>
          <p:nvPr/>
        </p:nvSpPr>
        <p:spPr>
          <a:xfrm>
            <a:off x="7819495" y="1326179"/>
            <a:ext cx="335093" cy="5278195"/>
          </a:xfrm>
          <a:prstGeom prst="rightBrace">
            <a:avLst/>
          </a:prstGeom>
          <a:ln>
            <a:solidFill>
              <a:srgbClr val="FDE047"/>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600"/>
          </a:p>
        </p:txBody>
      </p:sp>
    </p:spTree>
    <p:extLst>
      <p:ext uri="{BB962C8B-B14F-4D97-AF65-F5344CB8AC3E}">
        <p14:creationId xmlns:p14="http://schemas.microsoft.com/office/powerpoint/2010/main" val="2808309973"/>
      </p:ext>
    </p:extLst>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52EE199F-179D-AFE1-9F56-2059214B72CA}"/>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615B9A26-B4D1-6271-E0E1-58943824C91E}"/>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Paper’s Results Recap (II) - Metrics</a:t>
            </a:r>
          </a:p>
        </p:txBody>
      </p:sp>
      <p:sp>
        <p:nvSpPr>
          <p:cNvPr id="255" name="Google Shape;255;p21">
            <a:extLst>
              <a:ext uri="{FF2B5EF4-FFF2-40B4-BE49-F238E27FC236}">
                <a16:creationId xmlns:a16="http://schemas.microsoft.com/office/drawing/2014/main" id="{8BFB4A2C-B2B3-BEBD-EA66-F21B89593AEF}"/>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 name="Google Shape;247;p21">
            <a:extLst>
              <a:ext uri="{FF2B5EF4-FFF2-40B4-BE49-F238E27FC236}">
                <a16:creationId xmlns:a16="http://schemas.microsoft.com/office/drawing/2014/main" id="{16005DAD-055C-8467-4F39-E1D92810F26C}"/>
              </a:ext>
            </a:extLst>
          </p:cNvPr>
          <p:cNvGraphicFramePr/>
          <p:nvPr>
            <p:extLst>
              <p:ext uri="{D42A27DB-BD31-4B8C-83A1-F6EECF244321}">
                <p14:modId xmlns:p14="http://schemas.microsoft.com/office/powerpoint/2010/main" val="3347848675"/>
              </p:ext>
            </p:extLst>
          </p:nvPr>
        </p:nvGraphicFramePr>
        <p:xfrm>
          <a:off x="1659725" y="4785327"/>
          <a:ext cx="8872550" cy="1766892"/>
        </p:xfrm>
        <a:graphic>
          <a:graphicData uri="http://schemas.openxmlformats.org/drawingml/2006/table">
            <a:tbl>
              <a:tblPr firstRow="1" bandRow="1">
                <a:noFill/>
                <a:tableStyleId>{9F999E4E-5BA7-4DE1-9601-BB02968FC5E9}</a:tableStyleId>
              </a:tblPr>
              <a:tblGrid>
                <a:gridCol w="2823029">
                  <a:extLst>
                    <a:ext uri="{9D8B030D-6E8A-4147-A177-3AD203B41FA5}">
                      <a16:colId xmlns:a16="http://schemas.microsoft.com/office/drawing/2014/main" val="20000"/>
                    </a:ext>
                  </a:extLst>
                </a:gridCol>
                <a:gridCol w="3154841">
                  <a:extLst>
                    <a:ext uri="{9D8B030D-6E8A-4147-A177-3AD203B41FA5}">
                      <a16:colId xmlns:a16="http://schemas.microsoft.com/office/drawing/2014/main" val="20001"/>
                    </a:ext>
                  </a:extLst>
                </a:gridCol>
                <a:gridCol w="2894680">
                  <a:extLst>
                    <a:ext uri="{9D8B030D-6E8A-4147-A177-3AD203B41FA5}">
                      <a16:colId xmlns:a16="http://schemas.microsoft.com/office/drawing/2014/main" val="20002"/>
                    </a:ext>
                  </a:extLst>
                </a:gridCol>
              </a:tblGrid>
              <a:tr h="588964">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sym typeface="Lato"/>
                        </a:rPr>
                        <a:t>Model / Benchmark</a:t>
                      </a:r>
                      <a:endParaRPr>
                        <a:solidFill>
                          <a:srgbClr val="C084FC"/>
                        </a:solidFill>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sym typeface="Lato"/>
                        </a:rPr>
                        <a:t>Self-Consistency Accuracy</a:t>
                      </a:r>
                      <a:endParaRPr>
                        <a:solidFill>
                          <a:srgbClr val="C084FC"/>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sym typeface="Lato"/>
                        </a:rPr>
                        <a:t>SFT + ER-RLSP Accuracy</a:t>
                      </a:r>
                      <a:endParaRPr>
                        <a:solidFill>
                          <a:srgbClr val="C084FC"/>
                        </a:solidFill>
                      </a:endParaRPr>
                    </a:p>
                  </a:txBody>
                  <a:tcPr marL="63500" marR="63500" marT="25400" marB="25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extLst>
                  <a:ext uri="{0D108BD9-81ED-4DB2-BD59-A6C34878D82A}">
                    <a16:rowId xmlns:a16="http://schemas.microsoft.com/office/drawing/2014/main" val="10000"/>
                  </a:ext>
                </a:extLst>
              </a:tr>
              <a:tr h="588964">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Llama-8B (MATH-500)</a:t>
                      </a:r>
                      <a:endParaRPr>
                        <a:solidFill>
                          <a:schemeClr val="bg1"/>
                        </a:solidFill>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61.8% (16 samples)</a:t>
                      </a: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73.4%</a:t>
                      </a: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0001"/>
                  </a:ext>
                </a:extLst>
              </a:tr>
              <a:tr h="588964">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Qwen-32B (AIME 2024)</a:t>
                      </a:r>
                      <a:endParaRPr>
                        <a:solidFill>
                          <a:schemeClr val="bg1"/>
                        </a:solidFill>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20.0% (8 samples)</a:t>
                      </a: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r>
                        <a:rPr lang="en-US" sz="1650" b="0" i="0" u="none" strike="noStrike" cap="none">
                          <a:solidFill>
                            <a:schemeClr val="bg1"/>
                          </a:solidFill>
                          <a:latin typeface="Lato"/>
                          <a:ea typeface="Lato"/>
                          <a:cs typeface="Lato"/>
                          <a:sym typeface="Lato"/>
                        </a:rPr>
                        <a:t>23.3%</a:t>
                      </a: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0002"/>
                  </a:ext>
                </a:extLst>
              </a:tr>
            </a:tbl>
          </a:graphicData>
        </a:graphic>
      </p:graphicFrame>
      <p:grpSp>
        <p:nvGrpSpPr>
          <p:cNvPr id="196" name="Group 195">
            <a:extLst>
              <a:ext uri="{FF2B5EF4-FFF2-40B4-BE49-F238E27FC236}">
                <a16:creationId xmlns:a16="http://schemas.microsoft.com/office/drawing/2014/main" id="{CBA662A0-C293-CED3-07E9-A092FF5FC8BA}"/>
              </a:ext>
            </a:extLst>
          </p:cNvPr>
          <p:cNvGrpSpPr/>
          <p:nvPr/>
        </p:nvGrpSpPr>
        <p:grpSpPr>
          <a:xfrm>
            <a:off x="942293" y="1677582"/>
            <a:ext cx="10307413" cy="2573337"/>
            <a:chOff x="1132414" y="1213411"/>
            <a:chExt cx="8985047" cy="4039176"/>
          </a:xfrm>
        </p:grpSpPr>
        <p:sp>
          <p:nvSpPr>
            <p:cNvPr id="37" name="Google Shape;210;p20">
              <a:extLst>
                <a:ext uri="{FF2B5EF4-FFF2-40B4-BE49-F238E27FC236}">
                  <a16:creationId xmlns:a16="http://schemas.microsoft.com/office/drawing/2014/main" id="{43167CDE-1A7B-AC8E-BE68-D3F73729C1D3}"/>
                </a:ext>
              </a:extLst>
            </p:cNvPr>
            <p:cNvSpPr/>
            <p:nvPr/>
          </p:nvSpPr>
          <p:spPr>
            <a:xfrm>
              <a:off x="1132414" y="1213411"/>
              <a:ext cx="8985047" cy="1471567"/>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 name="Google Shape;211;p20">
              <a:extLst>
                <a:ext uri="{FF2B5EF4-FFF2-40B4-BE49-F238E27FC236}">
                  <a16:creationId xmlns:a16="http://schemas.microsoft.com/office/drawing/2014/main" id="{E770F162-13B1-BF8D-C952-8D7E93E3085C}"/>
                </a:ext>
              </a:extLst>
            </p:cNvPr>
            <p:cNvSpPr txBox="1"/>
            <p:nvPr/>
          </p:nvSpPr>
          <p:spPr>
            <a:xfrm>
              <a:off x="1326057" y="1329597"/>
              <a:ext cx="2323719" cy="232494"/>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4" b="0" i="0">
                  <a:solidFill>
                    <a:srgbClr val="E2E8F0"/>
                  </a:solidFill>
                  <a:latin typeface="Poppins SemiBold"/>
                  <a:ea typeface="Poppins SemiBold"/>
                  <a:cs typeface="Poppins SemiBold"/>
                  <a:sym typeface="Poppins SemiBold"/>
                </a:rPr>
                <a:t>MATH-500</a:t>
              </a:r>
              <a:endParaRPr sz="1464" b="0" i="0">
                <a:solidFill>
                  <a:srgbClr val="E2E8F0"/>
                </a:solidFill>
                <a:latin typeface="Poppins SemiBold"/>
                <a:ea typeface="Poppins SemiBold"/>
                <a:cs typeface="Poppins SemiBold"/>
                <a:sym typeface="Poppins SemiBold"/>
              </a:endParaRPr>
            </a:p>
          </p:txBody>
        </p:sp>
        <p:sp>
          <p:nvSpPr>
            <p:cNvPr id="39" name="Google Shape;212;p20">
              <a:extLst>
                <a:ext uri="{FF2B5EF4-FFF2-40B4-BE49-F238E27FC236}">
                  <a16:creationId xmlns:a16="http://schemas.microsoft.com/office/drawing/2014/main" id="{C96E54B0-A929-D45D-0D68-26931120507C}"/>
                </a:ext>
              </a:extLst>
            </p:cNvPr>
            <p:cNvSpPr/>
            <p:nvPr/>
          </p:nvSpPr>
          <p:spPr>
            <a:xfrm>
              <a:off x="1326057" y="1639426"/>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 name="Google Shape;213;p20">
              <a:extLst>
                <a:ext uri="{FF2B5EF4-FFF2-40B4-BE49-F238E27FC236}">
                  <a16:creationId xmlns:a16="http://schemas.microsoft.com/office/drawing/2014/main" id="{4A3C3CBF-4F95-AC2D-E5D7-4710EF43AD7C}"/>
                </a:ext>
              </a:extLst>
            </p:cNvPr>
            <p:cNvSpPr/>
            <p:nvPr/>
          </p:nvSpPr>
          <p:spPr>
            <a:xfrm>
              <a:off x="1326057" y="1639426"/>
              <a:ext cx="3919461" cy="271040"/>
            </a:xfrm>
            <a:prstGeom prst="roundRect">
              <a:avLst>
                <a:gd name="adj" fmla="val 50000"/>
              </a:avLst>
            </a:prstGeom>
            <a:solidFill>
              <a:srgbClr val="4A7DBA"/>
            </a:solidFill>
            <a:ln>
              <a:noFill/>
            </a:ln>
            <a:effectLst>
              <a:glow>
                <a:schemeClr val="accent1">
                  <a:alpha val="40000"/>
                </a:schemeClr>
              </a:glow>
              <a:reflection endPos="0" dir="5400000" sy="-100000" algn="bl" rotWithShape="0"/>
              <a:softEdge rad="0"/>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 name="Google Shape;214;p20">
              <a:extLst>
                <a:ext uri="{FF2B5EF4-FFF2-40B4-BE49-F238E27FC236}">
                  <a16:creationId xmlns:a16="http://schemas.microsoft.com/office/drawing/2014/main" id="{35B58B4A-0F34-122C-46B1-11906B501D5D}"/>
                </a:ext>
              </a:extLst>
            </p:cNvPr>
            <p:cNvSpPr txBox="1"/>
            <p:nvPr/>
          </p:nvSpPr>
          <p:spPr>
            <a:xfrm>
              <a:off x="1480981" y="1639438"/>
              <a:ext cx="3653301"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0" b="1" i="0">
                  <a:solidFill>
                    <a:srgbClr val="FFFFFF"/>
                  </a:solidFill>
                  <a:latin typeface="Lato"/>
                  <a:ea typeface="Lato"/>
                  <a:cs typeface="Lato"/>
                  <a:sym typeface="Lato"/>
                </a:rPr>
                <a:t>Llama-8B (Base): 50.6%</a:t>
              </a:r>
              <a:endParaRPr sz="1460" b="1" i="0">
                <a:solidFill>
                  <a:srgbClr val="FFFFFF"/>
                </a:solidFill>
                <a:latin typeface="Lato"/>
                <a:ea typeface="Lato"/>
                <a:cs typeface="Lato"/>
                <a:sym typeface="Lato"/>
              </a:endParaRPr>
            </a:p>
          </p:txBody>
        </p:sp>
        <p:sp>
          <p:nvSpPr>
            <p:cNvPr id="42" name="Google Shape;215;p20">
              <a:extLst>
                <a:ext uri="{FF2B5EF4-FFF2-40B4-BE49-F238E27FC236}">
                  <a16:creationId xmlns:a16="http://schemas.microsoft.com/office/drawing/2014/main" id="{190ABA0D-7C38-3CDB-1780-008BE8584FDD}"/>
                </a:ext>
              </a:extLst>
            </p:cNvPr>
            <p:cNvSpPr/>
            <p:nvPr/>
          </p:nvSpPr>
          <p:spPr>
            <a:xfrm>
              <a:off x="1326057" y="2336542"/>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 name="Google Shape;218;p20">
              <a:extLst>
                <a:ext uri="{FF2B5EF4-FFF2-40B4-BE49-F238E27FC236}">
                  <a16:creationId xmlns:a16="http://schemas.microsoft.com/office/drawing/2014/main" id="{4AF69693-AC38-B600-951D-C1AC46AD11E0}"/>
                </a:ext>
              </a:extLst>
            </p:cNvPr>
            <p:cNvSpPr/>
            <p:nvPr/>
          </p:nvSpPr>
          <p:spPr>
            <a:xfrm>
              <a:off x="1326057" y="1987984"/>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 name="Google Shape;216;p20">
              <a:extLst>
                <a:ext uri="{FF2B5EF4-FFF2-40B4-BE49-F238E27FC236}">
                  <a16:creationId xmlns:a16="http://schemas.microsoft.com/office/drawing/2014/main" id="{923BDB52-F887-85B1-64B0-BCF004729A57}"/>
                </a:ext>
              </a:extLst>
            </p:cNvPr>
            <p:cNvSpPr/>
            <p:nvPr/>
          </p:nvSpPr>
          <p:spPr>
            <a:xfrm>
              <a:off x="1326057" y="1985708"/>
              <a:ext cx="5437625" cy="27104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219;p20">
              <a:extLst>
                <a:ext uri="{FF2B5EF4-FFF2-40B4-BE49-F238E27FC236}">
                  <a16:creationId xmlns:a16="http://schemas.microsoft.com/office/drawing/2014/main" id="{EFE5ACD0-6287-A67B-13AC-CC206CE10E20}"/>
                </a:ext>
              </a:extLst>
            </p:cNvPr>
            <p:cNvSpPr/>
            <p:nvPr/>
          </p:nvSpPr>
          <p:spPr>
            <a:xfrm>
              <a:off x="1328438" y="2333274"/>
              <a:ext cx="5683107" cy="271040"/>
            </a:xfrm>
            <a:prstGeom prst="roundRect">
              <a:avLst>
                <a:gd name="adj" fmla="val 50000"/>
              </a:avLst>
            </a:prstGeom>
            <a:solidFill>
              <a:srgbClr val="FDE047"/>
            </a:solidFill>
            <a:ln>
              <a:noFill/>
            </a:ln>
          </p:spPr>
          <p:txBody>
            <a:bodyPr spcFirstLastPara="1" wrap="square" lIns="0" tIns="0" rIns="0" bIns="0" anchor="ctr" anchorCtr="0">
              <a:noAutofit/>
            </a:bodyPr>
            <a:lstStyle/>
            <a:p>
              <a:pPr marL="0" lvl="0" indent="0" algn="l" rtl="0">
                <a:spcBef>
                  <a:spcPts val="0"/>
                </a:spcBef>
                <a:spcAft>
                  <a:spcPts val="0"/>
                </a:spcAft>
                <a:buNone/>
              </a:pPr>
              <a:endParaRPr sz="1319"/>
            </a:p>
          </p:txBody>
        </p:sp>
        <p:sp>
          <p:nvSpPr>
            <p:cNvPr id="46" name="Google Shape;217;p20">
              <a:extLst>
                <a:ext uri="{FF2B5EF4-FFF2-40B4-BE49-F238E27FC236}">
                  <a16:creationId xmlns:a16="http://schemas.microsoft.com/office/drawing/2014/main" id="{D82B4B02-A268-50F6-3CA8-41FE375397BD}"/>
                </a:ext>
              </a:extLst>
            </p:cNvPr>
            <p:cNvSpPr txBox="1"/>
            <p:nvPr/>
          </p:nvSpPr>
          <p:spPr>
            <a:xfrm>
              <a:off x="1480972" y="2341735"/>
              <a:ext cx="5267097"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66" b="0" i="0">
                  <a:solidFill>
                    <a:srgbClr val="070B19"/>
                  </a:solidFill>
                  <a:latin typeface="Lato Black"/>
                  <a:ea typeface="Lato Black"/>
                  <a:cs typeface="Lato Black"/>
                  <a:sym typeface="Lato Black"/>
                </a:rPr>
                <a:t>Llama-8B (RLSP): 73.4%</a:t>
              </a:r>
              <a:endParaRPr sz="1366" b="0" i="0">
                <a:solidFill>
                  <a:srgbClr val="070B19"/>
                </a:solidFill>
                <a:latin typeface="Lato Black"/>
                <a:ea typeface="Lato Black"/>
                <a:cs typeface="Lato Black"/>
                <a:sym typeface="Lato Black"/>
              </a:endParaRPr>
            </a:p>
          </p:txBody>
        </p:sp>
        <p:sp>
          <p:nvSpPr>
            <p:cNvPr id="47" name="Google Shape;220;p20">
              <a:extLst>
                <a:ext uri="{FF2B5EF4-FFF2-40B4-BE49-F238E27FC236}">
                  <a16:creationId xmlns:a16="http://schemas.microsoft.com/office/drawing/2014/main" id="{0E56A031-3834-627B-6313-35F6E26023A7}"/>
                </a:ext>
              </a:extLst>
            </p:cNvPr>
            <p:cNvSpPr txBox="1"/>
            <p:nvPr/>
          </p:nvSpPr>
          <p:spPr>
            <a:xfrm>
              <a:off x="1480983" y="1990575"/>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66" b="0" i="0">
                  <a:solidFill>
                    <a:srgbClr val="070B19"/>
                  </a:solidFill>
                  <a:latin typeface="Lato Black"/>
                  <a:ea typeface="Lato Black"/>
                  <a:cs typeface="Lato Black"/>
                  <a:sym typeface="Lato Black"/>
                </a:rPr>
                <a:t>Llama-8B (SFT): 70.2%</a:t>
              </a:r>
              <a:endParaRPr sz="1366" b="0" i="0">
                <a:solidFill>
                  <a:srgbClr val="070B19"/>
                </a:solidFill>
                <a:latin typeface="Lato Black"/>
                <a:ea typeface="Lato Black"/>
                <a:cs typeface="Lato Black"/>
                <a:sym typeface="Lato Black"/>
              </a:endParaRPr>
            </a:p>
          </p:txBody>
        </p:sp>
        <p:sp>
          <p:nvSpPr>
            <p:cNvPr id="48" name="Google Shape;222;p20">
              <a:extLst>
                <a:ext uri="{FF2B5EF4-FFF2-40B4-BE49-F238E27FC236}">
                  <a16:creationId xmlns:a16="http://schemas.microsoft.com/office/drawing/2014/main" id="{E1D2517A-6098-2569-2236-5885A94DE677}"/>
                </a:ext>
              </a:extLst>
            </p:cNvPr>
            <p:cNvSpPr/>
            <p:nvPr/>
          </p:nvSpPr>
          <p:spPr>
            <a:xfrm>
              <a:off x="1132414" y="2801730"/>
              <a:ext cx="8985047" cy="1167105"/>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49" name="Google Shape;223;p20">
              <a:extLst>
                <a:ext uri="{FF2B5EF4-FFF2-40B4-BE49-F238E27FC236}">
                  <a16:creationId xmlns:a16="http://schemas.microsoft.com/office/drawing/2014/main" id="{0E596A3F-5684-CF29-E1D3-5039FFEFF010}"/>
                </a:ext>
              </a:extLst>
            </p:cNvPr>
            <p:cNvSpPr txBox="1"/>
            <p:nvPr/>
          </p:nvSpPr>
          <p:spPr>
            <a:xfrm>
              <a:off x="1326069" y="2901254"/>
              <a:ext cx="2323719" cy="232494"/>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4" b="0" i="0">
                  <a:solidFill>
                    <a:srgbClr val="E2E8F0"/>
                  </a:solidFill>
                  <a:latin typeface="Poppins SemiBold"/>
                  <a:ea typeface="Poppins SemiBold"/>
                  <a:cs typeface="Poppins SemiBold"/>
                  <a:sym typeface="Poppins SemiBold"/>
                </a:rPr>
                <a:t>MATH-500 </a:t>
              </a:r>
              <a:endParaRPr sz="1464" b="0" i="0">
                <a:solidFill>
                  <a:srgbClr val="E2E8F0"/>
                </a:solidFill>
                <a:latin typeface="Poppins SemiBold"/>
                <a:ea typeface="Poppins SemiBold"/>
                <a:cs typeface="Poppins SemiBold"/>
                <a:sym typeface="Poppins SemiBold"/>
              </a:endParaRPr>
            </a:p>
          </p:txBody>
        </p:sp>
        <p:sp>
          <p:nvSpPr>
            <p:cNvPr id="50" name="Google Shape;224;p20">
              <a:extLst>
                <a:ext uri="{FF2B5EF4-FFF2-40B4-BE49-F238E27FC236}">
                  <a16:creationId xmlns:a16="http://schemas.microsoft.com/office/drawing/2014/main" id="{00229C8E-C336-BB4C-B8F4-2D2B5292A53F}"/>
                </a:ext>
              </a:extLst>
            </p:cNvPr>
            <p:cNvSpPr/>
            <p:nvPr/>
          </p:nvSpPr>
          <p:spPr>
            <a:xfrm>
              <a:off x="1326069" y="3211084"/>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 name="Google Shape;225;p20">
              <a:extLst>
                <a:ext uri="{FF2B5EF4-FFF2-40B4-BE49-F238E27FC236}">
                  <a16:creationId xmlns:a16="http://schemas.microsoft.com/office/drawing/2014/main" id="{7A64424A-E831-614A-0E41-A1446E46CD99}"/>
                </a:ext>
              </a:extLst>
            </p:cNvPr>
            <p:cNvSpPr/>
            <p:nvPr/>
          </p:nvSpPr>
          <p:spPr>
            <a:xfrm>
              <a:off x="1326069" y="3211084"/>
              <a:ext cx="6320516" cy="27104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 name="Google Shape;226;p20">
              <a:extLst>
                <a:ext uri="{FF2B5EF4-FFF2-40B4-BE49-F238E27FC236}">
                  <a16:creationId xmlns:a16="http://schemas.microsoft.com/office/drawing/2014/main" id="{4DE17167-E56A-C7C3-A5A3-2C3ADD55FCB5}"/>
                </a:ext>
              </a:extLst>
            </p:cNvPr>
            <p:cNvSpPr txBox="1"/>
            <p:nvPr/>
          </p:nvSpPr>
          <p:spPr>
            <a:xfrm>
              <a:off x="1480984" y="3211084"/>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1" i="0">
                  <a:solidFill>
                    <a:srgbClr val="FFFFFF"/>
                  </a:solidFill>
                  <a:latin typeface="Lato"/>
                  <a:ea typeface="Lato"/>
                  <a:cs typeface="Lato"/>
                  <a:sym typeface="Lato"/>
                </a:rPr>
                <a:t>Qwen-32B (Base): 81.6%</a:t>
              </a:r>
              <a:endParaRPr b="1" i="0">
                <a:solidFill>
                  <a:srgbClr val="FFFFFF"/>
                </a:solidFill>
                <a:latin typeface="Lato"/>
                <a:ea typeface="Lato"/>
                <a:cs typeface="Lato"/>
                <a:sym typeface="Lato"/>
              </a:endParaRPr>
            </a:p>
          </p:txBody>
        </p:sp>
        <p:sp>
          <p:nvSpPr>
            <p:cNvPr id="53" name="Google Shape;227;p20">
              <a:extLst>
                <a:ext uri="{FF2B5EF4-FFF2-40B4-BE49-F238E27FC236}">
                  <a16:creationId xmlns:a16="http://schemas.microsoft.com/office/drawing/2014/main" id="{D091B646-9834-272F-8239-58D5536E725C}"/>
                </a:ext>
              </a:extLst>
            </p:cNvPr>
            <p:cNvSpPr/>
            <p:nvPr/>
          </p:nvSpPr>
          <p:spPr>
            <a:xfrm>
              <a:off x="1326069" y="3559641"/>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54" name="Google Shape;228;p20">
              <a:extLst>
                <a:ext uri="{FF2B5EF4-FFF2-40B4-BE49-F238E27FC236}">
                  <a16:creationId xmlns:a16="http://schemas.microsoft.com/office/drawing/2014/main" id="{22082925-20BB-272F-26C4-0065599FD6CA}"/>
                </a:ext>
              </a:extLst>
            </p:cNvPr>
            <p:cNvSpPr/>
            <p:nvPr/>
          </p:nvSpPr>
          <p:spPr>
            <a:xfrm>
              <a:off x="1326069" y="3559641"/>
              <a:ext cx="6444448" cy="27104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 name="Google Shape;229;p20">
              <a:extLst>
                <a:ext uri="{FF2B5EF4-FFF2-40B4-BE49-F238E27FC236}">
                  <a16:creationId xmlns:a16="http://schemas.microsoft.com/office/drawing/2014/main" id="{5A94AECC-AF43-08BD-C01F-C6014A49A11A}"/>
                </a:ext>
              </a:extLst>
            </p:cNvPr>
            <p:cNvSpPr txBox="1"/>
            <p:nvPr/>
          </p:nvSpPr>
          <p:spPr>
            <a:xfrm>
              <a:off x="1480984" y="3559641"/>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0" i="0">
                  <a:solidFill>
                    <a:srgbClr val="070B19"/>
                  </a:solidFill>
                  <a:latin typeface="Lato Black"/>
                  <a:ea typeface="Lato Black"/>
                  <a:cs typeface="Lato Black"/>
                  <a:sym typeface="Lato Black"/>
                </a:rPr>
                <a:t>Qwen-32B (Base + ER-RLSP): 83.2%</a:t>
              </a:r>
              <a:endParaRPr b="0" i="0">
                <a:solidFill>
                  <a:srgbClr val="070B19"/>
                </a:solidFill>
                <a:latin typeface="Lato Black"/>
                <a:ea typeface="Lato Black"/>
                <a:cs typeface="Lato Black"/>
                <a:sym typeface="Lato Black"/>
              </a:endParaRPr>
            </a:p>
          </p:txBody>
        </p:sp>
        <p:sp>
          <p:nvSpPr>
            <p:cNvPr id="56" name="Google Shape;231;p20">
              <a:extLst>
                <a:ext uri="{FF2B5EF4-FFF2-40B4-BE49-F238E27FC236}">
                  <a16:creationId xmlns:a16="http://schemas.microsoft.com/office/drawing/2014/main" id="{62210E41-AD45-3EB1-B9C9-7A25D1E3C334}"/>
                </a:ext>
              </a:extLst>
            </p:cNvPr>
            <p:cNvSpPr/>
            <p:nvPr/>
          </p:nvSpPr>
          <p:spPr>
            <a:xfrm>
              <a:off x="1132414" y="4085587"/>
              <a:ext cx="8985000" cy="1167000"/>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57" name="Google Shape;232;p20">
              <a:extLst>
                <a:ext uri="{FF2B5EF4-FFF2-40B4-BE49-F238E27FC236}">
                  <a16:creationId xmlns:a16="http://schemas.microsoft.com/office/drawing/2014/main" id="{1DB14A62-C4F3-58F4-6673-7518DB068B69}"/>
                </a:ext>
              </a:extLst>
            </p:cNvPr>
            <p:cNvSpPr txBox="1"/>
            <p:nvPr/>
          </p:nvSpPr>
          <p:spPr>
            <a:xfrm>
              <a:off x="1326070" y="4201776"/>
              <a:ext cx="2323719" cy="232494"/>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4">
                  <a:solidFill>
                    <a:srgbClr val="E2E8F0"/>
                  </a:solidFill>
                  <a:latin typeface="Poppins SemiBold"/>
                  <a:ea typeface="Poppins SemiBold"/>
                  <a:cs typeface="Poppins SemiBold"/>
                  <a:sym typeface="Poppins SemiBold"/>
                </a:rPr>
                <a:t>AIME 2024 </a:t>
              </a:r>
              <a:endParaRPr sz="1464" b="0" i="0">
                <a:solidFill>
                  <a:srgbClr val="E2E8F0"/>
                </a:solidFill>
                <a:latin typeface="Poppins SemiBold"/>
                <a:ea typeface="Poppins SemiBold"/>
                <a:cs typeface="Poppins SemiBold"/>
                <a:sym typeface="Poppins SemiBold"/>
              </a:endParaRPr>
            </a:p>
          </p:txBody>
        </p:sp>
        <p:sp>
          <p:nvSpPr>
            <p:cNvPr id="58" name="Google Shape;233;p20">
              <a:extLst>
                <a:ext uri="{FF2B5EF4-FFF2-40B4-BE49-F238E27FC236}">
                  <a16:creationId xmlns:a16="http://schemas.microsoft.com/office/drawing/2014/main" id="{12FC1FFA-B6B6-6100-ABBA-1E9AE453627A}"/>
                </a:ext>
              </a:extLst>
            </p:cNvPr>
            <p:cNvSpPr/>
            <p:nvPr/>
          </p:nvSpPr>
          <p:spPr>
            <a:xfrm>
              <a:off x="1326070" y="4511605"/>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234;p20">
              <a:extLst>
                <a:ext uri="{FF2B5EF4-FFF2-40B4-BE49-F238E27FC236}">
                  <a16:creationId xmlns:a16="http://schemas.microsoft.com/office/drawing/2014/main" id="{B1FAE324-FF62-EDCB-2E24-EC4C69C6FDA9}"/>
                </a:ext>
              </a:extLst>
            </p:cNvPr>
            <p:cNvSpPr/>
            <p:nvPr/>
          </p:nvSpPr>
          <p:spPr>
            <a:xfrm>
              <a:off x="1326070" y="4860163"/>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60" name="Google Shape;235;p20">
              <a:extLst>
                <a:ext uri="{FF2B5EF4-FFF2-40B4-BE49-F238E27FC236}">
                  <a16:creationId xmlns:a16="http://schemas.microsoft.com/office/drawing/2014/main" id="{0FECA324-222B-2516-D7E0-B8E8A35DA32C}"/>
                </a:ext>
              </a:extLst>
            </p:cNvPr>
            <p:cNvSpPr/>
            <p:nvPr/>
          </p:nvSpPr>
          <p:spPr>
            <a:xfrm>
              <a:off x="1326064" y="4513249"/>
              <a:ext cx="1080900" cy="26940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 name="Google Shape;236;p20">
              <a:extLst>
                <a:ext uri="{FF2B5EF4-FFF2-40B4-BE49-F238E27FC236}">
                  <a16:creationId xmlns:a16="http://schemas.microsoft.com/office/drawing/2014/main" id="{A6D191B4-4BEA-7D5D-F50C-FD6FCE76B1C6}"/>
                </a:ext>
              </a:extLst>
            </p:cNvPr>
            <p:cNvSpPr txBox="1"/>
            <p:nvPr/>
          </p:nvSpPr>
          <p:spPr>
            <a:xfrm>
              <a:off x="1480984" y="4511605"/>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b="1">
                  <a:solidFill>
                    <a:schemeClr val="lt1"/>
                  </a:solidFill>
                  <a:latin typeface="Lato"/>
                  <a:ea typeface="Lato"/>
                  <a:cs typeface="Lato"/>
                  <a:sym typeface="Lato"/>
                </a:rPr>
                <a:t>Qwen-32B (Base): 13.3%</a:t>
              </a:r>
              <a:endParaRPr b="1" i="0">
                <a:solidFill>
                  <a:srgbClr val="FFFFFF"/>
                </a:solidFill>
                <a:latin typeface="Lato"/>
                <a:ea typeface="Lato"/>
                <a:cs typeface="Lato"/>
                <a:sym typeface="Lato"/>
              </a:endParaRPr>
            </a:p>
          </p:txBody>
        </p:sp>
        <p:sp>
          <p:nvSpPr>
            <p:cNvPr id="62" name="Google Shape;237;p20">
              <a:extLst>
                <a:ext uri="{FF2B5EF4-FFF2-40B4-BE49-F238E27FC236}">
                  <a16:creationId xmlns:a16="http://schemas.microsoft.com/office/drawing/2014/main" id="{57F46BC7-5658-8995-AFB3-6611E94FBAB1}"/>
                </a:ext>
              </a:extLst>
            </p:cNvPr>
            <p:cNvSpPr/>
            <p:nvPr/>
          </p:nvSpPr>
          <p:spPr>
            <a:xfrm>
              <a:off x="1326064" y="4859612"/>
              <a:ext cx="1990800" cy="26940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 name="Google Shape;238;p20">
              <a:extLst>
                <a:ext uri="{FF2B5EF4-FFF2-40B4-BE49-F238E27FC236}">
                  <a16:creationId xmlns:a16="http://schemas.microsoft.com/office/drawing/2014/main" id="{DC0B1D8A-4066-8F5C-8068-BF68A145E9D6}"/>
                </a:ext>
              </a:extLst>
            </p:cNvPr>
            <p:cNvSpPr txBox="1"/>
            <p:nvPr/>
          </p:nvSpPr>
          <p:spPr>
            <a:xfrm>
              <a:off x="1480984" y="4860163"/>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a:solidFill>
                    <a:schemeClr val="dk1"/>
                  </a:solidFill>
                  <a:latin typeface="Lato Black"/>
                  <a:ea typeface="Lato Black"/>
                  <a:cs typeface="Lato Black"/>
                  <a:sym typeface="Lato Black"/>
                </a:rPr>
                <a:t>Qwen-32B (RLSP): 23.3%</a:t>
              </a:r>
              <a:endParaRPr b="0" i="0">
                <a:solidFill>
                  <a:schemeClr val="dk1"/>
                </a:solidFill>
                <a:latin typeface="Lato Black"/>
                <a:ea typeface="Lato Black"/>
                <a:cs typeface="Lato Black"/>
                <a:sym typeface="Lato Black"/>
              </a:endParaRPr>
            </a:p>
          </p:txBody>
        </p:sp>
      </p:grpSp>
      <p:sp>
        <p:nvSpPr>
          <p:cNvPr id="198" name="Google Shape;244;p21">
            <a:extLst>
              <a:ext uri="{FF2B5EF4-FFF2-40B4-BE49-F238E27FC236}">
                <a16:creationId xmlns:a16="http://schemas.microsoft.com/office/drawing/2014/main" id="{9AD30A9F-F0DA-EADA-2FEB-9A53F1FB4343}"/>
              </a:ext>
            </a:extLst>
          </p:cNvPr>
          <p:cNvSpPr txBox="1"/>
          <p:nvPr/>
        </p:nvSpPr>
        <p:spPr>
          <a:xfrm>
            <a:off x="3906474" y="4330143"/>
            <a:ext cx="4379094" cy="415498"/>
          </a:xfrm>
          <a:prstGeom prst="rect">
            <a:avLst/>
          </a:prstGeom>
          <a:noFill/>
          <a:ln>
            <a:noFill/>
          </a:ln>
        </p:spPr>
        <p:txBody>
          <a:bodyPr spcFirstLastPara="1" wrap="square" lIns="0" tIns="0" rIns="0" bIns="0" anchor="t" anchorCtr="0">
            <a:spAutoFit/>
          </a:bodyPr>
          <a:lstStyle/>
          <a:p>
            <a:pPr lvl="0">
              <a:lnSpc>
                <a:spcPct val="150000"/>
              </a:lnSpc>
            </a:pPr>
            <a:r>
              <a:rPr lang="en-US" sz="1800">
                <a:solidFill>
                  <a:srgbClr val="FDE047"/>
                </a:solidFill>
                <a:latin typeface="Lato"/>
                <a:ea typeface="Lato"/>
                <a:cs typeface="Lato"/>
                <a:sym typeface="Lato"/>
              </a:rPr>
              <a:t>Token Efficiency: RLSP vs Self-Consistency</a:t>
            </a:r>
            <a:endParaRPr sz="1600">
              <a:solidFill>
                <a:srgbClr val="FDE047"/>
              </a:solidFill>
            </a:endParaRPr>
          </a:p>
        </p:txBody>
      </p:sp>
      <p:sp>
        <p:nvSpPr>
          <p:cNvPr id="200" name="TextBox 199">
            <a:extLst>
              <a:ext uri="{FF2B5EF4-FFF2-40B4-BE49-F238E27FC236}">
                <a16:creationId xmlns:a16="http://schemas.microsoft.com/office/drawing/2014/main" id="{AD68DD93-AF8F-7180-DE97-FA360580EB60}"/>
              </a:ext>
            </a:extLst>
          </p:cNvPr>
          <p:cNvSpPr txBox="1"/>
          <p:nvPr/>
        </p:nvSpPr>
        <p:spPr>
          <a:xfrm>
            <a:off x="3906474" y="1238025"/>
            <a:ext cx="4379094" cy="455894"/>
          </a:xfrm>
          <a:prstGeom prst="rect">
            <a:avLst/>
          </a:prstGeom>
          <a:noFill/>
        </p:spPr>
        <p:txBody>
          <a:bodyPr wrap="square">
            <a:spAutoFit/>
          </a:bodyPr>
          <a:lstStyle/>
          <a:p>
            <a:pPr lvl="0">
              <a:lnSpc>
                <a:spcPct val="150000"/>
              </a:lnSpc>
            </a:pPr>
            <a:r>
              <a:rPr lang="en-US" sz="1800">
                <a:solidFill>
                  <a:srgbClr val="FDE047"/>
                </a:solidFill>
                <a:latin typeface="Lato"/>
                <a:ea typeface="Lato"/>
                <a:cs typeface="Lato"/>
                <a:sym typeface="Lato"/>
              </a:rPr>
              <a:t>Accuracy over Math-500 and AIME2024</a:t>
            </a:r>
            <a:endParaRPr lang="en-US" sz="1600">
              <a:solidFill>
                <a:srgbClr val="FDE047"/>
              </a:solidFill>
            </a:endParaRPr>
          </a:p>
        </p:txBody>
      </p:sp>
      <p:sp>
        <p:nvSpPr>
          <p:cNvPr id="202" name="Google Shape;255;p21">
            <a:extLst>
              <a:ext uri="{FF2B5EF4-FFF2-40B4-BE49-F238E27FC236}">
                <a16:creationId xmlns:a16="http://schemas.microsoft.com/office/drawing/2014/main" id="{2BC032A6-381A-596E-0C4F-A0343EA9970F}"/>
              </a:ext>
            </a:extLst>
          </p:cNvPr>
          <p:cNvSpPr/>
          <p:nvPr/>
        </p:nvSpPr>
        <p:spPr>
          <a:xfrm>
            <a:off x="1530298" y="4407707"/>
            <a:ext cx="9131405" cy="3338"/>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55;p21">
            <a:extLst>
              <a:ext uri="{FF2B5EF4-FFF2-40B4-BE49-F238E27FC236}">
                <a16:creationId xmlns:a16="http://schemas.microsoft.com/office/drawing/2014/main" id="{5C91ED15-DEE6-03E0-2872-9321086C7B17}"/>
              </a:ext>
            </a:extLst>
          </p:cNvPr>
          <p:cNvSpPr/>
          <p:nvPr/>
        </p:nvSpPr>
        <p:spPr>
          <a:xfrm rot="16200000">
            <a:off x="1424093" y="4414156"/>
            <a:ext cx="221934" cy="2759"/>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55;p21">
            <a:extLst>
              <a:ext uri="{FF2B5EF4-FFF2-40B4-BE49-F238E27FC236}">
                <a16:creationId xmlns:a16="http://schemas.microsoft.com/office/drawing/2014/main" id="{44E11C62-E9E0-ED6F-F90D-9F54716BA738}"/>
              </a:ext>
            </a:extLst>
          </p:cNvPr>
          <p:cNvSpPr/>
          <p:nvPr/>
        </p:nvSpPr>
        <p:spPr>
          <a:xfrm rot="16200000">
            <a:off x="10558726" y="4411788"/>
            <a:ext cx="221934" cy="2759"/>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3582059"/>
      </p:ext>
    </p:extLst>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E670FE0C-D121-BDD5-AAD2-734C778618C1}"/>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84640A59-57C3-B561-5915-40E7AA5C1416}"/>
              </a:ext>
            </a:extLst>
          </p:cNvPr>
          <p:cNvSpPr txBox="1"/>
          <p:nvPr/>
        </p:nvSpPr>
        <p:spPr>
          <a:xfrm>
            <a:off x="571500" y="476250"/>
            <a:ext cx="8067498"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Results – A General Roadmap of our work</a:t>
            </a:r>
          </a:p>
        </p:txBody>
      </p:sp>
      <p:sp>
        <p:nvSpPr>
          <p:cNvPr id="255" name="Google Shape;255;p21">
            <a:extLst>
              <a:ext uri="{FF2B5EF4-FFF2-40B4-BE49-F238E27FC236}">
                <a16:creationId xmlns:a16="http://schemas.microsoft.com/office/drawing/2014/main" id="{DD0F1AFA-837C-30D6-75BB-90CD0FCF5728}"/>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59" name="Group 258">
            <a:extLst>
              <a:ext uri="{FF2B5EF4-FFF2-40B4-BE49-F238E27FC236}">
                <a16:creationId xmlns:a16="http://schemas.microsoft.com/office/drawing/2014/main" id="{C3557C9F-BD86-7DC2-7B22-F051013B0547}"/>
              </a:ext>
            </a:extLst>
          </p:cNvPr>
          <p:cNvGrpSpPr/>
          <p:nvPr/>
        </p:nvGrpSpPr>
        <p:grpSpPr>
          <a:xfrm>
            <a:off x="-366484" y="1227016"/>
            <a:ext cx="12924967" cy="4807316"/>
            <a:chOff x="-261709" y="1636657"/>
            <a:chExt cx="12715417" cy="4702704"/>
          </a:xfrm>
        </p:grpSpPr>
        <p:grpSp>
          <p:nvGrpSpPr>
            <p:cNvPr id="240" name="Group 239">
              <a:extLst>
                <a:ext uri="{FF2B5EF4-FFF2-40B4-BE49-F238E27FC236}">
                  <a16:creationId xmlns:a16="http://schemas.microsoft.com/office/drawing/2014/main" id="{0C5D9736-64EA-C6D3-082C-5935DE2AAD33}"/>
                </a:ext>
              </a:extLst>
            </p:cNvPr>
            <p:cNvGrpSpPr/>
            <p:nvPr/>
          </p:nvGrpSpPr>
          <p:grpSpPr>
            <a:xfrm>
              <a:off x="-261709" y="1636657"/>
              <a:ext cx="12715417" cy="4702704"/>
              <a:chOff x="-1017543" y="2214981"/>
              <a:chExt cx="12836689" cy="4303185"/>
            </a:xfrm>
          </p:grpSpPr>
          <p:grpSp>
            <p:nvGrpSpPr>
              <p:cNvPr id="42" name="Group 41">
                <a:extLst>
                  <a:ext uri="{FF2B5EF4-FFF2-40B4-BE49-F238E27FC236}">
                    <a16:creationId xmlns:a16="http://schemas.microsoft.com/office/drawing/2014/main" id="{8B142D21-067E-64B6-1D27-4E2B5D7B0B6A}"/>
                  </a:ext>
                </a:extLst>
              </p:cNvPr>
              <p:cNvGrpSpPr/>
              <p:nvPr/>
            </p:nvGrpSpPr>
            <p:grpSpPr>
              <a:xfrm>
                <a:off x="-1017543" y="2970594"/>
                <a:ext cx="12836689" cy="2806243"/>
                <a:chOff x="715900" y="2794992"/>
                <a:chExt cx="10804092" cy="2361895"/>
              </a:xfrm>
            </p:grpSpPr>
            <p:sp>
              <p:nvSpPr>
                <p:cNvPr id="43" name="Freeform: Shape 42">
                  <a:extLst>
                    <a:ext uri="{FF2B5EF4-FFF2-40B4-BE49-F238E27FC236}">
                      <a16:creationId xmlns:a16="http://schemas.microsoft.com/office/drawing/2014/main" id="{407F10AB-7946-E2AC-3E5F-287B3CD62A76}"/>
                    </a:ext>
                  </a:extLst>
                </p:cNvPr>
                <p:cNvSpPr/>
                <p:nvPr/>
              </p:nvSpPr>
              <p:spPr>
                <a:xfrm>
                  <a:off x="843459" y="3138921"/>
                  <a:ext cx="10548975" cy="1674037"/>
                </a:xfrm>
                <a:custGeom>
                  <a:avLst/>
                  <a:gdLst>
                    <a:gd name="connsiteX0" fmla="*/ 10548975 w 10548975"/>
                    <a:gd name="connsiteY0" fmla="*/ 1674038 h 1674037"/>
                    <a:gd name="connsiteX1" fmla="*/ 9919412 w 10548975"/>
                    <a:gd name="connsiteY1" fmla="*/ 767410 h 1674037"/>
                    <a:gd name="connsiteX2" fmla="*/ 9230183 w 10548975"/>
                    <a:gd name="connsiteY2" fmla="*/ 0 h 1674037"/>
                    <a:gd name="connsiteX3" fmla="*/ 8535467 w 10548975"/>
                    <a:gd name="connsiteY3" fmla="*/ 842848 h 1674037"/>
                    <a:gd name="connsiteX4" fmla="*/ 8446998 w 10548975"/>
                    <a:gd name="connsiteY4" fmla="*/ 1133627 h 1674037"/>
                    <a:gd name="connsiteX5" fmla="*/ 7381952 w 10548975"/>
                    <a:gd name="connsiteY5" fmla="*/ 1121969 h 1674037"/>
                    <a:gd name="connsiteX6" fmla="*/ 7282511 w 10548975"/>
                    <a:gd name="connsiteY6" fmla="*/ 767410 h 1674037"/>
                    <a:gd name="connsiteX7" fmla="*/ 6593281 w 10548975"/>
                    <a:gd name="connsiteY7" fmla="*/ 0 h 1674037"/>
                    <a:gd name="connsiteX8" fmla="*/ 5898566 w 10548975"/>
                    <a:gd name="connsiteY8" fmla="*/ 842848 h 1674037"/>
                    <a:gd name="connsiteX9" fmla="*/ 5800497 w 10548975"/>
                    <a:gd name="connsiteY9" fmla="*/ 1154201 h 1674037"/>
                    <a:gd name="connsiteX10" fmla="*/ 4753280 w 10548975"/>
                    <a:gd name="connsiteY10" fmla="*/ 1141857 h 1674037"/>
                    <a:gd name="connsiteX11" fmla="*/ 4644924 w 10548975"/>
                    <a:gd name="connsiteY11" fmla="*/ 767410 h 1674037"/>
                    <a:gd name="connsiteX12" fmla="*/ 3955695 w 10548975"/>
                    <a:gd name="connsiteY12" fmla="*/ 0 h 1674037"/>
                    <a:gd name="connsiteX13" fmla="*/ 3260979 w 10548975"/>
                    <a:gd name="connsiteY13" fmla="*/ 842848 h 1674037"/>
                    <a:gd name="connsiteX14" fmla="*/ 3162910 w 10548975"/>
                    <a:gd name="connsiteY14" fmla="*/ 1154201 h 1674037"/>
                    <a:gd name="connsiteX15" fmla="*/ 2116379 w 10548975"/>
                    <a:gd name="connsiteY15" fmla="*/ 1141857 h 1674037"/>
                    <a:gd name="connsiteX16" fmla="*/ 2008023 w 10548975"/>
                    <a:gd name="connsiteY16" fmla="*/ 767410 h 1674037"/>
                    <a:gd name="connsiteX17" fmla="*/ 1318793 w 10548975"/>
                    <a:gd name="connsiteY17" fmla="*/ 0 h 1674037"/>
                    <a:gd name="connsiteX18" fmla="*/ 624078 w 10548975"/>
                    <a:gd name="connsiteY18" fmla="*/ 842848 h 1674037"/>
                    <a:gd name="connsiteX19" fmla="*/ 0 w 10548975"/>
                    <a:gd name="connsiteY19" fmla="*/ 1674038 h 167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8975" h="1674037">
                      <a:moveTo>
                        <a:pt x="10548975" y="1674038"/>
                      </a:moveTo>
                      <a:cubicBezTo>
                        <a:pt x="10188930" y="1535506"/>
                        <a:pt x="9985248" y="1169975"/>
                        <a:pt x="9919412" y="767410"/>
                      </a:cubicBezTo>
                      <a:cubicBezTo>
                        <a:pt x="9852888" y="356616"/>
                        <a:pt x="9650577" y="0"/>
                        <a:pt x="9230183" y="0"/>
                      </a:cubicBezTo>
                      <a:cubicBezTo>
                        <a:pt x="8770697" y="0"/>
                        <a:pt x="8613648" y="414909"/>
                        <a:pt x="8535467" y="842848"/>
                      </a:cubicBezTo>
                      <a:cubicBezTo>
                        <a:pt x="8516951" y="944347"/>
                        <a:pt x="8487461" y="1042416"/>
                        <a:pt x="8446998" y="1133627"/>
                      </a:cubicBezTo>
                      <a:cubicBezTo>
                        <a:pt x="8228228" y="1630147"/>
                        <a:pt x="7592492" y="1623289"/>
                        <a:pt x="7381952" y="1121969"/>
                      </a:cubicBezTo>
                      <a:cubicBezTo>
                        <a:pt x="7335317" y="1010869"/>
                        <a:pt x="7302398" y="890854"/>
                        <a:pt x="7282511" y="767410"/>
                      </a:cubicBezTo>
                      <a:cubicBezTo>
                        <a:pt x="7215302" y="356616"/>
                        <a:pt x="7012991" y="0"/>
                        <a:pt x="6593281" y="0"/>
                      </a:cubicBezTo>
                      <a:cubicBezTo>
                        <a:pt x="6133110" y="0"/>
                        <a:pt x="5976061" y="414909"/>
                        <a:pt x="5898566" y="842848"/>
                      </a:cubicBezTo>
                      <a:cubicBezTo>
                        <a:pt x="5878678" y="951890"/>
                        <a:pt x="5845759" y="1056818"/>
                        <a:pt x="5800497" y="1154201"/>
                      </a:cubicBezTo>
                      <a:cubicBezTo>
                        <a:pt x="5581041" y="1628089"/>
                        <a:pt x="4963821" y="1620545"/>
                        <a:pt x="4753280" y="1141857"/>
                      </a:cubicBezTo>
                      <a:cubicBezTo>
                        <a:pt x="4702531" y="1025271"/>
                        <a:pt x="4666869" y="898398"/>
                        <a:pt x="4644924" y="767410"/>
                      </a:cubicBezTo>
                      <a:cubicBezTo>
                        <a:pt x="4578401" y="356616"/>
                        <a:pt x="4376090" y="0"/>
                        <a:pt x="3955695" y="0"/>
                      </a:cubicBezTo>
                      <a:cubicBezTo>
                        <a:pt x="3496209" y="0"/>
                        <a:pt x="3339160" y="414909"/>
                        <a:pt x="3260979" y="842848"/>
                      </a:cubicBezTo>
                      <a:cubicBezTo>
                        <a:pt x="3241091" y="951890"/>
                        <a:pt x="3208173" y="1056818"/>
                        <a:pt x="3162910" y="1154201"/>
                      </a:cubicBezTo>
                      <a:cubicBezTo>
                        <a:pt x="2944140" y="1628089"/>
                        <a:pt x="2326234" y="1620545"/>
                        <a:pt x="2116379" y="1141857"/>
                      </a:cubicBezTo>
                      <a:cubicBezTo>
                        <a:pt x="2064944" y="1025271"/>
                        <a:pt x="2029282" y="898398"/>
                        <a:pt x="2008023" y="767410"/>
                      </a:cubicBezTo>
                      <a:cubicBezTo>
                        <a:pt x="1940814" y="356616"/>
                        <a:pt x="1738503" y="0"/>
                        <a:pt x="1318793" y="0"/>
                      </a:cubicBezTo>
                      <a:cubicBezTo>
                        <a:pt x="858622" y="0"/>
                        <a:pt x="701573" y="414909"/>
                        <a:pt x="624078" y="842848"/>
                      </a:cubicBezTo>
                      <a:cubicBezTo>
                        <a:pt x="555498" y="1218667"/>
                        <a:pt x="329870" y="1547165"/>
                        <a:pt x="0" y="1674038"/>
                      </a:cubicBezTo>
                    </a:path>
                  </a:pathLst>
                </a:custGeom>
                <a:noFill/>
                <a:ln w="641909" cap="flat">
                  <a:solidFill>
                    <a:srgbClr val="000000"/>
                  </a:solid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3001F16-428E-91C5-3193-E41E8ED83474}"/>
                    </a:ext>
                  </a:extLst>
                </p:cNvPr>
                <p:cNvSpPr/>
                <p:nvPr/>
              </p:nvSpPr>
              <p:spPr>
                <a:xfrm>
                  <a:off x="715900" y="2794992"/>
                  <a:ext cx="10804092" cy="2361895"/>
                </a:xfrm>
                <a:custGeom>
                  <a:avLst/>
                  <a:gdLst>
                    <a:gd name="connsiteX0" fmla="*/ 10548976 w 10804092"/>
                    <a:gd name="connsiteY0" fmla="*/ 2361895 h 2361895"/>
                    <a:gd name="connsiteX1" fmla="*/ 9695840 w 10804092"/>
                    <a:gd name="connsiteY1" fmla="*/ 1180262 h 2361895"/>
                    <a:gd name="connsiteX2" fmla="*/ 9357741 w 10804092"/>
                    <a:gd name="connsiteY2" fmla="*/ 711175 h 2361895"/>
                    <a:gd name="connsiteX3" fmla="*/ 9013469 w 10804092"/>
                    <a:gd name="connsiteY3" fmla="*/ 1262558 h 2361895"/>
                    <a:gd name="connsiteX4" fmla="*/ 8900312 w 10804092"/>
                    <a:gd name="connsiteY4" fmla="*/ 1632890 h 2361895"/>
                    <a:gd name="connsiteX5" fmla="*/ 8045120 w 10804092"/>
                    <a:gd name="connsiteY5" fmla="*/ 2213762 h 2361895"/>
                    <a:gd name="connsiteX6" fmla="*/ 8036890 w 10804092"/>
                    <a:gd name="connsiteY6" fmla="*/ 2213762 h 2361895"/>
                    <a:gd name="connsiteX7" fmla="*/ 7181698 w 10804092"/>
                    <a:gd name="connsiteY7" fmla="*/ 1615059 h 2361895"/>
                    <a:gd name="connsiteX8" fmla="*/ 7058939 w 10804092"/>
                    <a:gd name="connsiteY8" fmla="*/ 1180262 h 2361895"/>
                    <a:gd name="connsiteX9" fmla="*/ 6720840 w 10804092"/>
                    <a:gd name="connsiteY9" fmla="*/ 711175 h 2361895"/>
                    <a:gd name="connsiteX10" fmla="*/ 6375883 w 10804092"/>
                    <a:gd name="connsiteY10" fmla="*/ 1262558 h 2361895"/>
                    <a:gd name="connsiteX11" fmla="*/ 6251067 w 10804092"/>
                    <a:gd name="connsiteY11" fmla="*/ 1659636 h 2361895"/>
                    <a:gd name="connsiteX12" fmla="*/ 5407533 w 10804092"/>
                    <a:gd name="connsiteY12" fmla="*/ 2217191 h 2361895"/>
                    <a:gd name="connsiteX13" fmla="*/ 5398618 w 10804092"/>
                    <a:gd name="connsiteY13" fmla="*/ 2217191 h 2361895"/>
                    <a:gd name="connsiteX14" fmla="*/ 4555084 w 10804092"/>
                    <a:gd name="connsiteY14" fmla="*/ 1641119 h 2361895"/>
                    <a:gd name="connsiteX15" fmla="*/ 4421353 w 10804092"/>
                    <a:gd name="connsiteY15" fmla="*/ 1180262 h 2361895"/>
                    <a:gd name="connsiteX16" fmla="*/ 4083253 w 10804092"/>
                    <a:gd name="connsiteY16" fmla="*/ 711175 h 2361895"/>
                    <a:gd name="connsiteX17" fmla="*/ 3738982 w 10804092"/>
                    <a:gd name="connsiteY17" fmla="*/ 1262558 h 2361895"/>
                    <a:gd name="connsiteX18" fmla="*/ 3613480 w 10804092"/>
                    <a:gd name="connsiteY18" fmla="*/ 1659636 h 2361895"/>
                    <a:gd name="connsiteX19" fmla="*/ 2770632 w 10804092"/>
                    <a:gd name="connsiteY19" fmla="*/ 2217191 h 2361895"/>
                    <a:gd name="connsiteX20" fmla="*/ 2761031 w 10804092"/>
                    <a:gd name="connsiteY20" fmla="*/ 2217191 h 2361895"/>
                    <a:gd name="connsiteX21" fmla="*/ 1918183 w 10804092"/>
                    <a:gd name="connsiteY21" fmla="*/ 1641119 h 2361895"/>
                    <a:gd name="connsiteX22" fmla="*/ 1784452 w 10804092"/>
                    <a:gd name="connsiteY22" fmla="*/ 1180262 h 2361895"/>
                    <a:gd name="connsiteX23" fmla="*/ 1446352 w 10804092"/>
                    <a:gd name="connsiteY23" fmla="*/ 711175 h 2361895"/>
                    <a:gd name="connsiteX24" fmla="*/ 1101395 w 10804092"/>
                    <a:gd name="connsiteY24" fmla="*/ 1262558 h 2361895"/>
                    <a:gd name="connsiteX25" fmla="*/ 825017 w 10804092"/>
                    <a:gd name="connsiteY25" fmla="*/ 1918183 h 2361895"/>
                    <a:gd name="connsiteX26" fmla="*/ 255118 w 10804092"/>
                    <a:gd name="connsiteY26" fmla="*/ 2361895 h 2361895"/>
                    <a:gd name="connsiteX27" fmla="*/ 0 w 10804092"/>
                    <a:gd name="connsiteY27" fmla="*/ 1698041 h 2361895"/>
                    <a:gd name="connsiteX28" fmla="*/ 401193 w 10804092"/>
                    <a:gd name="connsiteY28" fmla="*/ 1134999 h 2361895"/>
                    <a:gd name="connsiteX29" fmla="*/ 661111 w 10804092"/>
                    <a:gd name="connsiteY29" fmla="*/ 416967 h 2361895"/>
                    <a:gd name="connsiteX30" fmla="*/ 1446352 w 10804092"/>
                    <a:gd name="connsiteY30" fmla="*/ 0 h 2361895"/>
                    <a:gd name="connsiteX31" fmla="*/ 1446352 w 10804092"/>
                    <a:gd name="connsiteY31" fmla="*/ 0 h 2361895"/>
                    <a:gd name="connsiteX32" fmla="*/ 2486711 w 10804092"/>
                    <a:gd name="connsiteY32" fmla="*/ 1065733 h 2361895"/>
                    <a:gd name="connsiteX33" fmla="*/ 2569693 w 10804092"/>
                    <a:gd name="connsiteY33" fmla="*/ 1355141 h 2361895"/>
                    <a:gd name="connsiteX34" fmla="*/ 2768575 w 10804092"/>
                    <a:gd name="connsiteY34" fmla="*/ 1505331 h 2361895"/>
                    <a:gd name="connsiteX35" fmla="*/ 2968143 w 10804092"/>
                    <a:gd name="connsiteY35" fmla="*/ 1360627 h 2361895"/>
                    <a:gd name="connsiteX36" fmla="*/ 3038780 w 10804092"/>
                    <a:gd name="connsiteY36" fmla="*/ 1134999 h 2361895"/>
                    <a:gd name="connsiteX37" fmla="*/ 3298012 w 10804092"/>
                    <a:gd name="connsiteY37" fmla="*/ 416967 h 2361895"/>
                    <a:gd name="connsiteX38" fmla="*/ 4083253 w 10804092"/>
                    <a:gd name="connsiteY38" fmla="*/ 0 h 2361895"/>
                    <a:gd name="connsiteX39" fmla="*/ 4083253 w 10804092"/>
                    <a:gd name="connsiteY39" fmla="*/ 0 h 2361895"/>
                    <a:gd name="connsiteX40" fmla="*/ 5123612 w 10804092"/>
                    <a:gd name="connsiteY40" fmla="*/ 1065733 h 2361895"/>
                    <a:gd name="connsiteX41" fmla="*/ 5207279 w 10804092"/>
                    <a:gd name="connsiteY41" fmla="*/ 1355141 h 2361895"/>
                    <a:gd name="connsiteX42" fmla="*/ 5405476 w 10804092"/>
                    <a:gd name="connsiteY42" fmla="*/ 1505331 h 2361895"/>
                    <a:gd name="connsiteX43" fmla="*/ 5407533 w 10804092"/>
                    <a:gd name="connsiteY43" fmla="*/ 1505331 h 2361895"/>
                    <a:gd name="connsiteX44" fmla="*/ 5605043 w 10804092"/>
                    <a:gd name="connsiteY44" fmla="*/ 1360627 h 2361895"/>
                    <a:gd name="connsiteX45" fmla="*/ 5675681 w 10804092"/>
                    <a:gd name="connsiteY45" fmla="*/ 1134999 h 2361895"/>
                    <a:gd name="connsiteX46" fmla="*/ 5935599 w 10804092"/>
                    <a:gd name="connsiteY46" fmla="*/ 416967 h 2361895"/>
                    <a:gd name="connsiteX47" fmla="*/ 6720840 w 10804092"/>
                    <a:gd name="connsiteY47" fmla="*/ 0 h 2361895"/>
                    <a:gd name="connsiteX48" fmla="*/ 6720840 w 10804092"/>
                    <a:gd name="connsiteY48" fmla="*/ 0 h 2361895"/>
                    <a:gd name="connsiteX49" fmla="*/ 7761199 w 10804092"/>
                    <a:gd name="connsiteY49" fmla="*/ 1065733 h 2361895"/>
                    <a:gd name="connsiteX50" fmla="*/ 7838008 w 10804092"/>
                    <a:gd name="connsiteY50" fmla="*/ 1340053 h 2361895"/>
                    <a:gd name="connsiteX51" fmla="*/ 8043062 w 10804092"/>
                    <a:gd name="connsiteY51" fmla="*/ 1501902 h 2361895"/>
                    <a:gd name="connsiteX52" fmla="*/ 8045120 w 10804092"/>
                    <a:gd name="connsiteY52" fmla="*/ 1501902 h 2361895"/>
                    <a:gd name="connsiteX53" fmla="*/ 8248802 w 10804092"/>
                    <a:gd name="connsiteY53" fmla="*/ 1346225 h 2361895"/>
                    <a:gd name="connsiteX54" fmla="*/ 8313268 w 10804092"/>
                    <a:gd name="connsiteY54" fmla="*/ 1134999 h 2361895"/>
                    <a:gd name="connsiteX55" fmla="*/ 8572500 w 10804092"/>
                    <a:gd name="connsiteY55" fmla="*/ 416967 h 2361895"/>
                    <a:gd name="connsiteX56" fmla="*/ 9357741 w 10804092"/>
                    <a:gd name="connsiteY56" fmla="*/ 0 h 2361895"/>
                    <a:gd name="connsiteX57" fmla="*/ 9357741 w 10804092"/>
                    <a:gd name="connsiteY57" fmla="*/ 0 h 2361895"/>
                    <a:gd name="connsiteX58" fmla="*/ 10398100 w 10804092"/>
                    <a:gd name="connsiteY58" fmla="*/ 1065733 h 2361895"/>
                    <a:gd name="connsiteX59" fmla="*/ 10804093 w 10804092"/>
                    <a:gd name="connsiteY59" fmla="*/ 1698041 h 236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804092" h="2361895">
                      <a:moveTo>
                        <a:pt x="10548976" y="2361895"/>
                      </a:moveTo>
                      <a:cubicBezTo>
                        <a:pt x="10101148" y="2190445"/>
                        <a:pt x="9790481" y="1759077"/>
                        <a:pt x="9695840" y="1180262"/>
                      </a:cubicBezTo>
                      <a:cubicBezTo>
                        <a:pt x="9645091" y="868909"/>
                        <a:pt x="9531934" y="711175"/>
                        <a:pt x="9357741" y="711175"/>
                      </a:cubicBezTo>
                      <a:cubicBezTo>
                        <a:pt x="9272702" y="711175"/>
                        <a:pt x="9113596" y="711175"/>
                        <a:pt x="9013469" y="1262558"/>
                      </a:cubicBezTo>
                      <a:cubicBezTo>
                        <a:pt x="8990152" y="1390802"/>
                        <a:pt x="8951747" y="1515618"/>
                        <a:pt x="8900312" y="1632890"/>
                      </a:cubicBezTo>
                      <a:cubicBezTo>
                        <a:pt x="8741893" y="1991563"/>
                        <a:pt x="8414766" y="2213762"/>
                        <a:pt x="8045120" y="2213762"/>
                      </a:cubicBezTo>
                      <a:cubicBezTo>
                        <a:pt x="8042377" y="2213762"/>
                        <a:pt x="8039633" y="2213762"/>
                        <a:pt x="8036890" y="2213762"/>
                      </a:cubicBezTo>
                      <a:cubicBezTo>
                        <a:pt x="7662443" y="2210333"/>
                        <a:pt x="7334632" y="1981276"/>
                        <a:pt x="7181698" y="1615059"/>
                      </a:cubicBezTo>
                      <a:cubicBezTo>
                        <a:pt x="7125462" y="1480642"/>
                        <a:pt x="7083629" y="1334567"/>
                        <a:pt x="7058939" y="1180262"/>
                      </a:cubicBezTo>
                      <a:cubicBezTo>
                        <a:pt x="7008191" y="868909"/>
                        <a:pt x="6894347" y="711175"/>
                        <a:pt x="6720840" y="711175"/>
                      </a:cubicBezTo>
                      <a:cubicBezTo>
                        <a:pt x="6635115" y="711175"/>
                        <a:pt x="6476009" y="711175"/>
                        <a:pt x="6375883" y="1262558"/>
                      </a:cubicBezTo>
                      <a:cubicBezTo>
                        <a:pt x="6351194" y="1401089"/>
                        <a:pt x="6308675" y="1534820"/>
                        <a:pt x="6251067" y="1659636"/>
                      </a:cubicBezTo>
                      <a:cubicBezTo>
                        <a:pt x="6091276" y="2003908"/>
                        <a:pt x="5768950" y="2217191"/>
                        <a:pt x="5407533" y="2217191"/>
                      </a:cubicBezTo>
                      <a:cubicBezTo>
                        <a:pt x="5404790" y="2217191"/>
                        <a:pt x="5401820" y="2217191"/>
                        <a:pt x="5398618" y="2217191"/>
                      </a:cubicBezTo>
                      <a:cubicBezTo>
                        <a:pt x="5032400" y="2213077"/>
                        <a:pt x="4709389" y="1992249"/>
                        <a:pt x="4555084" y="1641119"/>
                      </a:cubicBezTo>
                      <a:cubicBezTo>
                        <a:pt x="4493362" y="1499159"/>
                        <a:pt x="4448099" y="1344168"/>
                        <a:pt x="4421353" y="1180262"/>
                      </a:cubicBezTo>
                      <a:cubicBezTo>
                        <a:pt x="4370603" y="868909"/>
                        <a:pt x="4257446" y="711175"/>
                        <a:pt x="4083253" y="711175"/>
                      </a:cubicBezTo>
                      <a:cubicBezTo>
                        <a:pt x="3998214" y="711175"/>
                        <a:pt x="3839108" y="711175"/>
                        <a:pt x="3738982" y="1262558"/>
                      </a:cubicBezTo>
                      <a:cubicBezTo>
                        <a:pt x="3713607" y="1401089"/>
                        <a:pt x="3671773" y="1534820"/>
                        <a:pt x="3613480" y="1659636"/>
                      </a:cubicBezTo>
                      <a:cubicBezTo>
                        <a:pt x="3454375" y="2003908"/>
                        <a:pt x="3132049" y="2217191"/>
                        <a:pt x="2770632" y="2217191"/>
                      </a:cubicBezTo>
                      <a:cubicBezTo>
                        <a:pt x="2767429" y="2217191"/>
                        <a:pt x="2764234" y="2217191"/>
                        <a:pt x="2761031" y="2217191"/>
                      </a:cubicBezTo>
                      <a:cubicBezTo>
                        <a:pt x="2395500" y="2213077"/>
                        <a:pt x="2072488" y="1992249"/>
                        <a:pt x="1918183" y="1641119"/>
                      </a:cubicBezTo>
                      <a:cubicBezTo>
                        <a:pt x="1855775" y="1499159"/>
                        <a:pt x="1811198" y="1344168"/>
                        <a:pt x="1784452" y="1180262"/>
                      </a:cubicBezTo>
                      <a:cubicBezTo>
                        <a:pt x="1733703" y="868909"/>
                        <a:pt x="1619860" y="711175"/>
                        <a:pt x="1446352" y="711175"/>
                      </a:cubicBezTo>
                      <a:cubicBezTo>
                        <a:pt x="1360627" y="711175"/>
                        <a:pt x="1201522" y="711175"/>
                        <a:pt x="1101395" y="1262558"/>
                      </a:cubicBezTo>
                      <a:cubicBezTo>
                        <a:pt x="1057504" y="1503959"/>
                        <a:pt x="962177" y="1730273"/>
                        <a:pt x="825017" y="1918183"/>
                      </a:cubicBezTo>
                      <a:cubicBezTo>
                        <a:pt x="674141" y="2123237"/>
                        <a:pt x="477317" y="2276856"/>
                        <a:pt x="255118" y="2361895"/>
                      </a:cubicBezTo>
                      <a:lnTo>
                        <a:pt x="0" y="1698041"/>
                      </a:lnTo>
                      <a:cubicBezTo>
                        <a:pt x="198196" y="1621917"/>
                        <a:pt x="352501" y="1405890"/>
                        <a:pt x="401193" y="1134999"/>
                      </a:cubicBezTo>
                      <a:cubicBezTo>
                        <a:pt x="458114" y="822960"/>
                        <a:pt x="540410" y="595275"/>
                        <a:pt x="661111" y="416967"/>
                      </a:cubicBezTo>
                      <a:cubicBezTo>
                        <a:pt x="845591" y="144018"/>
                        <a:pt x="1117168" y="0"/>
                        <a:pt x="1446352" y="0"/>
                      </a:cubicBezTo>
                      <a:cubicBezTo>
                        <a:pt x="1446352" y="0"/>
                        <a:pt x="1446352" y="0"/>
                        <a:pt x="1446352" y="0"/>
                      </a:cubicBezTo>
                      <a:cubicBezTo>
                        <a:pt x="1988820" y="0"/>
                        <a:pt x="2377669" y="398450"/>
                        <a:pt x="2486711" y="1065733"/>
                      </a:cubicBezTo>
                      <a:cubicBezTo>
                        <a:pt x="2503856" y="1171346"/>
                        <a:pt x="2531974" y="1268044"/>
                        <a:pt x="2569693" y="1355141"/>
                      </a:cubicBezTo>
                      <a:cubicBezTo>
                        <a:pt x="2611527" y="1449781"/>
                        <a:pt x="2683536" y="1504645"/>
                        <a:pt x="2768575" y="1505331"/>
                      </a:cubicBezTo>
                      <a:cubicBezTo>
                        <a:pt x="2852242" y="1506017"/>
                        <a:pt x="2924937" y="1453210"/>
                        <a:pt x="2968143" y="1360627"/>
                      </a:cubicBezTo>
                      <a:cubicBezTo>
                        <a:pt x="3000375" y="1290676"/>
                        <a:pt x="3024378" y="1214552"/>
                        <a:pt x="3038780" y="1134999"/>
                      </a:cubicBezTo>
                      <a:cubicBezTo>
                        <a:pt x="3095016" y="822960"/>
                        <a:pt x="3177997" y="595275"/>
                        <a:pt x="3298012" y="416967"/>
                      </a:cubicBezTo>
                      <a:cubicBezTo>
                        <a:pt x="3483178" y="144018"/>
                        <a:pt x="3754755" y="0"/>
                        <a:pt x="4083253" y="0"/>
                      </a:cubicBezTo>
                      <a:cubicBezTo>
                        <a:pt x="4083253" y="0"/>
                        <a:pt x="4083253" y="0"/>
                        <a:pt x="4083253" y="0"/>
                      </a:cubicBezTo>
                      <a:cubicBezTo>
                        <a:pt x="4626407" y="0"/>
                        <a:pt x="5015255" y="398450"/>
                        <a:pt x="5123612" y="1065733"/>
                      </a:cubicBezTo>
                      <a:cubicBezTo>
                        <a:pt x="5140757" y="1171346"/>
                        <a:pt x="5168875" y="1268044"/>
                        <a:pt x="5207279" y="1355141"/>
                      </a:cubicBezTo>
                      <a:cubicBezTo>
                        <a:pt x="5248427" y="1449781"/>
                        <a:pt x="5321123" y="1504645"/>
                        <a:pt x="5405476" y="1505331"/>
                      </a:cubicBezTo>
                      <a:cubicBezTo>
                        <a:pt x="5406388" y="1505331"/>
                        <a:pt x="5407074" y="1505331"/>
                        <a:pt x="5407533" y="1505331"/>
                      </a:cubicBezTo>
                      <a:cubicBezTo>
                        <a:pt x="5490515" y="1505331"/>
                        <a:pt x="5562524" y="1452524"/>
                        <a:pt x="5605043" y="1360627"/>
                      </a:cubicBezTo>
                      <a:cubicBezTo>
                        <a:pt x="5637962" y="1290676"/>
                        <a:pt x="5661279" y="1214552"/>
                        <a:pt x="5675681" y="1134999"/>
                      </a:cubicBezTo>
                      <a:cubicBezTo>
                        <a:pt x="5732603" y="822960"/>
                        <a:pt x="5814899" y="595275"/>
                        <a:pt x="5935599" y="416967"/>
                      </a:cubicBezTo>
                      <a:cubicBezTo>
                        <a:pt x="6120080" y="144018"/>
                        <a:pt x="6391656" y="0"/>
                        <a:pt x="6720840" y="0"/>
                      </a:cubicBezTo>
                      <a:cubicBezTo>
                        <a:pt x="6720840" y="0"/>
                        <a:pt x="6720840" y="0"/>
                        <a:pt x="6720840" y="0"/>
                      </a:cubicBezTo>
                      <a:cubicBezTo>
                        <a:pt x="7263308" y="0"/>
                        <a:pt x="7652156" y="398450"/>
                        <a:pt x="7761199" y="1065733"/>
                      </a:cubicBezTo>
                      <a:cubicBezTo>
                        <a:pt x="7776973" y="1165174"/>
                        <a:pt x="7803032" y="1257071"/>
                        <a:pt x="7838008" y="1340053"/>
                      </a:cubicBezTo>
                      <a:cubicBezTo>
                        <a:pt x="7880528" y="1442237"/>
                        <a:pt x="7955281" y="1501216"/>
                        <a:pt x="8043062" y="1501902"/>
                      </a:cubicBezTo>
                      <a:cubicBezTo>
                        <a:pt x="8043954" y="1501902"/>
                        <a:pt x="8044640" y="1501902"/>
                        <a:pt x="8045120" y="1501902"/>
                      </a:cubicBezTo>
                      <a:cubicBezTo>
                        <a:pt x="8130845" y="1501902"/>
                        <a:pt x="8205598" y="1445666"/>
                        <a:pt x="8248802" y="1346225"/>
                      </a:cubicBezTo>
                      <a:cubicBezTo>
                        <a:pt x="8278292" y="1279703"/>
                        <a:pt x="8299552" y="1209065"/>
                        <a:pt x="8313268" y="1134999"/>
                      </a:cubicBezTo>
                      <a:cubicBezTo>
                        <a:pt x="8369503" y="822960"/>
                        <a:pt x="8452485" y="595275"/>
                        <a:pt x="8572500" y="416967"/>
                      </a:cubicBezTo>
                      <a:cubicBezTo>
                        <a:pt x="8757666" y="144018"/>
                        <a:pt x="9029243" y="0"/>
                        <a:pt x="9357741" y="0"/>
                      </a:cubicBezTo>
                      <a:cubicBezTo>
                        <a:pt x="9357741" y="0"/>
                        <a:pt x="9357741" y="0"/>
                        <a:pt x="9357741" y="0"/>
                      </a:cubicBezTo>
                      <a:cubicBezTo>
                        <a:pt x="9900895" y="0"/>
                        <a:pt x="10289743" y="398450"/>
                        <a:pt x="10398100" y="1065733"/>
                      </a:cubicBezTo>
                      <a:cubicBezTo>
                        <a:pt x="10423474" y="1218667"/>
                        <a:pt x="10512628" y="1585570"/>
                        <a:pt x="10804093" y="1698041"/>
                      </a:cubicBezTo>
                      <a:close/>
                    </a:path>
                  </a:pathLst>
                </a:custGeom>
                <a:noFill/>
                <a:ln w="13030" cap="rnd">
                  <a:solidFill>
                    <a:schemeClr val="bg1"/>
                  </a:solidFill>
                  <a:custDash>
                    <a:ds d="339376" sp="339376"/>
                  </a:custDash>
                  <a:round/>
                </a:ln>
              </p:spPr>
              <p:txBody>
                <a:bodyPr rtlCol="0" anchor="ctr"/>
                <a:lstStyle/>
                <a:p>
                  <a:endParaRPr lang="en-US"/>
                </a:p>
              </p:txBody>
            </p:sp>
            <p:grpSp>
              <p:nvGrpSpPr>
                <p:cNvPr id="45" name="Graphic 4">
                  <a:extLst>
                    <a:ext uri="{FF2B5EF4-FFF2-40B4-BE49-F238E27FC236}">
                      <a16:creationId xmlns:a16="http://schemas.microsoft.com/office/drawing/2014/main" id="{CE2304C7-28E5-08E9-66E5-27110AC2AF8F}"/>
                    </a:ext>
                  </a:extLst>
                </p:cNvPr>
                <p:cNvGrpSpPr/>
                <p:nvPr/>
              </p:nvGrpSpPr>
              <p:grpSpPr>
                <a:xfrm>
                  <a:off x="843459" y="3138920"/>
                  <a:ext cx="10548975" cy="1674039"/>
                  <a:chOff x="821512" y="3132047"/>
                  <a:chExt cx="10548975" cy="1674039"/>
                </a:xfrm>
                <a:noFill/>
              </p:grpSpPr>
              <p:sp>
                <p:nvSpPr>
                  <p:cNvPr id="46" name="Freeform: Shape 45">
                    <a:extLst>
                      <a:ext uri="{FF2B5EF4-FFF2-40B4-BE49-F238E27FC236}">
                        <a16:creationId xmlns:a16="http://schemas.microsoft.com/office/drawing/2014/main" id="{17089B16-3434-0300-40F7-EDEAA65C0C2E}"/>
                      </a:ext>
                    </a:extLst>
                  </p:cNvPr>
                  <p:cNvSpPr/>
                  <p:nvPr/>
                </p:nvSpPr>
                <p:spPr>
                  <a:xfrm>
                    <a:off x="11282019" y="4766310"/>
                    <a:ext cx="88468" cy="39776"/>
                  </a:xfrm>
                  <a:custGeom>
                    <a:avLst/>
                    <a:gdLst>
                      <a:gd name="connsiteX0" fmla="*/ 88468 w 88468"/>
                      <a:gd name="connsiteY0" fmla="*/ 39776 h 39776"/>
                      <a:gd name="connsiteX1" fmla="*/ 0 w 88468"/>
                      <a:gd name="connsiteY1" fmla="*/ 0 h 39776"/>
                    </a:gdLst>
                    <a:ahLst/>
                    <a:cxnLst>
                      <a:cxn ang="0">
                        <a:pos x="connsiteX0" y="connsiteY0"/>
                      </a:cxn>
                      <a:cxn ang="0">
                        <a:pos x="connsiteX1" y="connsiteY1"/>
                      </a:cxn>
                    </a:cxnLst>
                    <a:rect l="l" t="t" r="r" b="b"/>
                    <a:pathLst>
                      <a:path w="88468" h="39776">
                        <a:moveTo>
                          <a:pt x="88468" y="39776"/>
                        </a:moveTo>
                        <a:cubicBezTo>
                          <a:pt x="57813" y="27892"/>
                          <a:pt x="28324" y="14628"/>
                          <a:pt x="0" y="0"/>
                        </a:cubicBezTo>
                      </a:path>
                    </a:pathLst>
                  </a:custGeom>
                  <a:noFill/>
                  <a:ln w="26060" cap="rnd">
                    <a:solidFill>
                      <a:srgbClr val="FFFFFF"/>
                    </a:solidFill>
                    <a:prstDash val="solid"/>
                    <a:round/>
                  </a:ln>
                </p:spPr>
                <p:txBody>
                  <a:bodyPr rtlCol="0" anchor="ctr"/>
                  <a:lstStyle/>
                  <a:p>
                    <a:endParaRPr lang="en-US"/>
                  </a:p>
                </p:txBody>
              </p:sp>
              <p:sp>
                <p:nvSpPr>
                  <p:cNvPr id="47" name="Freeform: Shape 46">
                    <a:extLst>
                      <a:ext uri="{FF2B5EF4-FFF2-40B4-BE49-F238E27FC236}">
                        <a16:creationId xmlns:a16="http://schemas.microsoft.com/office/drawing/2014/main" id="{7F9C5661-4467-56D0-83F3-35BFA72C86E5}"/>
                      </a:ext>
                    </a:extLst>
                  </p:cNvPr>
                  <p:cNvSpPr/>
                  <p:nvPr/>
                </p:nvSpPr>
                <p:spPr>
                  <a:xfrm>
                    <a:off x="992962" y="3132047"/>
                    <a:ext cx="10129957" cy="1584880"/>
                  </a:xfrm>
                  <a:custGeom>
                    <a:avLst/>
                    <a:gdLst>
                      <a:gd name="connsiteX0" fmla="*/ 10129952 w 10129951"/>
                      <a:gd name="connsiteY0" fmla="*/ 1525219 h 1584883"/>
                      <a:gd name="connsiteX1" fmla="*/ 9747962 w 10129951"/>
                      <a:gd name="connsiteY1" fmla="*/ 767410 h 1584883"/>
                      <a:gd name="connsiteX2" fmla="*/ 9058733 w 10129951"/>
                      <a:gd name="connsiteY2" fmla="*/ 0 h 1584883"/>
                      <a:gd name="connsiteX3" fmla="*/ 8364017 w 10129951"/>
                      <a:gd name="connsiteY3" fmla="*/ 842848 h 1584883"/>
                      <a:gd name="connsiteX4" fmla="*/ 8275549 w 10129951"/>
                      <a:gd name="connsiteY4" fmla="*/ 1133627 h 1584883"/>
                      <a:gd name="connsiteX5" fmla="*/ 7210502 w 10129951"/>
                      <a:gd name="connsiteY5" fmla="*/ 1121969 h 1584883"/>
                      <a:gd name="connsiteX6" fmla="*/ 7111061 w 10129951"/>
                      <a:gd name="connsiteY6" fmla="*/ 767410 h 1584883"/>
                      <a:gd name="connsiteX7" fmla="*/ 6421831 w 10129951"/>
                      <a:gd name="connsiteY7" fmla="*/ 0 h 1584883"/>
                      <a:gd name="connsiteX8" fmla="*/ 5727116 w 10129951"/>
                      <a:gd name="connsiteY8" fmla="*/ 842848 h 1584883"/>
                      <a:gd name="connsiteX9" fmla="*/ 5629047 w 10129951"/>
                      <a:gd name="connsiteY9" fmla="*/ 1154201 h 1584883"/>
                      <a:gd name="connsiteX10" fmla="*/ 4581830 w 10129951"/>
                      <a:gd name="connsiteY10" fmla="*/ 1141857 h 1584883"/>
                      <a:gd name="connsiteX11" fmla="*/ 4473474 w 10129951"/>
                      <a:gd name="connsiteY11" fmla="*/ 767410 h 1584883"/>
                      <a:gd name="connsiteX12" fmla="*/ 3784245 w 10129951"/>
                      <a:gd name="connsiteY12" fmla="*/ 0 h 1584883"/>
                      <a:gd name="connsiteX13" fmla="*/ 3089529 w 10129951"/>
                      <a:gd name="connsiteY13" fmla="*/ 842848 h 1584883"/>
                      <a:gd name="connsiteX14" fmla="*/ 2991460 w 10129951"/>
                      <a:gd name="connsiteY14" fmla="*/ 1154201 h 1584883"/>
                      <a:gd name="connsiteX15" fmla="*/ 1944929 w 10129951"/>
                      <a:gd name="connsiteY15" fmla="*/ 1141857 h 1584883"/>
                      <a:gd name="connsiteX16" fmla="*/ 1836573 w 10129951"/>
                      <a:gd name="connsiteY16" fmla="*/ 767410 h 1584883"/>
                      <a:gd name="connsiteX17" fmla="*/ 1147343 w 10129951"/>
                      <a:gd name="connsiteY17" fmla="*/ 0 h 1584883"/>
                      <a:gd name="connsiteX18" fmla="*/ 452628 w 10129951"/>
                      <a:gd name="connsiteY18" fmla="*/ 842848 h 1584883"/>
                      <a:gd name="connsiteX19" fmla="*/ 0 w 10129951"/>
                      <a:gd name="connsiteY19" fmla="*/ 1584884 h 1584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29951" h="1584883">
                        <a:moveTo>
                          <a:pt x="10129952" y="1525219"/>
                        </a:moveTo>
                        <a:cubicBezTo>
                          <a:pt x="9921468" y="1344854"/>
                          <a:pt x="9796653" y="1066419"/>
                          <a:pt x="9747962" y="767410"/>
                        </a:cubicBezTo>
                        <a:cubicBezTo>
                          <a:pt x="9681438" y="356616"/>
                          <a:pt x="9479127" y="0"/>
                          <a:pt x="9058733" y="0"/>
                        </a:cubicBezTo>
                        <a:cubicBezTo>
                          <a:pt x="8599247" y="0"/>
                          <a:pt x="8442198" y="414909"/>
                          <a:pt x="8364017" y="842848"/>
                        </a:cubicBezTo>
                        <a:cubicBezTo>
                          <a:pt x="8345501" y="944347"/>
                          <a:pt x="8316011" y="1042416"/>
                          <a:pt x="8275549" y="1133627"/>
                        </a:cubicBezTo>
                        <a:cubicBezTo>
                          <a:pt x="8056778" y="1630147"/>
                          <a:pt x="7421042" y="1623289"/>
                          <a:pt x="7210502" y="1121969"/>
                        </a:cubicBezTo>
                        <a:cubicBezTo>
                          <a:pt x="7163867" y="1010869"/>
                          <a:pt x="7130948" y="890854"/>
                          <a:pt x="7111061" y="767410"/>
                        </a:cubicBezTo>
                        <a:cubicBezTo>
                          <a:pt x="7043852" y="356616"/>
                          <a:pt x="6841541" y="0"/>
                          <a:pt x="6421831" y="0"/>
                        </a:cubicBezTo>
                        <a:cubicBezTo>
                          <a:pt x="5961660" y="0"/>
                          <a:pt x="5804611" y="414909"/>
                          <a:pt x="5727116" y="842848"/>
                        </a:cubicBezTo>
                        <a:cubicBezTo>
                          <a:pt x="5707228" y="951890"/>
                          <a:pt x="5674309" y="1056818"/>
                          <a:pt x="5629047" y="1154201"/>
                        </a:cubicBezTo>
                        <a:cubicBezTo>
                          <a:pt x="5409591" y="1628089"/>
                          <a:pt x="4792371" y="1620545"/>
                          <a:pt x="4581830" y="1141857"/>
                        </a:cubicBezTo>
                        <a:cubicBezTo>
                          <a:pt x="4531081" y="1025271"/>
                          <a:pt x="4495419" y="898398"/>
                          <a:pt x="4473474" y="767410"/>
                        </a:cubicBezTo>
                        <a:cubicBezTo>
                          <a:pt x="4406951" y="356616"/>
                          <a:pt x="4204640" y="0"/>
                          <a:pt x="3784245" y="0"/>
                        </a:cubicBezTo>
                        <a:cubicBezTo>
                          <a:pt x="3324759" y="0"/>
                          <a:pt x="3167710" y="414909"/>
                          <a:pt x="3089529" y="842848"/>
                        </a:cubicBezTo>
                        <a:cubicBezTo>
                          <a:pt x="3069641" y="951890"/>
                          <a:pt x="3036723" y="1056818"/>
                          <a:pt x="2991460" y="1154201"/>
                        </a:cubicBezTo>
                        <a:cubicBezTo>
                          <a:pt x="2772690" y="1628089"/>
                          <a:pt x="2154784" y="1620545"/>
                          <a:pt x="1944929" y="1141857"/>
                        </a:cubicBezTo>
                        <a:cubicBezTo>
                          <a:pt x="1893494" y="1025271"/>
                          <a:pt x="1857832" y="898398"/>
                          <a:pt x="1836573" y="767410"/>
                        </a:cubicBezTo>
                        <a:cubicBezTo>
                          <a:pt x="1769364" y="356616"/>
                          <a:pt x="1567053" y="0"/>
                          <a:pt x="1147343" y="0"/>
                        </a:cubicBezTo>
                        <a:cubicBezTo>
                          <a:pt x="687172" y="0"/>
                          <a:pt x="530123" y="414909"/>
                          <a:pt x="452628" y="842848"/>
                        </a:cubicBezTo>
                        <a:cubicBezTo>
                          <a:pt x="397078" y="1149401"/>
                          <a:pt x="235915" y="1424407"/>
                          <a:pt x="0" y="1584884"/>
                        </a:cubicBezTo>
                      </a:path>
                    </a:pathLst>
                  </a:custGeom>
                  <a:noFill/>
                  <a:ln w="26060" cap="rnd">
                    <a:solidFill>
                      <a:srgbClr val="FFFFFF"/>
                    </a:solidFill>
                    <a:custDash>
                      <a:ds d="2110470" sp="2110470"/>
                    </a:custDash>
                    <a:round/>
                  </a:ln>
                </p:spPr>
                <p:txBody>
                  <a:bodyPr rtlCol="0" anchor="ctr"/>
                  <a:lstStyle/>
                  <a:p>
                    <a:endParaRPr lang="en-US"/>
                  </a:p>
                </p:txBody>
              </p:sp>
              <p:sp>
                <p:nvSpPr>
                  <p:cNvPr id="48" name="Freeform: Shape 47">
                    <a:extLst>
                      <a:ext uri="{FF2B5EF4-FFF2-40B4-BE49-F238E27FC236}">
                        <a16:creationId xmlns:a16="http://schemas.microsoft.com/office/drawing/2014/main" id="{CAD54B10-36AE-85B5-01F7-13F3E5FEAE0F}"/>
                      </a:ext>
                    </a:extLst>
                  </p:cNvPr>
                  <p:cNvSpPr/>
                  <p:nvPr/>
                </p:nvSpPr>
                <p:spPr>
                  <a:xfrm>
                    <a:off x="821512" y="4766310"/>
                    <a:ext cx="88468" cy="39776"/>
                  </a:xfrm>
                  <a:custGeom>
                    <a:avLst/>
                    <a:gdLst>
                      <a:gd name="connsiteX0" fmla="*/ 88468 w 88468"/>
                      <a:gd name="connsiteY0" fmla="*/ 0 h 39776"/>
                      <a:gd name="connsiteX1" fmla="*/ 0 w 88468"/>
                      <a:gd name="connsiteY1" fmla="*/ 39776 h 39776"/>
                    </a:gdLst>
                    <a:ahLst/>
                    <a:cxnLst>
                      <a:cxn ang="0">
                        <a:pos x="connsiteX0" y="connsiteY0"/>
                      </a:cxn>
                      <a:cxn ang="0">
                        <a:pos x="connsiteX1" y="connsiteY1"/>
                      </a:cxn>
                    </a:cxnLst>
                    <a:rect l="l" t="t" r="r" b="b"/>
                    <a:pathLst>
                      <a:path w="88468" h="39776">
                        <a:moveTo>
                          <a:pt x="88468" y="0"/>
                        </a:moveTo>
                        <a:cubicBezTo>
                          <a:pt x="59665" y="15088"/>
                          <a:pt x="30175" y="28344"/>
                          <a:pt x="0" y="39776"/>
                        </a:cubicBezTo>
                      </a:path>
                    </a:pathLst>
                  </a:custGeom>
                  <a:noFill/>
                  <a:ln w="26060" cap="rnd">
                    <a:solidFill>
                      <a:srgbClr val="FFFFFF"/>
                    </a:solidFill>
                    <a:prstDash val="solid"/>
                    <a:round/>
                  </a:ln>
                </p:spPr>
                <p:txBody>
                  <a:bodyPr rtlCol="0" anchor="ctr"/>
                  <a:lstStyle/>
                  <a:p>
                    <a:endParaRPr lang="en-US"/>
                  </a:p>
                </p:txBody>
              </p:sp>
            </p:grpSp>
          </p:grpSp>
          <p:grpSp>
            <p:nvGrpSpPr>
              <p:cNvPr id="49" name="Group 48">
                <a:extLst>
                  <a:ext uri="{FF2B5EF4-FFF2-40B4-BE49-F238E27FC236}">
                    <a16:creationId xmlns:a16="http://schemas.microsoft.com/office/drawing/2014/main" id="{5ABAC9D2-F9B3-B84F-61A3-1CB5212ECDFC}"/>
                  </a:ext>
                </a:extLst>
              </p:cNvPr>
              <p:cNvGrpSpPr/>
              <p:nvPr/>
            </p:nvGrpSpPr>
            <p:grpSpPr>
              <a:xfrm>
                <a:off x="231306" y="3295893"/>
                <a:ext cx="973162" cy="2581345"/>
                <a:chOff x="929640" y="2683143"/>
                <a:chExt cx="973162" cy="2581345"/>
              </a:xfrm>
            </p:grpSpPr>
            <p:sp>
              <p:nvSpPr>
                <p:cNvPr id="50" name="Oval 49">
                  <a:extLst>
                    <a:ext uri="{FF2B5EF4-FFF2-40B4-BE49-F238E27FC236}">
                      <a16:creationId xmlns:a16="http://schemas.microsoft.com/office/drawing/2014/main" id="{FE3ED8F0-6C34-7EC6-C19A-3B9A4C6D3FF8}"/>
                    </a:ext>
                  </a:extLst>
                </p:cNvPr>
                <p:cNvSpPr/>
                <p:nvPr/>
              </p:nvSpPr>
              <p:spPr>
                <a:xfrm>
                  <a:off x="1290221" y="2683143"/>
                  <a:ext cx="252000" cy="252000"/>
                </a:xfrm>
                <a:prstGeom prst="ellipse">
                  <a:avLst/>
                </a:prstGeom>
                <a:solidFill>
                  <a:schemeClr val="tx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A17F2068-4B25-E2F5-F7A6-C2908103718F}"/>
                    </a:ext>
                  </a:extLst>
                </p:cNvPr>
                <p:cNvCxnSpPr>
                  <a:cxnSpLocks/>
                </p:cNvCxnSpPr>
                <p:nvPr/>
              </p:nvCxnSpPr>
              <p:spPr>
                <a:xfrm>
                  <a:off x="1416221" y="2935143"/>
                  <a:ext cx="1" cy="136414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3C6778A1-ED43-39EC-5F22-DB53B9024AEA}"/>
                    </a:ext>
                  </a:extLst>
                </p:cNvPr>
                <p:cNvSpPr>
                  <a:spLocks noChangeAspect="1"/>
                </p:cNvSpPr>
                <p:nvPr/>
              </p:nvSpPr>
              <p:spPr>
                <a:xfrm>
                  <a:off x="966221" y="4327907"/>
                  <a:ext cx="900000" cy="90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D8DFC960-002C-49E2-2394-62DDCF20B5D3}"/>
                    </a:ext>
                  </a:extLst>
                </p:cNvPr>
                <p:cNvSpPr/>
                <p:nvPr/>
              </p:nvSpPr>
              <p:spPr>
                <a:xfrm>
                  <a:off x="929640" y="4291326"/>
                  <a:ext cx="973162" cy="973162"/>
                </a:xfrm>
                <a:prstGeom prst="ellipse">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03CBED23-9704-41C5-B08C-817ABD6FDDF9}"/>
                  </a:ext>
                </a:extLst>
              </p:cNvPr>
              <p:cNvGrpSpPr/>
              <p:nvPr/>
            </p:nvGrpSpPr>
            <p:grpSpPr>
              <a:xfrm rot="10800000">
                <a:off x="1782517" y="2680981"/>
                <a:ext cx="973162" cy="2581345"/>
                <a:chOff x="929640" y="2683143"/>
                <a:chExt cx="973162" cy="2581345"/>
              </a:xfrm>
            </p:grpSpPr>
            <p:sp>
              <p:nvSpPr>
                <p:cNvPr id="55" name="Oval 54">
                  <a:extLst>
                    <a:ext uri="{FF2B5EF4-FFF2-40B4-BE49-F238E27FC236}">
                      <a16:creationId xmlns:a16="http://schemas.microsoft.com/office/drawing/2014/main" id="{78363DE1-3134-D943-AF2F-CB9567155476}"/>
                    </a:ext>
                  </a:extLst>
                </p:cNvPr>
                <p:cNvSpPr/>
                <p:nvPr/>
              </p:nvSpPr>
              <p:spPr>
                <a:xfrm>
                  <a:off x="1290221" y="2683143"/>
                  <a:ext cx="252000" cy="252000"/>
                </a:xfrm>
                <a:prstGeom prst="ellipse">
                  <a:avLst/>
                </a:prstGeom>
                <a:solidFill>
                  <a:schemeClr val="tx1"/>
                </a:solidFill>
                <a:ln w="1016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363E7373-9BFA-BD65-6874-9BDC29FA4DF8}"/>
                    </a:ext>
                  </a:extLst>
                </p:cNvPr>
                <p:cNvCxnSpPr>
                  <a:cxnSpLocks/>
                </p:cNvCxnSpPr>
                <p:nvPr/>
              </p:nvCxnSpPr>
              <p:spPr>
                <a:xfrm>
                  <a:off x="1416221" y="2935143"/>
                  <a:ext cx="1" cy="1364141"/>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1A1B085C-6BFC-74C3-DA06-36F83576625F}"/>
                    </a:ext>
                  </a:extLst>
                </p:cNvPr>
                <p:cNvSpPr>
                  <a:spLocks noChangeAspect="1"/>
                </p:cNvSpPr>
                <p:nvPr/>
              </p:nvSpPr>
              <p:spPr>
                <a:xfrm>
                  <a:off x="966222" y="4327908"/>
                  <a:ext cx="900000" cy="90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6B51398-7755-CD86-E5EA-7E0C959323DE}"/>
                    </a:ext>
                  </a:extLst>
                </p:cNvPr>
                <p:cNvSpPr/>
                <p:nvPr/>
              </p:nvSpPr>
              <p:spPr>
                <a:xfrm>
                  <a:off x="929640" y="4291326"/>
                  <a:ext cx="973162" cy="973162"/>
                </a:xfrm>
                <a:prstGeom prst="ellipse">
                  <a:avLst/>
                </a:prstGeom>
                <a:noFill/>
                <a:ln w="190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B846EC2E-1CA4-E2E7-DF76-F32B666B670A}"/>
                  </a:ext>
                </a:extLst>
              </p:cNvPr>
              <p:cNvGrpSpPr/>
              <p:nvPr/>
            </p:nvGrpSpPr>
            <p:grpSpPr>
              <a:xfrm>
                <a:off x="3390842" y="3295893"/>
                <a:ext cx="973162" cy="2581345"/>
                <a:chOff x="929640" y="2683143"/>
                <a:chExt cx="973162" cy="2581345"/>
              </a:xfrm>
            </p:grpSpPr>
            <p:sp>
              <p:nvSpPr>
                <p:cNvPr id="60" name="Oval 59">
                  <a:extLst>
                    <a:ext uri="{FF2B5EF4-FFF2-40B4-BE49-F238E27FC236}">
                      <a16:creationId xmlns:a16="http://schemas.microsoft.com/office/drawing/2014/main" id="{77796C1C-1139-18AE-52FF-0C5AF7FC0DD7}"/>
                    </a:ext>
                  </a:extLst>
                </p:cNvPr>
                <p:cNvSpPr/>
                <p:nvPr/>
              </p:nvSpPr>
              <p:spPr>
                <a:xfrm>
                  <a:off x="1290221" y="2683143"/>
                  <a:ext cx="252000" cy="252000"/>
                </a:xfrm>
                <a:prstGeom prst="ellipse">
                  <a:avLst/>
                </a:prstGeom>
                <a:solidFill>
                  <a:schemeClr val="tx1"/>
                </a:solidFill>
                <a:ln w="1016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44AE41AF-0CE6-40FD-9DFC-030617453C15}"/>
                    </a:ext>
                  </a:extLst>
                </p:cNvPr>
                <p:cNvCxnSpPr>
                  <a:cxnSpLocks/>
                </p:cNvCxnSpPr>
                <p:nvPr/>
              </p:nvCxnSpPr>
              <p:spPr>
                <a:xfrm>
                  <a:off x="1416221" y="2935143"/>
                  <a:ext cx="1" cy="1364141"/>
                </a:xfrm>
                <a:prstGeom prst="line">
                  <a:avLst/>
                </a:prstGeom>
                <a:ln w="19050">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A9DF27A5-EFF4-2A49-5A9E-3E3A960CB425}"/>
                    </a:ext>
                  </a:extLst>
                </p:cNvPr>
                <p:cNvSpPr>
                  <a:spLocks noChangeAspect="1"/>
                </p:cNvSpPr>
                <p:nvPr/>
              </p:nvSpPr>
              <p:spPr>
                <a:xfrm>
                  <a:off x="966221" y="4327907"/>
                  <a:ext cx="900000" cy="900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73E881F-444C-9B9A-50C0-E5531BB514C5}"/>
                    </a:ext>
                  </a:extLst>
                </p:cNvPr>
                <p:cNvSpPr/>
                <p:nvPr/>
              </p:nvSpPr>
              <p:spPr>
                <a:xfrm>
                  <a:off x="929640" y="4291326"/>
                  <a:ext cx="973162" cy="973162"/>
                </a:xfrm>
                <a:prstGeom prst="ellipse">
                  <a:avLst/>
                </a:prstGeom>
                <a:noFill/>
                <a:ln w="19050">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191">
                <a:extLst>
                  <a:ext uri="{FF2B5EF4-FFF2-40B4-BE49-F238E27FC236}">
                    <a16:creationId xmlns:a16="http://schemas.microsoft.com/office/drawing/2014/main" id="{062B6756-6AD5-370C-C8C7-7A991C3D1D89}"/>
                  </a:ext>
                </a:extLst>
              </p:cNvPr>
              <p:cNvGrpSpPr/>
              <p:nvPr/>
            </p:nvGrpSpPr>
            <p:grpSpPr>
              <a:xfrm rot="10800000">
                <a:off x="4942053" y="2680981"/>
                <a:ext cx="973162" cy="2581345"/>
                <a:chOff x="929640" y="2683143"/>
                <a:chExt cx="973162" cy="2581345"/>
              </a:xfrm>
            </p:grpSpPr>
            <p:sp>
              <p:nvSpPr>
                <p:cNvPr id="193" name="Oval 192">
                  <a:extLst>
                    <a:ext uri="{FF2B5EF4-FFF2-40B4-BE49-F238E27FC236}">
                      <a16:creationId xmlns:a16="http://schemas.microsoft.com/office/drawing/2014/main" id="{2709D154-70A8-3F55-0B3E-9BF1A49745B8}"/>
                    </a:ext>
                  </a:extLst>
                </p:cNvPr>
                <p:cNvSpPr/>
                <p:nvPr/>
              </p:nvSpPr>
              <p:spPr>
                <a:xfrm>
                  <a:off x="1290221" y="2683143"/>
                  <a:ext cx="252000" cy="252000"/>
                </a:xfrm>
                <a:prstGeom prst="ellipse">
                  <a:avLst/>
                </a:prstGeom>
                <a:solidFill>
                  <a:schemeClr val="tx1"/>
                </a:solidFill>
                <a:ln w="1016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4" name="Straight Connector 193">
                  <a:extLst>
                    <a:ext uri="{FF2B5EF4-FFF2-40B4-BE49-F238E27FC236}">
                      <a16:creationId xmlns:a16="http://schemas.microsoft.com/office/drawing/2014/main" id="{0DB9515F-9F33-3AF2-75E4-676B03E2545D}"/>
                    </a:ext>
                  </a:extLst>
                </p:cNvPr>
                <p:cNvCxnSpPr>
                  <a:cxnSpLocks/>
                </p:cNvCxnSpPr>
                <p:nvPr/>
              </p:nvCxnSpPr>
              <p:spPr>
                <a:xfrm>
                  <a:off x="1416221" y="2935143"/>
                  <a:ext cx="1" cy="1364141"/>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195" name="Oval 194">
                  <a:extLst>
                    <a:ext uri="{FF2B5EF4-FFF2-40B4-BE49-F238E27FC236}">
                      <a16:creationId xmlns:a16="http://schemas.microsoft.com/office/drawing/2014/main" id="{E3C95872-B6B8-6A1D-8A56-5A1E49E678EC}"/>
                    </a:ext>
                  </a:extLst>
                </p:cNvPr>
                <p:cNvSpPr>
                  <a:spLocks noChangeAspect="1"/>
                </p:cNvSpPr>
                <p:nvPr/>
              </p:nvSpPr>
              <p:spPr>
                <a:xfrm>
                  <a:off x="966222" y="4327907"/>
                  <a:ext cx="900000" cy="90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0711B46B-92E3-3F5B-6FD3-6D4769C6AD5A}"/>
                    </a:ext>
                  </a:extLst>
                </p:cNvPr>
                <p:cNvSpPr/>
                <p:nvPr/>
              </p:nvSpPr>
              <p:spPr>
                <a:xfrm>
                  <a:off x="929640" y="4291326"/>
                  <a:ext cx="973162" cy="973162"/>
                </a:xfrm>
                <a:prstGeom prst="ellipse">
                  <a:avLst/>
                </a:prstGeom>
                <a:noFill/>
                <a:ln w="1905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 name="Group 196">
                <a:extLst>
                  <a:ext uri="{FF2B5EF4-FFF2-40B4-BE49-F238E27FC236}">
                    <a16:creationId xmlns:a16="http://schemas.microsoft.com/office/drawing/2014/main" id="{868DBD90-A742-6F84-C465-C4AD803A4A4D}"/>
                  </a:ext>
                </a:extLst>
              </p:cNvPr>
              <p:cNvGrpSpPr/>
              <p:nvPr/>
            </p:nvGrpSpPr>
            <p:grpSpPr>
              <a:xfrm>
                <a:off x="6496710" y="3295893"/>
                <a:ext cx="973162" cy="2581345"/>
                <a:chOff x="929640" y="2683143"/>
                <a:chExt cx="973162" cy="2581345"/>
              </a:xfrm>
            </p:grpSpPr>
            <p:sp>
              <p:nvSpPr>
                <p:cNvPr id="198" name="Oval 197">
                  <a:extLst>
                    <a:ext uri="{FF2B5EF4-FFF2-40B4-BE49-F238E27FC236}">
                      <a16:creationId xmlns:a16="http://schemas.microsoft.com/office/drawing/2014/main" id="{DE39F932-453B-E65F-0A99-F7E93C34D7E7}"/>
                    </a:ext>
                  </a:extLst>
                </p:cNvPr>
                <p:cNvSpPr/>
                <p:nvPr/>
              </p:nvSpPr>
              <p:spPr>
                <a:xfrm>
                  <a:off x="1290221" y="2683143"/>
                  <a:ext cx="252000" cy="252000"/>
                </a:xfrm>
                <a:prstGeom prst="ellipse">
                  <a:avLst/>
                </a:prstGeom>
                <a:solidFill>
                  <a:schemeClr val="tx1"/>
                </a:solidFill>
                <a:ln w="1016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9" name="Straight Connector 198">
                  <a:extLst>
                    <a:ext uri="{FF2B5EF4-FFF2-40B4-BE49-F238E27FC236}">
                      <a16:creationId xmlns:a16="http://schemas.microsoft.com/office/drawing/2014/main" id="{BD74C6CE-2E26-06A4-FA6C-EE4E2AED8472}"/>
                    </a:ext>
                  </a:extLst>
                </p:cNvPr>
                <p:cNvCxnSpPr>
                  <a:cxnSpLocks/>
                </p:cNvCxnSpPr>
                <p:nvPr/>
              </p:nvCxnSpPr>
              <p:spPr>
                <a:xfrm>
                  <a:off x="1416221" y="2935143"/>
                  <a:ext cx="1" cy="1364141"/>
                </a:xfrm>
                <a:prstGeom prst="line">
                  <a:avLst/>
                </a:prstGeom>
                <a:ln w="1905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200" name="Oval 199">
                  <a:extLst>
                    <a:ext uri="{FF2B5EF4-FFF2-40B4-BE49-F238E27FC236}">
                      <a16:creationId xmlns:a16="http://schemas.microsoft.com/office/drawing/2014/main" id="{E8F3B0D5-014F-D404-B339-5B1511B13963}"/>
                    </a:ext>
                  </a:extLst>
                </p:cNvPr>
                <p:cNvSpPr>
                  <a:spLocks noChangeAspect="1"/>
                </p:cNvSpPr>
                <p:nvPr/>
              </p:nvSpPr>
              <p:spPr>
                <a:xfrm>
                  <a:off x="966221" y="4327907"/>
                  <a:ext cx="900000" cy="90000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915D3B4D-A011-7A7D-696C-47FCD5050717}"/>
                    </a:ext>
                  </a:extLst>
                </p:cNvPr>
                <p:cNvSpPr/>
                <p:nvPr/>
              </p:nvSpPr>
              <p:spPr>
                <a:xfrm>
                  <a:off x="929640" y="4291326"/>
                  <a:ext cx="973162" cy="973162"/>
                </a:xfrm>
                <a:prstGeom prst="ellipse">
                  <a:avLst/>
                </a:prstGeom>
                <a:noFill/>
                <a:ln w="19050">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 name="Group 201">
                <a:extLst>
                  <a:ext uri="{FF2B5EF4-FFF2-40B4-BE49-F238E27FC236}">
                    <a16:creationId xmlns:a16="http://schemas.microsoft.com/office/drawing/2014/main" id="{DC7476F2-B61D-D311-179A-74E03D997D0F}"/>
                  </a:ext>
                </a:extLst>
              </p:cNvPr>
              <p:cNvGrpSpPr/>
              <p:nvPr/>
            </p:nvGrpSpPr>
            <p:grpSpPr>
              <a:xfrm rot="10800000">
                <a:off x="8047921" y="2680981"/>
                <a:ext cx="973162" cy="2581345"/>
                <a:chOff x="929640" y="2683143"/>
                <a:chExt cx="973162" cy="2581345"/>
              </a:xfrm>
            </p:grpSpPr>
            <p:sp>
              <p:nvSpPr>
                <p:cNvPr id="203" name="Oval 202">
                  <a:extLst>
                    <a:ext uri="{FF2B5EF4-FFF2-40B4-BE49-F238E27FC236}">
                      <a16:creationId xmlns:a16="http://schemas.microsoft.com/office/drawing/2014/main" id="{6D10E024-9C59-A878-13DB-9A93C2ED7395}"/>
                    </a:ext>
                  </a:extLst>
                </p:cNvPr>
                <p:cNvSpPr/>
                <p:nvPr/>
              </p:nvSpPr>
              <p:spPr>
                <a:xfrm>
                  <a:off x="1290221" y="2683143"/>
                  <a:ext cx="252000" cy="252000"/>
                </a:xfrm>
                <a:prstGeom prst="ellipse">
                  <a:avLst/>
                </a:prstGeom>
                <a:solidFill>
                  <a:schemeClr val="tx1"/>
                </a:solidFill>
                <a:ln w="101600">
                  <a:solidFill>
                    <a:srgbClr val="99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4" name="Straight Connector 203">
                  <a:extLst>
                    <a:ext uri="{FF2B5EF4-FFF2-40B4-BE49-F238E27FC236}">
                      <a16:creationId xmlns:a16="http://schemas.microsoft.com/office/drawing/2014/main" id="{1B46B367-4327-385D-BF6D-E7B40D399538}"/>
                    </a:ext>
                  </a:extLst>
                </p:cNvPr>
                <p:cNvCxnSpPr>
                  <a:cxnSpLocks/>
                </p:cNvCxnSpPr>
                <p:nvPr/>
              </p:nvCxnSpPr>
              <p:spPr>
                <a:xfrm>
                  <a:off x="1416221" y="2935143"/>
                  <a:ext cx="1" cy="1364141"/>
                </a:xfrm>
                <a:prstGeom prst="line">
                  <a:avLst/>
                </a:prstGeom>
                <a:ln w="19050">
                  <a:solidFill>
                    <a:srgbClr val="9966FF"/>
                  </a:solidFill>
                  <a:prstDash val="sysDash"/>
                </a:ln>
              </p:spPr>
              <p:style>
                <a:lnRef idx="1">
                  <a:schemeClr val="accent1"/>
                </a:lnRef>
                <a:fillRef idx="0">
                  <a:schemeClr val="accent1"/>
                </a:fillRef>
                <a:effectRef idx="0">
                  <a:schemeClr val="accent1"/>
                </a:effectRef>
                <a:fontRef idx="minor">
                  <a:schemeClr val="tx1"/>
                </a:fontRef>
              </p:style>
            </p:cxnSp>
            <p:sp>
              <p:nvSpPr>
                <p:cNvPr id="205" name="Oval 204">
                  <a:extLst>
                    <a:ext uri="{FF2B5EF4-FFF2-40B4-BE49-F238E27FC236}">
                      <a16:creationId xmlns:a16="http://schemas.microsoft.com/office/drawing/2014/main" id="{71779DA4-0A36-3B38-3E73-5894871CC5AE}"/>
                    </a:ext>
                  </a:extLst>
                </p:cNvPr>
                <p:cNvSpPr>
                  <a:spLocks noChangeAspect="1"/>
                </p:cNvSpPr>
                <p:nvPr/>
              </p:nvSpPr>
              <p:spPr>
                <a:xfrm>
                  <a:off x="966221" y="4327907"/>
                  <a:ext cx="900000" cy="900000"/>
                </a:xfrm>
                <a:prstGeom prst="ellipse">
                  <a:avLst/>
                </a:prstGeom>
                <a:solidFill>
                  <a:srgbClr val="99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A48CB839-2FB3-372F-9655-6306325513FD}"/>
                    </a:ext>
                  </a:extLst>
                </p:cNvPr>
                <p:cNvSpPr/>
                <p:nvPr/>
              </p:nvSpPr>
              <p:spPr>
                <a:xfrm>
                  <a:off x="929640" y="4291326"/>
                  <a:ext cx="973162" cy="973162"/>
                </a:xfrm>
                <a:prstGeom prst="ellipse">
                  <a:avLst/>
                </a:prstGeom>
                <a:noFill/>
                <a:ln w="19050">
                  <a:solidFill>
                    <a:srgbClr val="9966F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7" name="Group 206">
                <a:extLst>
                  <a:ext uri="{FF2B5EF4-FFF2-40B4-BE49-F238E27FC236}">
                    <a16:creationId xmlns:a16="http://schemas.microsoft.com/office/drawing/2014/main" id="{83A13148-CABC-7ABE-A8E6-6D3ED1365FDD}"/>
                  </a:ext>
                </a:extLst>
              </p:cNvPr>
              <p:cNvGrpSpPr/>
              <p:nvPr/>
            </p:nvGrpSpPr>
            <p:grpSpPr>
              <a:xfrm>
                <a:off x="9647240" y="3295893"/>
                <a:ext cx="973162" cy="2581345"/>
                <a:chOff x="929640" y="2683143"/>
                <a:chExt cx="973162" cy="2581345"/>
              </a:xfrm>
            </p:grpSpPr>
            <p:sp>
              <p:nvSpPr>
                <p:cNvPr id="208" name="Oval 207">
                  <a:extLst>
                    <a:ext uri="{FF2B5EF4-FFF2-40B4-BE49-F238E27FC236}">
                      <a16:creationId xmlns:a16="http://schemas.microsoft.com/office/drawing/2014/main" id="{1455F487-A064-2AA4-FCC1-F1E59CB751C7}"/>
                    </a:ext>
                  </a:extLst>
                </p:cNvPr>
                <p:cNvSpPr/>
                <p:nvPr/>
              </p:nvSpPr>
              <p:spPr>
                <a:xfrm>
                  <a:off x="1290221" y="2683143"/>
                  <a:ext cx="252000" cy="252000"/>
                </a:xfrm>
                <a:prstGeom prst="ellipse">
                  <a:avLst/>
                </a:prstGeom>
                <a:solidFill>
                  <a:schemeClr val="tx1"/>
                </a:solidFill>
                <a:ln w="1016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9" name="Straight Connector 208">
                  <a:extLst>
                    <a:ext uri="{FF2B5EF4-FFF2-40B4-BE49-F238E27FC236}">
                      <a16:creationId xmlns:a16="http://schemas.microsoft.com/office/drawing/2014/main" id="{9EAB8B66-4D24-5B16-D3A8-648254E2A16A}"/>
                    </a:ext>
                  </a:extLst>
                </p:cNvPr>
                <p:cNvCxnSpPr>
                  <a:cxnSpLocks/>
                </p:cNvCxnSpPr>
                <p:nvPr/>
              </p:nvCxnSpPr>
              <p:spPr>
                <a:xfrm>
                  <a:off x="1416221" y="2935143"/>
                  <a:ext cx="1" cy="1364141"/>
                </a:xfrm>
                <a:prstGeom prst="line">
                  <a:avLst/>
                </a:prstGeom>
                <a:ln w="19050">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210" name="Oval 209">
                  <a:extLst>
                    <a:ext uri="{FF2B5EF4-FFF2-40B4-BE49-F238E27FC236}">
                      <a16:creationId xmlns:a16="http://schemas.microsoft.com/office/drawing/2014/main" id="{8FE5E185-2C82-3CEE-BE37-441900ADC683}"/>
                    </a:ext>
                  </a:extLst>
                </p:cNvPr>
                <p:cNvSpPr>
                  <a:spLocks noChangeAspect="1"/>
                </p:cNvSpPr>
                <p:nvPr/>
              </p:nvSpPr>
              <p:spPr>
                <a:xfrm>
                  <a:off x="966221" y="4327907"/>
                  <a:ext cx="900000" cy="900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E022BC52-DC61-7BC9-E33E-AB5DB506AF3C}"/>
                    </a:ext>
                  </a:extLst>
                </p:cNvPr>
                <p:cNvSpPr/>
                <p:nvPr/>
              </p:nvSpPr>
              <p:spPr>
                <a:xfrm>
                  <a:off x="929640" y="4291326"/>
                  <a:ext cx="973162" cy="973162"/>
                </a:xfrm>
                <a:prstGeom prst="ellipse">
                  <a:avLst/>
                </a:prstGeom>
                <a:noFill/>
                <a:ln w="1905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2" name="Group 211">
                <a:extLst>
                  <a:ext uri="{FF2B5EF4-FFF2-40B4-BE49-F238E27FC236}">
                    <a16:creationId xmlns:a16="http://schemas.microsoft.com/office/drawing/2014/main" id="{715404D8-E766-4B96-3752-03F35B7A2303}"/>
                  </a:ext>
                </a:extLst>
              </p:cNvPr>
              <p:cNvGrpSpPr/>
              <p:nvPr/>
            </p:nvGrpSpPr>
            <p:grpSpPr>
              <a:xfrm>
                <a:off x="-390620" y="2412030"/>
                <a:ext cx="2169836" cy="518963"/>
                <a:chOff x="307714" y="1661778"/>
                <a:chExt cx="2169836" cy="518963"/>
              </a:xfrm>
            </p:grpSpPr>
            <p:sp>
              <p:nvSpPr>
                <p:cNvPr id="213" name="TextBox 212">
                  <a:extLst>
                    <a:ext uri="{FF2B5EF4-FFF2-40B4-BE49-F238E27FC236}">
                      <a16:creationId xmlns:a16="http://schemas.microsoft.com/office/drawing/2014/main" id="{49CB1AAF-B0B9-377A-A970-1220AE0F00AF}"/>
                    </a:ext>
                  </a:extLst>
                </p:cNvPr>
                <p:cNvSpPr txBox="1"/>
                <p:nvPr/>
              </p:nvSpPr>
              <p:spPr>
                <a:xfrm>
                  <a:off x="437592" y="1661778"/>
                  <a:ext cx="1936643" cy="247951"/>
                </a:xfrm>
                <a:prstGeom prst="rect">
                  <a:avLst/>
                </a:prstGeom>
                <a:noFill/>
              </p:spPr>
              <p:txBody>
                <a:bodyPr wrap="square">
                  <a:spAutoFit/>
                </a:bodyPr>
                <a:lstStyle/>
                <a:p>
                  <a:pPr algn="ctr"/>
                  <a:r>
                    <a:rPr lang="en-US" sz="1200" b="1">
                      <a:solidFill>
                        <a:schemeClr val="accent1"/>
                      </a:solidFill>
                    </a:rPr>
                    <a:t>MODEL CHOICE</a:t>
                  </a:r>
                </a:p>
              </p:txBody>
            </p:sp>
            <p:sp>
              <p:nvSpPr>
                <p:cNvPr id="214" name="TextBox 213">
                  <a:extLst>
                    <a:ext uri="{FF2B5EF4-FFF2-40B4-BE49-F238E27FC236}">
                      <a16:creationId xmlns:a16="http://schemas.microsoft.com/office/drawing/2014/main" id="{E9D4604F-0E76-7710-7AB7-D355A70F753F}"/>
                    </a:ext>
                  </a:extLst>
                </p:cNvPr>
                <p:cNvSpPr txBox="1"/>
                <p:nvPr/>
              </p:nvSpPr>
              <p:spPr>
                <a:xfrm>
                  <a:off x="307714" y="1842786"/>
                  <a:ext cx="2169836" cy="337955"/>
                </a:xfrm>
                <a:prstGeom prst="rect">
                  <a:avLst/>
                </a:prstGeom>
                <a:noFill/>
              </p:spPr>
              <p:txBody>
                <a:bodyPr wrap="square">
                  <a:spAutoFit/>
                </a:bodyPr>
                <a:lstStyle/>
                <a:p>
                  <a:pPr algn="ctr" eaLnBrk="1" fontAlgn="auto" hangingPunct="1">
                    <a:spcBef>
                      <a:spcPts val="0"/>
                    </a:spcBef>
                    <a:spcAft>
                      <a:spcPts val="0"/>
                    </a:spcAft>
                    <a:defRPr/>
                  </a:pPr>
                  <a:r>
                    <a:rPr lang="en-US" sz="900" b="1">
                      <a:solidFill>
                        <a:schemeClr val="bg1"/>
                      </a:solidFill>
                      <a:latin typeface="+mn-lt"/>
                      <a:ea typeface="+mn-ea"/>
                      <a:cs typeface="+mn-cs"/>
                    </a:rPr>
                    <a:t>Qwen2.5-1.5B-Instruct</a:t>
                  </a:r>
                </a:p>
                <a:p>
                  <a:pPr algn="ctr">
                    <a:defRPr/>
                  </a:pPr>
                  <a:r>
                    <a:rPr lang="en-US" sz="900" b="1">
                      <a:solidFill>
                        <a:schemeClr val="bg1"/>
                      </a:solidFill>
                    </a:rPr>
                    <a:t>Llama-3.2-1B-Instruct</a:t>
                  </a:r>
                </a:p>
              </p:txBody>
            </p:sp>
          </p:grpSp>
          <p:grpSp>
            <p:nvGrpSpPr>
              <p:cNvPr id="215" name="Group 214">
                <a:extLst>
                  <a:ext uri="{FF2B5EF4-FFF2-40B4-BE49-F238E27FC236}">
                    <a16:creationId xmlns:a16="http://schemas.microsoft.com/office/drawing/2014/main" id="{1A7BDD33-E459-8B6D-D56E-0F51463DBA8B}"/>
                  </a:ext>
                </a:extLst>
              </p:cNvPr>
              <p:cNvGrpSpPr/>
              <p:nvPr/>
            </p:nvGrpSpPr>
            <p:grpSpPr>
              <a:xfrm>
                <a:off x="1174090" y="5601626"/>
                <a:ext cx="2169836" cy="916540"/>
                <a:chOff x="264345" y="1317759"/>
                <a:chExt cx="2169836" cy="916540"/>
              </a:xfrm>
            </p:grpSpPr>
            <p:sp>
              <p:nvSpPr>
                <p:cNvPr id="216" name="TextBox 215">
                  <a:extLst>
                    <a:ext uri="{FF2B5EF4-FFF2-40B4-BE49-F238E27FC236}">
                      <a16:creationId xmlns:a16="http://schemas.microsoft.com/office/drawing/2014/main" id="{DACF5AA2-9F77-3A36-0067-93942369C515}"/>
                    </a:ext>
                  </a:extLst>
                </p:cNvPr>
                <p:cNvSpPr txBox="1"/>
                <p:nvPr/>
              </p:nvSpPr>
              <p:spPr>
                <a:xfrm>
                  <a:off x="303729" y="1317759"/>
                  <a:ext cx="2126945" cy="422444"/>
                </a:xfrm>
                <a:prstGeom prst="rect">
                  <a:avLst/>
                </a:prstGeom>
                <a:noFill/>
              </p:spPr>
              <p:txBody>
                <a:bodyPr wrap="square">
                  <a:spAutoFit/>
                </a:bodyPr>
                <a:lstStyle/>
                <a:p>
                  <a:pPr algn="ctr"/>
                  <a:r>
                    <a:rPr lang="en-US" sz="1200" b="1">
                      <a:solidFill>
                        <a:schemeClr val="accent2"/>
                      </a:solidFill>
                    </a:rPr>
                    <a:t>RESOURCE MANAGEMENT</a:t>
                  </a:r>
                </a:p>
              </p:txBody>
            </p:sp>
            <p:sp>
              <p:nvSpPr>
                <p:cNvPr id="217" name="TextBox 216">
                  <a:extLst>
                    <a:ext uri="{FF2B5EF4-FFF2-40B4-BE49-F238E27FC236}">
                      <a16:creationId xmlns:a16="http://schemas.microsoft.com/office/drawing/2014/main" id="{582F0578-275B-89D6-BCEC-BD8AE66102FF}"/>
                    </a:ext>
                  </a:extLst>
                </p:cNvPr>
                <p:cNvSpPr txBox="1"/>
                <p:nvPr/>
              </p:nvSpPr>
              <p:spPr>
                <a:xfrm>
                  <a:off x="264345" y="1655747"/>
                  <a:ext cx="2169836" cy="578552"/>
                </a:xfrm>
                <a:prstGeom prst="rect">
                  <a:avLst/>
                </a:prstGeom>
                <a:noFill/>
              </p:spPr>
              <p:txBody>
                <a:bodyPr wrap="square" lIns="91440" tIns="45720" rIns="91440" bIns="45720" anchor="t">
                  <a:spAutoFit/>
                </a:bodyPr>
                <a:lstStyle/>
                <a:p>
                  <a:pPr algn="ctr">
                    <a:defRPr/>
                  </a:pPr>
                  <a:r>
                    <a:rPr lang="en-US" sz="900" b="1">
                      <a:solidFill>
                        <a:schemeClr val="bg1"/>
                      </a:solidFill>
                    </a:rPr>
                    <a:t>LoRa</a:t>
                  </a:r>
                </a:p>
                <a:p>
                  <a:pPr algn="ctr">
                    <a:defRPr/>
                  </a:pPr>
                  <a:r>
                    <a:rPr lang="en-US" sz="900" b="1">
                      <a:solidFill>
                        <a:schemeClr val="bg1"/>
                      </a:solidFill>
                    </a:rPr>
                    <a:t>Quantization</a:t>
                  </a:r>
                </a:p>
                <a:p>
                  <a:pPr algn="ctr">
                    <a:defRPr/>
                  </a:pPr>
                  <a:r>
                    <a:rPr lang="en-US" sz="900" b="1">
                      <a:solidFill>
                        <a:schemeClr val="bg1"/>
                      </a:solidFill>
                    </a:rPr>
                    <a:t>GRPO</a:t>
                  </a:r>
                </a:p>
                <a:p>
                  <a:pPr algn="ctr">
                    <a:defRPr/>
                  </a:pPr>
                  <a:r>
                    <a:rPr lang="en-US" sz="900" b="1">
                      <a:solidFill>
                        <a:schemeClr val="bg1"/>
                      </a:solidFill>
                    </a:rPr>
                    <a:t>Kaggle + </a:t>
                  </a:r>
                  <a:r>
                    <a:rPr lang="en-US" sz="900" b="1" err="1">
                      <a:solidFill>
                        <a:schemeClr val="bg1"/>
                      </a:solidFill>
                    </a:rPr>
                    <a:t>LightningAI</a:t>
                  </a:r>
                  <a:endParaRPr lang="en-US" sz="900" b="1">
                    <a:solidFill>
                      <a:schemeClr val="bg1"/>
                    </a:solidFill>
                  </a:endParaRPr>
                </a:p>
              </p:txBody>
            </p:sp>
          </p:grpSp>
          <p:grpSp>
            <p:nvGrpSpPr>
              <p:cNvPr id="218" name="Group 217">
                <a:extLst>
                  <a:ext uri="{FF2B5EF4-FFF2-40B4-BE49-F238E27FC236}">
                    <a16:creationId xmlns:a16="http://schemas.microsoft.com/office/drawing/2014/main" id="{4E2F030A-2DC9-29EA-F31D-755A32C6A413}"/>
                  </a:ext>
                </a:extLst>
              </p:cNvPr>
              <p:cNvGrpSpPr/>
              <p:nvPr/>
            </p:nvGrpSpPr>
            <p:grpSpPr>
              <a:xfrm>
                <a:off x="4340752" y="5701691"/>
                <a:ext cx="2169836" cy="570488"/>
                <a:chOff x="298135" y="1417824"/>
                <a:chExt cx="2169836" cy="570488"/>
              </a:xfrm>
            </p:grpSpPr>
            <p:sp>
              <p:nvSpPr>
                <p:cNvPr id="219" name="TextBox 218">
                  <a:extLst>
                    <a:ext uri="{FF2B5EF4-FFF2-40B4-BE49-F238E27FC236}">
                      <a16:creationId xmlns:a16="http://schemas.microsoft.com/office/drawing/2014/main" id="{B9CFCD9E-2770-37BA-232B-367F08F328D3}"/>
                    </a:ext>
                  </a:extLst>
                </p:cNvPr>
                <p:cNvSpPr txBox="1"/>
                <p:nvPr/>
              </p:nvSpPr>
              <p:spPr>
                <a:xfrm>
                  <a:off x="447132" y="1417824"/>
                  <a:ext cx="1824438" cy="570488"/>
                </a:xfrm>
                <a:prstGeom prst="rect">
                  <a:avLst/>
                </a:prstGeom>
                <a:noFill/>
              </p:spPr>
              <p:txBody>
                <a:bodyPr wrap="square">
                  <a:spAutoFit/>
                </a:bodyPr>
                <a:lstStyle/>
                <a:p>
                  <a:pPr algn="ctr"/>
                  <a:r>
                    <a:rPr lang="en-US" sz="1200" b="1">
                      <a:solidFill>
                        <a:schemeClr val="accent4"/>
                      </a:solidFill>
                    </a:rPr>
                    <a:t>EVALUATION PHASE</a:t>
                  </a:r>
                </a:p>
              </p:txBody>
            </p:sp>
            <p:sp>
              <p:nvSpPr>
                <p:cNvPr id="220" name="TextBox 219">
                  <a:extLst>
                    <a:ext uri="{FF2B5EF4-FFF2-40B4-BE49-F238E27FC236}">
                      <a16:creationId xmlns:a16="http://schemas.microsoft.com/office/drawing/2014/main" id="{22BAF45B-D9A9-673E-5224-D23FE1022C04}"/>
                    </a:ext>
                  </a:extLst>
                </p:cNvPr>
                <p:cNvSpPr txBox="1"/>
                <p:nvPr/>
              </p:nvSpPr>
              <p:spPr>
                <a:xfrm>
                  <a:off x="298135" y="1645550"/>
                  <a:ext cx="2169836" cy="337955"/>
                </a:xfrm>
                <a:prstGeom prst="rect">
                  <a:avLst/>
                </a:prstGeom>
                <a:noFill/>
              </p:spPr>
              <p:txBody>
                <a:bodyPr wrap="square">
                  <a:spAutoFit/>
                </a:bodyPr>
                <a:lstStyle/>
                <a:p>
                  <a:pPr algn="ctr" eaLnBrk="1" fontAlgn="auto" hangingPunct="1">
                    <a:spcBef>
                      <a:spcPts val="0"/>
                    </a:spcBef>
                    <a:spcAft>
                      <a:spcPts val="0"/>
                    </a:spcAft>
                    <a:defRPr/>
                  </a:pPr>
                  <a:r>
                    <a:rPr lang="en-US" sz="900" b="1">
                      <a:solidFill>
                        <a:schemeClr val="bg1"/>
                      </a:solidFill>
                      <a:latin typeface="+mn-lt"/>
                      <a:ea typeface="+mn-ea"/>
                      <a:cs typeface="+mn-cs"/>
                    </a:rPr>
                    <a:t>Evaluating trained models on MATH500 and AIME24 Datasets</a:t>
                  </a:r>
                </a:p>
              </p:txBody>
            </p:sp>
          </p:grpSp>
          <p:grpSp>
            <p:nvGrpSpPr>
              <p:cNvPr id="221" name="Group 220">
                <a:extLst>
                  <a:ext uri="{FF2B5EF4-FFF2-40B4-BE49-F238E27FC236}">
                    <a16:creationId xmlns:a16="http://schemas.microsoft.com/office/drawing/2014/main" id="{6FB3AA0F-3C39-BBC5-3FCA-44B3DBFA73E7}"/>
                  </a:ext>
                </a:extLst>
              </p:cNvPr>
              <p:cNvGrpSpPr/>
              <p:nvPr/>
            </p:nvGrpSpPr>
            <p:grpSpPr>
              <a:xfrm>
                <a:off x="7754826" y="5539518"/>
                <a:ext cx="1805698" cy="936142"/>
                <a:chOff x="579338" y="1255651"/>
                <a:chExt cx="1805698" cy="936142"/>
              </a:xfrm>
            </p:grpSpPr>
            <p:sp>
              <p:nvSpPr>
                <p:cNvPr id="222" name="TextBox 221">
                  <a:extLst>
                    <a:ext uri="{FF2B5EF4-FFF2-40B4-BE49-F238E27FC236}">
                      <a16:creationId xmlns:a16="http://schemas.microsoft.com/office/drawing/2014/main" id="{ADBAB734-B589-626E-BF86-E5DDDC8BE8F8}"/>
                    </a:ext>
                  </a:extLst>
                </p:cNvPr>
                <p:cNvSpPr txBox="1"/>
                <p:nvPr/>
              </p:nvSpPr>
              <p:spPr>
                <a:xfrm>
                  <a:off x="579338" y="1255651"/>
                  <a:ext cx="1805698" cy="413251"/>
                </a:xfrm>
                <a:prstGeom prst="rect">
                  <a:avLst/>
                </a:prstGeom>
                <a:noFill/>
              </p:spPr>
              <p:txBody>
                <a:bodyPr wrap="square" lIns="91440" tIns="45720" rIns="91440" bIns="45720" anchor="t">
                  <a:spAutoFit/>
                </a:bodyPr>
                <a:lstStyle/>
                <a:p>
                  <a:pPr algn="ctr"/>
                  <a:r>
                    <a:rPr lang="en-US" sz="1200" b="1">
                      <a:solidFill>
                        <a:srgbClr val="9966FF"/>
                      </a:solidFill>
                    </a:rPr>
                    <a:t> Dynamic  </a:t>
                  </a:r>
                  <a:endParaRPr lang="el-GR"/>
                </a:p>
                <a:p>
                  <a:pPr algn="ctr"/>
                  <a:r>
                    <a:rPr lang="en-US" sz="1200" b="1">
                      <a:solidFill>
                        <a:srgbClr val="9966FF"/>
                      </a:solidFill>
                    </a:rPr>
                    <a:t>hyperparameter a</a:t>
                  </a:r>
                  <a:endParaRPr lang="en-US"/>
                </a:p>
              </p:txBody>
            </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617D2D7C-744C-15F7-B598-88CCD8231BC7}"/>
                        </a:ext>
                      </a:extLst>
                    </p:cNvPr>
                    <p:cNvSpPr txBox="1"/>
                    <p:nvPr/>
                  </p:nvSpPr>
                  <p:spPr>
                    <a:xfrm>
                      <a:off x="593917" y="1609172"/>
                      <a:ext cx="1776541" cy="582621"/>
                    </a:xfrm>
                    <a:prstGeom prst="rect">
                      <a:avLst/>
                    </a:prstGeom>
                    <a:noFill/>
                  </p:spPr>
                  <p:txBody>
                    <a:bodyPr wrap="square">
                      <a:spAutoFit/>
                    </a:bodyPr>
                    <a:lstStyle/>
                    <a:p>
                      <a:pPr algn="ctr">
                        <a:defRPr/>
                      </a:pPr>
                      <a14:m>
                        <m:oMathPara xmlns:m="http://schemas.openxmlformats.org/officeDocument/2006/math">
                          <m:oMathParaPr>
                            <m:jc m:val="center"/>
                          </m:oMathParaPr>
                          <m:oMath xmlns:m="http://schemas.openxmlformats.org/officeDocument/2006/math">
                            <m:r>
                              <m:rPr>
                                <m:nor/>
                              </m:rPr>
                              <a:rPr lang="en-US" sz="900" b="1" dirty="0" smtClean="0">
                                <a:solidFill>
                                  <a:schemeClr val="bg1"/>
                                </a:solidFill>
                              </a:rPr>
                              <m:t>Linear</m:t>
                            </m:r>
                            <m:r>
                              <m:rPr>
                                <m:nor/>
                              </m:rPr>
                              <a:rPr lang="en-US" sz="900" b="1" dirty="0" smtClean="0">
                                <a:solidFill>
                                  <a:schemeClr val="bg1"/>
                                </a:solidFill>
                              </a:rPr>
                              <m:t> </m:t>
                            </m:r>
                            <m:r>
                              <m:rPr>
                                <m:nor/>
                              </m:rPr>
                              <a:rPr lang="en-US" sz="900" b="1" dirty="0" smtClean="0">
                                <a:solidFill>
                                  <a:schemeClr val="bg1"/>
                                </a:solidFill>
                              </a:rPr>
                              <m:t>increasement</m:t>
                            </m:r>
                            <m:r>
                              <m:rPr>
                                <m:nor/>
                              </m:rPr>
                              <a:rPr lang="en-US" sz="900" b="1" dirty="0" smtClean="0">
                                <a:solidFill>
                                  <a:schemeClr val="bg1"/>
                                </a:solidFill>
                              </a:rPr>
                              <m:t> </m:t>
                            </m:r>
                            <m:r>
                              <m:rPr>
                                <m:nor/>
                              </m:rPr>
                              <a:rPr lang="en-US" sz="900" b="1" dirty="0" smtClean="0">
                                <a:solidFill>
                                  <a:schemeClr val="bg1"/>
                                </a:solidFill>
                              </a:rPr>
                              <m:t>of</m:t>
                            </m:r>
                            <m:r>
                              <m:rPr>
                                <m:nor/>
                              </m:rPr>
                              <a:rPr lang="en-US" sz="900" b="1" dirty="0" smtClean="0">
                                <a:solidFill>
                                  <a:schemeClr val="bg1"/>
                                </a:solidFill>
                              </a:rPr>
                              <m:t> </m:t>
                            </m:r>
                            <m:r>
                              <m:rPr>
                                <m:nor/>
                              </m:rPr>
                              <a:rPr lang="en-US" sz="900" b="1" dirty="0" smtClean="0">
                                <a:solidFill>
                                  <a:schemeClr val="bg1"/>
                                </a:solidFill>
                              </a:rPr>
                              <m:t>the</m:t>
                            </m:r>
                            <m:r>
                              <m:rPr>
                                <m:nor/>
                              </m:rPr>
                              <a:rPr lang="en-US" sz="900" b="1" dirty="0" smtClean="0">
                                <a:solidFill>
                                  <a:schemeClr val="bg1"/>
                                </a:solidFill>
                              </a:rPr>
                              <m:t> </m:t>
                            </m:r>
                            <m:r>
                              <m:rPr>
                                <m:nor/>
                              </m:rPr>
                              <a:rPr lang="en-US" sz="900" b="1" dirty="0" smtClean="0">
                                <a:solidFill>
                                  <a:schemeClr val="bg1"/>
                                </a:solidFill>
                              </a:rPr>
                              <m:t>value</m:t>
                            </m:r>
                            <m:r>
                              <m:rPr>
                                <m:nor/>
                              </m:rPr>
                              <a:rPr lang="en-US" sz="900" b="1" dirty="0" smtClean="0">
                                <a:solidFill>
                                  <a:schemeClr val="bg1"/>
                                </a:solidFill>
                              </a:rPr>
                              <m:t> </m:t>
                            </m:r>
                            <m:r>
                              <m:rPr>
                                <m:nor/>
                              </m:rPr>
                              <a:rPr lang="en-US" sz="900" b="1" dirty="0" smtClean="0">
                                <a:solidFill>
                                  <a:schemeClr val="bg1"/>
                                </a:solidFill>
                              </a:rPr>
                              <m:t>of</m:t>
                            </m:r>
                            <m:r>
                              <m:rPr>
                                <m:nor/>
                              </m:rPr>
                              <a:rPr lang="en-US" sz="900" b="1" dirty="0" smtClean="0">
                                <a:solidFill>
                                  <a:schemeClr val="bg1"/>
                                </a:solidFill>
                              </a:rPr>
                              <m:t> </m:t>
                            </m:r>
                            <m:r>
                              <m:rPr>
                                <m:nor/>
                              </m:rPr>
                              <a:rPr lang="en-US" sz="900" b="1" dirty="0" smtClean="0">
                                <a:solidFill>
                                  <a:schemeClr val="bg1"/>
                                </a:solidFill>
                              </a:rPr>
                              <m:t>a</m:t>
                            </m:r>
                            <m:r>
                              <m:rPr>
                                <m:nor/>
                              </m:rPr>
                              <a:rPr lang="en-US" sz="900" b="1" dirty="0" smtClean="0">
                                <a:solidFill>
                                  <a:schemeClr val="bg1"/>
                                </a:solidFill>
                              </a:rPr>
                              <m:t> </m:t>
                            </m:r>
                            <m:r>
                              <m:rPr>
                                <m:nor/>
                              </m:rPr>
                              <a:rPr lang="en-US" sz="900" b="1" dirty="0" smtClean="0">
                                <a:solidFill>
                                  <a:schemeClr val="bg1"/>
                                </a:solidFill>
                              </a:rPr>
                              <m:t>over</m:t>
                            </m:r>
                            <m:r>
                              <m:rPr>
                                <m:nor/>
                              </m:rPr>
                              <a:rPr lang="en-US" sz="900" b="1" dirty="0" smtClean="0">
                                <a:solidFill>
                                  <a:schemeClr val="bg1"/>
                                </a:solidFill>
                              </a:rPr>
                              <m:t> </m:t>
                            </m:r>
                            <m:r>
                              <m:rPr>
                                <m:nor/>
                              </m:rPr>
                              <a:rPr lang="en-US" sz="900" b="1" dirty="0" smtClean="0">
                                <a:solidFill>
                                  <a:schemeClr val="bg1"/>
                                </a:solidFill>
                              </a:rPr>
                              <m:t>time</m:t>
                            </m:r>
                            <m:r>
                              <m:rPr>
                                <m:nor/>
                              </m:rPr>
                              <a:rPr lang="en-US" sz="900" b="1" dirty="0" smtClean="0">
                                <a:solidFill>
                                  <a:schemeClr val="bg1"/>
                                </a:solidFill>
                              </a:rPr>
                              <m:t> </m:t>
                            </m:r>
                            <m:r>
                              <m:rPr>
                                <m:nor/>
                              </m:rPr>
                              <a:rPr lang="en-US" sz="900" b="1" dirty="0" smtClean="0">
                                <a:solidFill>
                                  <a:schemeClr val="bg1"/>
                                </a:solidFill>
                              </a:rPr>
                              <m:t>discouraging</m:t>
                            </m:r>
                            <m:r>
                              <m:rPr>
                                <m:nor/>
                              </m:rPr>
                              <a:rPr lang="en-US" sz="900" b="1" dirty="0" smtClean="0">
                                <a:solidFill>
                                  <a:schemeClr val="bg1"/>
                                </a:solidFill>
                              </a:rPr>
                              <m:t> </m:t>
                            </m:r>
                            <m:r>
                              <m:rPr>
                                <m:nor/>
                              </m:rPr>
                              <a:rPr lang="en-US" sz="900" b="1" dirty="0" smtClean="0">
                                <a:solidFill>
                                  <a:schemeClr val="bg1"/>
                                </a:solidFill>
                              </a:rPr>
                              <m:t>exploration</m:t>
                            </m:r>
                            <m:r>
                              <m:rPr>
                                <m:nor/>
                              </m:rPr>
                              <a:rPr lang="en-US" sz="900" b="1" dirty="0" smtClean="0">
                                <a:solidFill>
                                  <a:schemeClr val="bg1"/>
                                </a:solidFill>
                              </a:rPr>
                              <m:t> </m:t>
                            </m:r>
                            <m:r>
                              <m:rPr>
                                <m:nor/>
                              </m:rPr>
                              <a:rPr lang="en-US" sz="900" b="1" dirty="0" smtClean="0">
                                <a:solidFill>
                                  <a:schemeClr val="bg1"/>
                                </a:solidFill>
                              </a:rPr>
                              <m:t>at</m:t>
                            </m:r>
                            <m:r>
                              <m:rPr>
                                <m:nor/>
                              </m:rPr>
                              <a:rPr lang="en-US" sz="900" b="1" dirty="0" smtClean="0">
                                <a:solidFill>
                                  <a:schemeClr val="bg1"/>
                                </a:solidFill>
                              </a:rPr>
                              <m:t> </m:t>
                            </m:r>
                            <m:r>
                              <m:rPr>
                                <m:nor/>
                              </m:rPr>
                              <a:rPr lang="en-US" sz="900" b="1" dirty="0" smtClean="0">
                                <a:solidFill>
                                  <a:schemeClr val="bg1"/>
                                </a:solidFill>
                              </a:rPr>
                              <m:t>later</m:t>
                            </m:r>
                            <m:r>
                              <m:rPr>
                                <m:nor/>
                              </m:rPr>
                              <a:rPr lang="en-US" sz="900" b="1" dirty="0" smtClean="0">
                                <a:solidFill>
                                  <a:schemeClr val="bg1"/>
                                </a:solidFill>
                              </a:rPr>
                              <m:t> </m:t>
                            </m:r>
                            <m:r>
                              <m:rPr>
                                <m:nor/>
                              </m:rPr>
                              <a:rPr lang="en-US" sz="900" b="1" dirty="0" smtClean="0">
                                <a:solidFill>
                                  <a:schemeClr val="bg1"/>
                                </a:solidFill>
                              </a:rPr>
                              <m:t>steps</m:t>
                            </m:r>
                          </m:oMath>
                        </m:oMathPara>
                      </a14:m>
                      <a:endParaRPr lang="en-US" sz="900" b="1">
                        <a:solidFill>
                          <a:schemeClr val="bg1"/>
                        </a:solidFill>
                      </a:endParaRPr>
                    </a:p>
                  </p:txBody>
                </p:sp>
              </mc:Choice>
              <mc:Fallback xmlns="">
                <p:sp>
                  <p:nvSpPr>
                    <p:cNvPr id="223" name="TextBox 222">
                      <a:extLst>
                        <a:ext uri="{FF2B5EF4-FFF2-40B4-BE49-F238E27FC236}">
                          <a16:creationId xmlns:a16="http://schemas.microsoft.com/office/drawing/2014/main" id="{617D2D7C-744C-15F7-B598-88CCD8231BC7}"/>
                        </a:ext>
                      </a:extLst>
                    </p:cNvPr>
                    <p:cNvSpPr txBox="1">
                      <a:spLocks noRot="1" noChangeAspect="1" noMove="1" noResize="1" noEditPoints="1" noAdjustHandles="1" noChangeArrowheads="1" noChangeShapeType="1" noTextEdit="1"/>
                    </p:cNvSpPr>
                    <p:nvPr/>
                  </p:nvSpPr>
                  <p:spPr>
                    <a:xfrm>
                      <a:off x="593917" y="1609172"/>
                      <a:ext cx="1776541" cy="582621"/>
                    </a:xfrm>
                    <a:prstGeom prst="rect">
                      <a:avLst/>
                    </a:prstGeom>
                    <a:blipFill>
                      <a:blip r:embed="rId3"/>
                      <a:stretch>
                        <a:fillRect/>
                      </a:stretch>
                    </a:blipFill>
                  </p:spPr>
                  <p:txBody>
                    <a:bodyPr/>
                    <a:lstStyle/>
                    <a:p>
                      <a:r>
                        <a:rPr lang="en-US">
                          <a:noFill/>
                        </a:rPr>
                        <a:t> </a:t>
                      </a:r>
                    </a:p>
                  </p:txBody>
                </p:sp>
              </mc:Fallback>
            </mc:AlternateContent>
          </p:grpSp>
          <p:grpSp>
            <p:nvGrpSpPr>
              <p:cNvPr id="224" name="Group 223">
                <a:extLst>
                  <a:ext uri="{FF2B5EF4-FFF2-40B4-BE49-F238E27FC236}">
                    <a16:creationId xmlns:a16="http://schemas.microsoft.com/office/drawing/2014/main" id="{B49056BE-0A37-633D-6E16-F8F155F9F128}"/>
                  </a:ext>
                </a:extLst>
              </p:cNvPr>
              <p:cNvGrpSpPr/>
              <p:nvPr/>
            </p:nvGrpSpPr>
            <p:grpSpPr>
              <a:xfrm>
                <a:off x="2857395" y="2345657"/>
                <a:ext cx="2050895" cy="554260"/>
                <a:chOff x="398127" y="1595405"/>
                <a:chExt cx="2050895" cy="554260"/>
              </a:xfrm>
            </p:grpSpPr>
            <p:sp>
              <p:nvSpPr>
                <p:cNvPr id="225" name="TextBox 224">
                  <a:extLst>
                    <a:ext uri="{FF2B5EF4-FFF2-40B4-BE49-F238E27FC236}">
                      <a16:creationId xmlns:a16="http://schemas.microsoft.com/office/drawing/2014/main" id="{BD9E0765-A75C-4329-E060-76FDCA923C2D}"/>
                    </a:ext>
                  </a:extLst>
                </p:cNvPr>
                <p:cNvSpPr txBox="1"/>
                <p:nvPr/>
              </p:nvSpPr>
              <p:spPr>
                <a:xfrm>
                  <a:off x="635080" y="1595405"/>
                  <a:ext cx="1576987" cy="253467"/>
                </a:xfrm>
                <a:prstGeom prst="rect">
                  <a:avLst/>
                </a:prstGeom>
                <a:noFill/>
              </p:spPr>
              <p:txBody>
                <a:bodyPr wrap="square">
                  <a:spAutoFit/>
                </a:bodyPr>
                <a:lstStyle/>
                <a:p>
                  <a:pPr algn="ctr"/>
                  <a:r>
                    <a:rPr lang="en-US" sz="1200" b="1">
                      <a:solidFill>
                        <a:schemeClr val="accent3"/>
                      </a:solidFill>
                    </a:rPr>
                    <a:t>TRAINING PHASE</a:t>
                  </a:r>
                </a:p>
              </p:txBody>
            </p:sp>
            <p:sp>
              <p:nvSpPr>
                <p:cNvPr id="226" name="TextBox 225">
                  <a:extLst>
                    <a:ext uri="{FF2B5EF4-FFF2-40B4-BE49-F238E27FC236}">
                      <a16:creationId xmlns:a16="http://schemas.microsoft.com/office/drawing/2014/main" id="{10A5ACAE-C7F3-C8D7-A3F3-6F8C09D6A704}"/>
                    </a:ext>
                  </a:extLst>
                </p:cNvPr>
                <p:cNvSpPr txBox="1"/>
                <p:nvPr/>
              </p:nvSpPr>
              <p:spPr>
                <a:xfrm>
                  <a:off x="398127" y="1811710"/>
                  <a:ext cx="2050895" cy="337955"/>
                </a:xfrm>
                <a:prstGeom prst="rect">
                  <a:avLst/>
                </a:prstGeom>
                <a:noFill/>
              </p:spPr>
              <p:txBody>
                <a:bodyPr wrap="square">
                  <a:spAutoFit/>
                </a:bodyPr>
                <a:lstStyle/>
                <a:p>
                  <a:pPr algn="ctr">
                    <a:defRPr/>
                  </a:pPr>
                  <a:r>
                    <a:rPr lang="en-US" sz="900" b="1">
                      <a:solidFill>
                        <a:schemeClr val="bg1"/>
                      </a:solidFill>
                    </a:rPr>
                    <a:t>Training our models on MATH and AIME dataset</a:t>
                  </a:r>
                </a:p>
              </p:txBody>
            </p:sp>
          </p:grpSp>
          <p:grpSp>
            <p:nvGrpSpPr>
              <p:cNvPr id="227" name="Group 226">
                <a:extLst>
                  <a:ext uri="{FF2B5EF4-FFF2-40B4-BE49-F238E27FC236}">
                    <a16:creationId xmlns:a16="http://schemas.microsoft.com/office/drawing/2014/main" id="{6DC9FD29-F5A7-AAC5-7BB8-5CE68D451844}"/>
                  </a:ext>
                </a:extLst>
              </p:cNvPr>
              <p:cNvGrpSpPr/>
              <p:nvPr/>
            </p:nvGrpSpPr>
            <p:grpSpPr>
              <a:xfrm>
                <a:off x="5858969" y="2214981"/>
                <a:ext cx="2177286" cy="785773"/>
                <a:chOff x="242099" y="1464729"/>
                <a:chExt cx="2177286" cy="785773"/>
              </a:xfrm>
            </p:grpSpPr>
            <p:sp>
              <p:nvSpPr>
                <p:cNvPr id="228" name="TextBox 227">
                  <a:extLst>
                    <a:ext uri="{FF2B5EF4-FFF2-40B4-BE49-F238E27FC236}">
                      <a16:creationId xmlns:a16="http://schemas.microsoft.com/office/drawing/2014/main" id="{5E215552-676F-3FDB-69E7-CBC4BCA215B3}"/>
                    </a:ext>
                  </a:extLst>
                </p:cNvPr>
                <p:cNvSpPr txBox="1"/>
                <p:nvPr/>
              </p:nvSpPr>
              <p:spPr>
                <a:xfrm>
                  <a:off x="242099" y="1464729"/>
                  <a:ext cx="2177286" cy="570488"/>
                </a:xfrm>
                <a:prstGeom prst="rect">
                  <a:avLst/>
                </a:prstGeom>
                <a:noFill/>
              </p:spPr>
              <p:txBody>
                <a:bodyPr wrap="square">
                  <a:spAutoFit/>
                </a:bodyPr>
                <a:lstStyle/>
                <a:p>
                  <a:pPr algn="ctr"/>
                  <a:r>
                    <a:rPr lang="en-US" sz="1200" b="1">
                      <a:solidFill>
                        <a:srgbClr val="00B0F0"/>
                      </a:solidFill>
                    </a:rPr>
                    <a:t>TOKEN EFFICIENCY EXAMINATION</a:t>
                  </a:r>
                </a:p>
              </p:txBody>
            </p:sp>
            <p:sp>
              <p:nvSpPr>
                <p:cNvPr id="229" name="TextBox 228">
                  <a:extLst>
                    <a:ext uri="{FF2B5EF4-FFF2-40B4-BE49-F238E27FC236}">
                      <a16:creationId xmlns:a16="http://schemas.microsoft.com/office/drawing/2014/main" id="{3BAA536B-BF05-5C50-F7B4-DDEBC6EEC302}"/>
                    </a:ext>
                  </a:extLst>
                </p:cNvPr>
                <p:cNvSpPr txBox="1"/>
                <p:nvPr/>
              </p:nvSpPr>
              <p:spPr>
                <a:xfrm>
                  <a:off x="431535" y="1785814"/>
                  <a:ext cx="1878026" cy="464688"/>
                </a:xfrm>
                <a:prstGeom prst="rect">
                  <a:avLst/>
                </a:prstGeom>
                <a:noFill/>
              </p:spPr>
              <p:txBody>
                <a:bodyPr wrap="square">
                  <a:spAutoFit/>
                </a:bodyPr>
                <a:lstStyle/>
                <a:p>
                  <a:pPr algn="ctr" eaLnBrk="1" fontAlgn="auto" hangingPunct="1">
                    <a:spcBef>
                      <a:spcPts val="0"/>
                    </a:spcBef>
                    <a:spcAft>
                      <a:spcPts val="0"/>
                    </a:spcAft>
                    <a:defRPr/>
                  </a:pPr>
                  <a:r>
                    <a:rPr lang="en-US" sz="900" b="1">
                      <a:solidFill>
                        <a:schemeClr val="bg1"/>
                      </a:solidFill>
                      <a:latin typeface="+mn-lt"/>
                      <a:ea typeface="+mn-ea"/>
                      <a:cs typeface="+mn-cs"/>
                    </a:rPr>
                    <a:t>RLSF framework vs Self Consistency utilizing the same computing resources</a:t>
                  </a:r>
                </a:p>
              </p:txBody>
            </p:sp>
          </p:grpSp>
          <p:grpSp>
            <p:nvGrpSpPr>
              <p:cNvPr id="230" name="Group 229">
                <a:extLst>
                  <a:ext uri="{FF2B5EF4-FFF2-40B4-BE49-F238E27FC236}">
                    <a16:creationId xmlns:a16="http://schemas.microsoft.com/office/drawing/2014/main" id="{F3E413C1-8571-955D-6F12-7B9B4B91FB3F}"/>
                  </a:ext>
                </a:extLst>
              </p:cNvPr>
              <p:cNvGrpSpPr/>
              <p:nvPr/>
            </p:nvGrpSpPr>
            <p:grpSpPr>
              <a:xfrm>
                <a:off x="8862367" y="2296342"/>
                <a:ext cx="2597544" cy="798684"/>
                <a:chOff x="87896" y="1546090"/>
                <a:chExt cx="2597544" cy="798684"/>
              </a:xfrm>
            </p:grpSpPr>
            <p:sp>
              <p:nvSpPr>
                <p:cNvPr id="231" name="TextBox 230">
                  <a:extLst>
                    <a:ext uri="{FF2B5EF4-FFF2-40B4-BE49-F238E27FC236}">
                      <a16:creationId xmlns:a16="http://schemas.microsoft.com/office/drawing/2014/main" id="{CA90ECDE-5A26-2CF9-4166-C8496574A00C}"/>
                    </a:ext>
                  </a:extLst>
                </p:cNvPr>
                <p:cNvSpPr txBox="1"/>
                <p:nvPr/>
              </p:nvSpPr>
              <p:spPr>
                <a:xfrm>
                  <a:off x="87896" y="1546090"/>
                  <a:ext cx="2597544" cy="798684"/>
                </a:xfrm>
                <a:prstGeom prst="rect">
                  <a:avLst/>
                </a:prstGeom>
                <a:noFill/>
              </p:spPr>
              <p:txBody>
                <a:bodyPr wrap="square">
                  <a:spAutoFit/>
                </a:bodyPr>
                <a:lstStyle/>
                <a:p>
                  <a:pPr algn="ctr"/>
                  <a:r>
                    <a:rPr lang="en-US" sz="1200" b="1">
                      <a:solidFill>
                        <a:srgbClr val="0070C0"/>
                      </a:solidFill>
                    </a:rPr>
                    <a:t>ALTERNATIVE EXPLORATION REWARD FUNCTIONS</a:t>
                  </a:r>
                </a:p>
              </p:txBody>
            </p:sp>
            <mc:AlternateContent xmlns:mc="http://schemas.openxmlformats.org/markup-compatibility/2006" xmlns:a14="http://schemas.microsoft.com/office/drawing/2010/main">
              <mc:Choice Requires="a14">
                <p:sp>
                  <p:nvSpPr>
                    <p:cNvPr id="232" name="TextBox 231">
                      <a:extLst>
                        <a:ext uri="{FF2B5EF4-FFF2-40B4-BE49-F238E27FC236}">
                          <a16:creationId xmlns:a16="http://schemas.microsoft.com/office/drawing/2014/main" id="{92F44DCF-3219-B06E-948E-C15786B3D3EA}"/>
                        </a:ext>
                      </a:extLst>
                    </p:cNvPr>
                    <p:cNvSpPr txBox="1"/>
                    <p:nvPr/>
                  </p:nvSpPr>
                  <p:spPr>
                    <a:xfrm>
                      <a:off x="301749" y="1894788"/>
                      <a:ext cx="2169837" cy="362456"/>
                    </a:xfrm>
                    <a:prstGeom prst="rect">
                      <a:avLst/>
                    </a:prstGeom>
                    <a:noFill/>
                  </p:spPr>
                  <p:txBody>
                    <a:bodyPr wrap="square">
                      <a:spAutoFit/>
                    </a:bodyPr>
                    <a:lstStyle/>
                    <a:p>
                      <a:pPr algn="ctr">
                        <a:buClr>
                          <a:schemeClr val="bg1"/>
                        </a:buClr>
                        <a:defRPr/>
                      </a:pPr>
                      <a14:m>
                        <m:oMathPara xmlns:m="http://schemas.openxmlformats.org/officeDocument/2006/math">
                          <m:oMathParaPr>
                            <m:jc m:val="centerGroup"/>
                          </m:oMathParaPr>
                          <m:oMath xmlns:m="http://schemas.openxmlformats.org/officeDocument/2006/math">
                            <m:r>
                              <a:rPr lang="en-US" sz="1050" b="1" i="1" smtClean="0">
                                <a:solidFill>
                                  <a:schemeClr val="bg1"/>
                                </a:solidFill>
                                <a:latin typeface="Cambria Math" panose="02040503050406030204" pitchFamily="18" charset="0"/>
                              </a:rPr>
                              <m:t>−</m:t>
                            </m:r>
                            <m:f>
                              <m:fPr>
                                <m:type m:val="skw"/>
                                <m:ctrlPr>
                                  <a:rPr lang="en-US" sz="1050" b="1" i="1" smtClean="0">
                                    <a:solidFill>
                                      <a:schemeClr val="bg1"/>
                                    </a:solidFill>
                                    <a:latin typeface="Cambria Math" panose="02040503050406030204" pitchFamily="18" charset="0"/>
                                  </a:rPr>
                                </m:ctrlPr>
                              </m:fPr>
                              <m:num>
                                <m:r>
                                  <m:rPr>
                                    <m:sty m:val="p"/>
                                  </m:rPr>
                                  <a:rPr lang="en-US" sz="1050" b="1" i="1" smtClean="0">
                                    <a:solidFill>
                                      <a:schemeClr val="bg1"/>
                                    </a:solidFill>
                                    <a:latin typeface="Cambria Math" panose="02040503050406030204" pitchFamily="18" charset="0"/>
                                  </a:rPr>
                                  <m:t>C</m:t>
                                </m:r>
                              </m:num>
                              <m:den>
                                <m:rad>
                                  <m:radPr>
                                    <m:degHide m:val="on"/>
                                    <m:ctrlPr>
                                      <a:rPr lang="en-US" sz="1050" b="1" i="1">
                                        <a:solidFill>
                                          <a:schemeClr val="bg1"/>
                                        </a:solidFill>
                                        <a:latin typeface="Cambria Math" panose="02040503050406030204" pitchFamily="18" charset="0"/>
                                      </a:rPr>
                                    </m:ctrlPr>
                                  </m:radPr>
                                  <m:deg/>
                                  <m:e>
                                    <m:d>
                                      <m:dPr>
                                        <m:begChr m:val="|"/>
                                        <m:endChr m:val="|"/>
                                        <m:ctrlPr>
                                          <a:rPr lang="en-US" sz="1050" b="1" i="1">
                                            <a:solidFill>
                                              <a:schemeClr val="bg1"/>
                                            </a:solidFill>
                                            <a:latin typeface="Cambria Math" panose="02040503050406030204" pitchFamily="18" charset="0"/>
                                          </a:rPr>
                                        </m:ctrlPr>
                                      </m:dPr>
                                      <m:e>
                                        <m:r>
                                          <a:rPr lang="en-US" sz="1050" b="1" i="1">
                                            <a:solidFill>
                                              <a:schemeClr val="bg1"/>
                                            </a:solidFill>
                                            <a:latin typeface="Cambria Math" panose="02040503050406030204" pitchFamily="18" charset="0"/>
                                          </a:rPr>
                                          <m:t>𝑶</m:t>
                                        </m:r>
                                      </m:e>
                                    </m:d>
                                  </m:e>
                                </m:rad>
                              </m:den>
                            </m:f>
                            <m:r>
                              <a:rPr lang="en-US" sz="1050" b="1" i="1" smtClean="0">
                                <a:solidFill>
                                  <a:schemeClr val="bg1"/>
                                </a:solidFill>
                                <a:latin typeface="Cambria Math" panose="02040503050406030204" pitchFamily="18" charset="0"/>
                              </a:rPr>
                              <m:t>  ,</m:t>
                            </m:r>
                            <m:r>
                              <a:rPr lang="en-US" sz="1050" b="1" i="1">
                                <a:solidFill>
                                  <a:schemeClr val="bg1"/>
                                </a:solidFill>
                                <a:latin typeface="Cambria Math" panose="02040503050406030204" pitchFamily="18" charset="0"/>
                              </a:rPr>
                              <m:t> </m:t>
                            </m:r>
                            <m:r>
                              <a:rPr lang="en-US" sz="1050" b="1" i="1" smtClean="0">
                                <a:solidFill>
                                  <a:schemeClr val="bg1"/>
                                </a:solidFill>
                                <a:latin typeface="Cambria Math" panose="02040503050406030204" pitchFamily="18" charset="0"/>
                              </a:rPr>
                              <m:t> </m:t>
                            </m:r>
                            <m:sSup>
                              <m:sSupPr>
                                <m:ctrlPr>
                                  <a:rPr lang="en-US" sz="1050" b="1" i="1">
                                    <a:solidFill>
                                      <a:schemeClr val="bg1"/>
                                    </a:solidFill>
                                    <a:latin typeface="Cambria Math" panose="02040503050406030204" pitchFamily="18" charset="0"/>
                                  </a:rPr>
                                </m:ctrlPr>
                              </m:sSupPr>
                              <m:e>
                                <m:r>
                                  <a:rPr lang="en-US" sz="1050" b="1" i="1" smtClean="0">
                                    <a:solidFill>
                                      <a:schemeClr val="bg1"/>
                                    </a:solidFill>
                                    <a:latin typeface="Cambria Math" panose="02040503050406030204" pitchFamily="18" charset="0"/>
                                  </a:rPr>
                                  <m:t>−</m:t>
                                </m:r>
                                <m:r>
                                  <m:rPr>
                                    <m:sty m:val="p"/>
                                  </m:rPr>
                                  <a:rPr lang="en-US" sz="1050" b="1" i="1" smtClean="0">
                                    <a:solidFill>
                                      <a:schemeClr val="bg1"/>
                                    </a:solidFill>
                                    <a:latin typeface="Cambria Math" panose="02040503050406030204" pitchFamily="18" charset="0"/>
                                  </a:rPr>
                                  <m:t>C</m:t>
                                </m:r>
                                <m:r>
                                  <a:rPr lang="en-US" sz="1050" b="1" i="1">
                                    <a:solidFill>
                                      <a:schemeClr val="bg1"/>
                                    </a:solidFill>
                                    <a:latin typeface="Cambria Math" panose="02040503050406030204" pitchFamily="18" charset="0"/>
                                  </a:rPr>
                                  <m:t>𝒆</m:t>
                                </m:r>
                              </m:e>
                              <m:sup>
                                <m:r>
                                  <a:rPr lang="en-US" sz="1050" b="1" i="1">
                                    <a:solidFill>
                                      <a:schemeClr val="bg1"/>
                                    </a:solidFill>
                                    <a:latin typeface="Cambria Math" panose="02040503050406030204" pitchFamily="18" charset="0"/>
                                  </a:rPr>
                                  <m:t>(−</m:t>
                                </m:r>
                                <m:rad>
                                  <m:radPr>
                                    <m:degHide m:val="on"/>
                                    <m:ctrlPr>
                                      <a:rPr lang="en-US" sz="1050" b="1" i="1">
                                        <a:solidFill>
                                          <a:schemeClr val="bg1"/>
                                        </a:solidFill>
                                        <a:latin typeface="Cambria Math" panose="02040503050406030204" pitchFamily="18" charset="0"/>
                                      </a:rPr>
                                    </m:ctrlPr>
                                  </m:radPr>
                                  <m:deg/>
                                  <m:e>
                                    <m:d>
                                      <m:dPr>
                                        <m:begChr m:val="|"/>
                                        <m:endChr m:val="|"/>
                                        <m:ctrlPr>
                                          <a:rPr lang="en-US" sz="1050" b="1" i="1">
                                            <a:solidFill>
                                              <a:schemeClr val="bg1"/>
                                            </a:solidFill>
                                            <a:latin typeface="Cambria Math" panose="02040503050406030204" pitchFamily="18" charset="0"/>
                                          </a:rPr>
                                        </m:ctrlPr>
                                      </m:dPr>
                                      <m:e>
                                        <m:r>
                                          <a:rPr lang="en-US" sz="1050" b="1" i="1">
                                            <a:solidFill>
                                              <a:schemeClr val="bg1"/>
                                            </a:solidFill>
                                            <a:latin typeface="Cambria Math" panose="02040503050406030204" pitchFamily="18" charset="0"/>
                                          </a:rPr>
                                          <m:t>𝑶</m:t>
                                        </m:r>
                                      </m:e>
                                    </m:d>
                                  </m:e>
                                </m:rad>
                                <m:r>
                                  <a:rPr lang="en-US" sz="1050" b="1" i="1">
                                    <a:solidFill>
                                      <a:schemeClr val="bg1"/>
                                    </a:solidFill>
                                    <a:latin typeface="Cambria Math" panose="02040503050406030204" pitchFamily="18" charset="0"/>
                                  </a:rPr>
                                  <m:t>)</m:t>
                                </m:r>
                              </m:sup>
                            </m:sSup>
                          </m:oMath>
                        </m:oMathPara>
                      </a14:m>
                      <a:endParaRPr lang="en-US" sz="1050" b="1">
                        <a:solidFill>
                          <a:schemeClr val="bg1"/>
                        </a:solidFill>
                      </a:endParaRPr>
                    </a:p>
                  </p:txBody>
                </p:sp>
              </mc:Choice>
              <mc:Fallback xmlns="">
                <p:sp>
                  <p:nvSpPr>
                    <p:cNvPr id="232" name="TextBox 231">
                      <a:extLst>
                        <a:ext uri="{FF2B5EF4-FFF2-40B4-BE49-F238E27FC236}">
                          <a16:creationId xmlns:a16="http://schemas.microsoft.com/office/drawing/2014/main" id="{92F44DCF-3219-B06E-948E-C15786B3D3EA}"/>
                        </a:ext>
                      </a:extLst>
                    </p:cNvPr>
                    <p:cNvSpPr txBox="1">
                      <a:spLocks noRot="1" noChangeAspect="1" noMove="1" noResize="1" noEditPoints="1" noAdjustHandles="1" noChangeArrowheads="1" noChangeShapeType="1" noTextEdit="1"/>
                    </p:cNvSpPr>
                    <p:nvPr/>
                  </p:nvSpPr>
                  <p:spPr>
                    <a:xfrm>
                      <a:off x="301749" y="1894788"/>
                      <a:ext cx="2169837" cy="362456"/>
                    </a:xfrm>
                    <a:prstGeom prst="rect">
                      <a:avLst/>
                    </a:prstGeom>
                    <a:blipFill>
                      <a:blip r:embed="rId4"/>
                      <a:stretch>
                        <a:fillRect l="-1955" t="-135821" b="-204478"/>
                      </a:stretch>
                    </a:blipFill>
                  </p:spPr>
                  <p:txBody>
                    <a:bodyPr/>
                    <a:lstStyle/>
                    <a:p>
                      <a:r>
                        <a:rPr lang="en-US">
                          <a:noFill/>
                        </a:rPr>
                        <a:t> </a:t>
                      </a:r>
                    </a:p>
                  </p:txBody>
                </p:sp>
              </mc:Fallback>
            </mc:AlternateContent>
          </p:grpSp>
          <p:pic>
            <p:nvPicPr>
              <p:cNvPr id="236" name="Graphic 235" descr="Checklist with solid fill">
                <a:extLst>
                  <a:ext uri="{FF2B5EF4-FFF2-40B4-BE49-F238E27FC236}">
                    <a16:creationId xmlns:a16="http://schemas.microsoft.com/office/drawing/2014/main" id="{A3184301-CC90-F4F4-97AF-E37B3DF942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46908" y="2871666"/>
                <a:ext cx="539999" cy="540000"/>
              </a:xfrm>
              <a:prstGeom prst="rect">
                <a:avLst/>
              </a:prstGeom>
            </p:spPr>
          </p:pic>
        </p:grpSp>
        <p:pic>
          <p:nvPicPr>
            <p:cNvPr id="242" name="Graphic 241" descr="Artificial Intelligence with solid fill">
              <a:extLst>
                <a:ext uri="{FF2B5EF4-FFF2-40B4-BE49-F238E27FC236}">
                  <a16:creationId xmlns:a16="http://schemas.microsoft.com/office/drawing/2014/main" id="{91B5F052-8CD6-28D1-3389-658E98939C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3682" y="4729562"/>
              <a:ext cx="737425" cy="737425"/>
            </a:xfrm>
            <a:prstGeom prst="rect">
              <a:avLst/>
            </a:prstGeom>
          </p:spPr>
        </p:pic>
        <p:pic>
          <p:nvPicPr>
            <p:cNvPr id="246" name="Graphic 245" descr="Open hand with plant with solid fill">
              <a:extLst>
                <a:ext uri="{FF2B5EF4-FFF2-40B4-BE49-F238E27FC236}">
                  <a16:creationId xmlns:a16="http://schemas.microsoft.com/office/drawing/2014/main" id="{BCAB64F5-142B-945A-E2C2-41ED1E9F4C3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09669" y="2267077"/>
              <a:ext cx="778367" cy="778367"/>
            </a:xfrm>
            <a:prstGeom prst="rect">
              <a:avLst/>
            </a:prstGeom>
          </p:spPr>
        </p:pic>
        <p:pic>
          <p:nvPicPr>
            <p:cNvPr id="248" name="Graphic 247" descr="Battery charging with solid fill">
              <a:extLst>
                <a:ext uri="{FF2B5EF4-FFF2-40B4-BE49-F238E27FC236}">
                  <a16:creationId xmlns:a16="http://schemas.microsoft.com/office/drawing/2014/main" id="{CD7C027D-D57E-047D-60EA-8C2220F7E9A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55078" y="4773431"/>
              <a:ext cx="655020" cy="655020"/>
            </a:xfrm>
            <a:prstGeom prst="rect">
              <a:avLst/>
            </a:prstGeom>
          </p:spPr>
        </p:pic>
        <p:pic>
          <p:nvPicPr>
            <p:cNvPr id="250" name="Graphic 249" descr="Closed book with solid fill">
              <a:extLst>
                <a:ext uri="{FF2B5EF4-FFF2-40B4-BE49-F238E27FC236}">
                  <a16:creationId xmlns:a16="http://schemas.microsoft.com/office/drawing/2014/main" id="{C41248A2-4363-1BB7-48C6-62441A0D110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43466" y="4792923"/>
              <a:ext cx="687091" cy="687091"/>
            </a:xfrm>
            <a:prstGeom prst="rect">
              <a:avLst/>
            </a:prstGeom>
          </p:spPr>
        </p:pic>
        <p:pic>
          <p:nvPicPr>
            <p:cNvPr id="256" name="Graphic 255" descr="Race Car with solid fill">
              <a:extLst>
                <a:ext uri="{FF2B5EF4-FFF2-40B4-BE49-F238E27FC236}">
                  <a16:creationId xmlns:a16="http://schemas.microsoft.com/office/drawing/2014/main" id="{E012EBC5-FD97-0174-F32B-3C82DA85897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806088" y="2267077"/>
              <a:ext cx="787206" cy="787206"/>
            </a:xfrm>
            <a:prstGeom prst="rect">
              <a:avLst/>
            </a:prstGeom>
          </p:spPr>
        </p:pic>
        <p:pic>
          <p:nvPicPr>
            <p:cNvPr id="258" name="Graphic 257" descr="Fork In Road outline">
              <a:extLst>
                <a:ext uri="{FF2B5EF4-FFF2-40B4-BE49-F238E27FC236}">
                  <a16:creationId xmlns:a16="http://schemas.microsoft.com/office/drawing/2014/main" id="{D16E565E-0F52-04A9-6C99-840979E8B09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40777" y="4765974"/>
              <a:ext cx="647463" cy="647463"/>
            </a:xfrm>
            <a:prstGeom prst="rect">
              <a:avLst/>
            </a:prstGeom>
          </p:spPr>
        </p:pic>
      </p:grpSp>
      <p:cxnSp>
        <p:nvCxnSpPr>
          <p:cNvPr id="271" name="Connector: Elbow 270">
            <a:extLst>
              <a:ext uri="{FF2B5EF4-FFF2-40B4-BE49-F238E27FC236}">
                <a16:creationId xmlns:a16="http://schemas.microsoft.com/office/drawing/2014/main" id="{12A9EE57-33E4-8FEE-CDA1-C105FF6D8C94}"/>
              </a:ext>
            </a:extLst>
          </p:cNvPr>
          <p:cNvCxnSpPr>
            <a:cxnSpLocks/>
          </p:cNvCxnSpPr>
          <p:nvPr/>
        </p:nvCxnSpPr>
        <p:spPr>
          <a:xfrm rot="16200000" flipH="1">
            <a:off x="1203674" y="3787533"/>
            <a:ext cx="5054358" cy="295275"/>
          </a:xfrm>
          <a:prstGeom prst="bentConnector3">
            <a:avLst>
              <a:gd name="adj1" fmla="val 100128"/>
            </a:avLst>
          </a:prstGeom>
          <a:ln>
            <a:solidFill>
              <a:srgbClr val="C084FC"/>
            </a:solidFill>
            <a:tailEnd type="triangle"/>
          </a:ln>
        </p:spPr>
        <p:style>
          <a:lnRef idx="3">
            <a:schemeClr val="dk1"/>
          </a:lnRef>
          <a:fillRef idx="0">
            <a:schemeClr val="dk1"/>
          </a:fillRef>
          <a:effectRef idx="2">
            <a:schemeClr val="dk1"/>
          </a:effectRef>
          <a:fontRef idx="minor">
            <a:schemeClr val="tx1"/>
          </a:fontRef>
        </p:style>
      </p:cxnSp>
      <p:cxnSp>
        <p:nvCxnSpPr>
          <p:cNvPr id="275" name="Connector: Elbow 274">
            <a:extLst>
              <a:ext uri="{FF2B5EF4-FFF2-40B4-BE49-F238E27FC236}">
                <a16:creationId xmlns:a16="http://schemas.microsoft.com/office/drawing/2014/main" id="{1D84A41F-05AA-2DAF-109C-4CD8D23E51CC}"/>
              </a:ext>
            </a:extLst>
          </p:cNvPr>
          <p:cNvCxnSpPr>
            <a:cxnSpLocks/>
          </p:cNvCxnSpPr>
          <p:nvPr/>
        </p:nvCxnSpPr>
        <p:spPr>
          <a:xfrm rot="5400000">
            <a:off x="5907422" y="3820052"/>
            <a:ext cx="5038932" cy="271966"/>
          </a:xfrm>
          <a:prstGeom prst="bentConnector3">
            <a:avLst>
              <a:gd name="adj1" fmla="val 99903"/>
            </a:avLst>
          </a:prstGeom>
          <a:ln>
            <a:solidFill>
              <a:srgbClr val="C084FC"/>
            </a:solidFill>
            <a:tailEnd type="triangle"/>
          </a:ln>
        </p:spPr>
        <p:style>
          <a:lnRef idx="3">
            <a:schemeClr val="dk1"/>
          </a:lnRef>
          <a:fillRef idx="0">
            <a:schemeClr val="dk1"/>
          </a:fillRef>
          <a:effectRef idx="2">
            <a:schemeClr val="dk1"/>
          </a:effectRef>
          <a:fontRef idx="minor">
            <a:schemeClr val="tx1"/>
          </a:fontRef>
        </p:style>
      </p:cxnSp>
      <p:sp>
        <p:nvSpPr>
          <p:cNvPr id="289" name="TextBox 288">
            <a:extLst>
              <a:ext uri="{FF2B5EF4-FFF2-40B4-BE49-F238E27FC236}">
                <a16:creationId xmlns:a16="http://schemas.microsoft.com/office/drawing/2014/main" id="{F34E78CF-977B-B240-DABA-84329CB85325}"/>
              </a:ext>
            </a:extLst>
          </p:cNvPr>
          <p:cNvSpPr txBox="1"/>
          <p:nvPr/>
        </p:nvSpPr>
        <p:spPr>
          <a:xfrm>
            <a:off x="4442075" y="6053332"/>
            <a:ext cx="3313747" cy="461665"/>
          </a:xfrm>
          <a:prstGeom prst="rect">
            <a:avLst/>
          </a:prstGeom>
          <a:noFill/>
        </p:spPr>
        <p:txBody>
          <a:bodyPr wrap="square" rtlCol="0">
            <a:spAutoFit/>
          </a:bodyPr>
          <a:lstStyle/>
          <a:p>
            <a:pPr algn="ctr"/>
            <a:r>
              <a:rPr lang="en-US" sz="2400">
                <a:solidFill>
                  <a:srgbClr val="FFC000"/>
                </a:solidFill>
              </a:rPr>
              <a:t>RECREATION PHASE</a:t>
            </a:r>
          </a:p>
        </p:txBody>
      </p:sp>
      <p:cxnSp>
        <p:nvCxnSpPr>
          <p:cNvPr id="296" name="Connector: Elbow 295">
            <a:extLst>
              <a:ext uri="{FF2B5EF4-FFF2-40B4-BE49-F238E27FC236}">
                <a16:creationId xmlns:a16="http://schemas.microsoft.com/office/drawing/2014/main" id="{04D42CBB-5D61-68A6-33C0-12D14EE4BAC7}"/>
              </a:ext>
            </a:extLst>
          </p:cNvPr>
          <p:cNvCxnSpPr>
            <a:cxnSpLocks/>
          </p:cNvCxnSpPr>
          <p:nvPr/>
        </p:nvCxnSpPr>
        <p:spPr>
          <a:xfrm rot="16200000" flipH="1">
            <a:off x="6175043" y="3791431"/>
            <a:ext cx="5054358" cy="295275"/>
          </a:xfrm>
          <a:prstGeom prst="bentConnector3">
            <a:avLst>
              <a:gd name="adj1" fmla="val 100128"/>
            </a:avLst>
          </a:prstGeom>
          <a:ln>
            <a:solidFill>
              <a:srgbClr val="C084FC"/>
            </a:solidFill>
            <a:tailEnd type="triangle"/>
          </a:ln>
        </p:spPr>
        <p:style>
          <a:lnRef idx="3">
            <a:schemeClr val="dk1"/>
          </a:lnRef>
          <a:fillRef idx="0">
            <a:schemeClr val="dk1"/>
          </a:fillRef>
          <a:effectRef idx="2">
            <a:schemeClr val="dk1"/>
          </a:effectRef>
          <a:fontRef idx="minor">
            <a:schemeClr val="tx1"/>
          </a:fontRef>
        </p:style>
      </p:cxnSp>
      <p:sp>
        <p:nvSpPr>
          <p:cNvPr id="298" name="TextBox 297">
            <a:extLst>
              <a:ext uri="{FF2B5EF4-FFF2-40B4-BE49-F238E27FC236}">
                <a16:creationId xmlns:a16="http://schemas.microsoft.com/office/drawing/2014/main" id="{72B71E27-2836-3309-5F19-8C5C899532C0}"/>
              </a:ext>
            </a:extLst>
          </p:cNvPr>
          <p:cNvSpPr txBox="1"/>
          <p:nvPr/>
        </p:nvSpPr>
        <p:spPr>
          <a:xfrm>
            <a:off x="9110104" y="6053456"/>
            <a:ext cx="3313747" cy="461665"/>
          </a:xfrm>
          <a:prstGeom prst="rect">
            <a:avLst/>
          </a:prstGeom>
          <a:noFill/>
        </p:spPr>
        <p:txBody>
          <a:bodyPr wrap="square" rtlCol="0">
            <a:spAutoFit/>
          </a:bodyPr>
          <a:lstStyle/>
          <a:p>
            <a:pPr algn="ctr"/>
            <a:r>
              <a:rPr lang="en-US" sz="2400">
                <a:solidFill>
                  <a:srgbClr val="FFC000"/>
                </a:solidFill>
              </a:rPr>
              <a:t>EXTENSIONS</a:t>
            </a:r>
          </a:p>
        </p:txBody>
      </p:sp>
      <p:cxnSp>
        <p:nvCxnSpPr>
          <p:cNvPr id="299" name="Connector: Elbow 298">
            <a:extLst>
              <a:ext uri="{FF2B5EF4-FFF2-40B4-BE49-F238E27FC236}">
                <a16:creationId xmlns:a16="http://schemas.microsoft.com/office/drawing/2014/main" id="{3C5EA7A6-6AB6-70DD-F005-239490B35747}"/>
              </a:ext>
            </a:extLst>
          </p:cNvPr>
          <p:cNvCxnSpPr>
            <a:cxnSpLocks/>
          </p:cNvCxnSpPr>
          <p:nvPr/>
        </p:nvCxnSpPr>
        <p:spPr>
          <a:xfrm rot="5400000">
            <a:off x="917274" y="3820051"/>
            <a:ext cx="5038932" cy="271966"/>
          </a:xfrm>
          <a:prstGeom prst="bentConnector3">
            <a:avLst>
              <a:gd name="adj1" fmla="val 99903"/>
            </a:avLst>
          </a:prstGeom>
          <a:ln>
            <a:solidFill>
              <a:srgbClr val="C084FC"/>
            </a:solidFill>
            <a:tailEnd type="triangle"/>
          </a:ln>
        </p:spPr>
        <p:style>
          <a:lnRef idx="3">
            <a:schemeClr val="dk1"/>
          </a:lnRef>
          <a:fillRef idx="0">
            <a:schemeClr val="dk1"/>
          </a:fillRef>
          <a:effectRef idx="2">
            <a:schemeClr val="dk1"/>
          </a:effectRef>
          <a:fontRef idx="minor">
            <a:schemeClr val="tx1"/>
          </a:fontRef>
        </p:style>
      </p:cxnSp>
      <p:sp>
        <p:nvSpPr>
          <p:cNvPr id="301" name="TextBox 300">
            <a:extLst>
              <a:ext uri="{FF2B5EF4-FFF2-40B4-BE49-F238E27FC236}">
                <a16:creationId xmlns:a16="http://schemas.microsoft.com/office/drawing/2014/main" id="{91E554D6-1812-2092-4802-676940D80956}"/>
              </a:ext>
            </a:extLst>
          </p:cNvPr>
          <p:cNvSpPr txBox="1"/>
          <p:nvPr/>
        </p:nvSpPr>
        <p:spPr>
          <a:xfrm>
            <a:off x="-12713" y="6059649"/>
            <a:ext cx="3352187" cy="461665"/>
          </a:xfrm>
          <a:prstGeom prst="rect">
            <a:avLst/>
          </a:prstGeom>
          <a:noFill/>
        </p:spPr>
        <p:txBody>
          <a:bodyPr wrap="square" rtlCol="0">
            <a:spAutoFit/>
          </a:bodyPr>
          <a:lstStyle/>
          <a:p>
            <a:pPr algn="ctr"/>
            <a:r>
              <a:rPr lang="en-US" sz="2400">
                <a:solidFill>
                  <a:srgbClr val="FFC000"/>
                </a:solidFill>
              </a:rPr>
              <a:t>ENVIROMENT SETUP</a:t>
            </a:r>
          </a:p>
        </p:txBody>
      </p:sp>
    </p:spTree>
    <p:extLst>
      <p:ext uri="{BB962C8B-B14F-4D97-AF65-F5344CB8AC3E}">
        <p14:creationId xmlns:p14="http://schemas.microsoft.com/office/powerpoint/2010/main" val="1022758041"/>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wipe(left)">
                                      <p:cBhvr>
                                        <p:cTn id="7" dur="1500"/>
                                        <p:tgtEl>
                                          <p:spTgt spid="259"/>
                                        </p:tgtEl>
                                      </p:cBhvr>
                                    </p:animEffect>
                                  </p:childTnLst>
                                </p:cTn>
                              </p:par>
                            </p:childTnLst>
                          </p:cTn>
                        </p:par>
                        <p:par>
                          <p:cTn id="8" fill="hold">
                            <p:stCondLst>
                              <p:cond delay="1500"/>
                            </p:stCondLst>
                            <p:childTnLst>
                              <p:par>
                                <p:cTn id="9" presetID="47" presetClass="entr" presetSubtype="0" fill="hold" nodeType="afterEffect">
                                  <p:stCondLst>
                                    <p:cond delay="0"/>
                                  </p:stCondLst>
                                  <p:childTnLst>
                                    <p:set>
                                      <p:cBhvr>
                                        <p:cTn id="10" dur="1" fill="hold">
                                          <p:stCondLst>
                                            <p:cond delay="0"/>
                                          </p:stCondLst>
                                        </p:cTn>
                                        <p:tgtEl>
                                          <p:spTgt spid="299"/>
                                        </p:tgtEl>
                                        <p:attrNameLst>
                                          <p:attrName>style.visibility</p:attrName>
                                        </p:attrNameLst>
                                      </p:cBhvr>
                                      <p:to>
                                        <p:strVal val="visible"/>
                                      </p:to>
                                    </p:set>
                                    <p:animEffect transition="in" filter="fade">
                                      <p:cBhvr>
                                        <p:cTn id="11" dur="250"/>
                                        <p:tgtEl>
                                          <p:spTgt spid="299"/>
                                        </p:tgtEl>
                                      </p:cBhvr>
                                    </p:animEffect>
                                    <p:anim calcmode="lin" valueType="num">
                                      <p:cBhvr>
                                        <p:cTn id="12" dur="250" fill="hold"/>
                                        <p:tgtEl>
                                          <p:spTgt spid="299"/>
                                        </p:tgtEl>
                                        <p:attrNameLst>
                                          <p:attrName>ppt_x</p:attrName>
                                        </p:attrNameLst>
                                      </p:cBhvr>
                                      <p:tavLst>
                                        <p:tav tm="0">
                                          <p:val>
                                            <p:strVal val="#ppt_x"/>
                                          </p:val>
                                        </p:tav>
                                        <p:tav tm="100000">
                                          <p:val>
                                            <p:strVal val="#ppt_x"/>
                                          </p:val>
                                        </p:tav>
                                      </p:tavLst>
                                    </p:anim>
                                    <p:anim calcmode="lin" valueType="num">
                                      <p:cBhvr>
                                        <p:cTn id="13" dur="250" fill="hold"/>
                                        <p:tgtEl>
                                          <p:spTgt spid="299"/>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271"/>
                                        </p:tgtEl>
                                        <p:attrNameLst>
                                          <p:attrName>style.visibility</p:attrName>
                                        </p:attrNameLst>
                                      </p:cBhvr>
                                      <p:to>
                                        <p:strVal val="visible"/>
                                      </p:to>
                                    </p:set>
                                    <p:animEffect transition="in" filter="fade">
                                      <p:cBhvr>
                                        <p:cTn id="16" dur="250"/>
                                        <p:tgtEl>
                                          <p:spTgt spid="271"/>
                                        </p:tgtEl>
                                      </p:cBhvr>
                                    </p:animEffect>
                                    <p:anim calcmode="lin" valueType="num">
                                      <p:cBhvr>
                                        <p:cTn id="17" dur="250" fill="hold"/>
                                        <p:tgtEl>
                                          <p:spTgt spid="271"/>
                                        </p:tgtEl>
                                        <p:attrNameLst>
                                          <p:attrName>ppt_x</p:attrName>
                                        </p:attrNameLst>
                                      </p:cBhvr>
                                      <p:tavLst>
                                        <p:tav tm="0">
                                          <p:val>
                                            <p:strVal val="#ppt_x"/>
                                          </p:val>
                                        </p:tav>
                                        <p:tav tm="100000">
                                          <p:val>
                                            <p:strVal val="#ppt_x"/>
                                          </p:val>
                                        </p:tav>
                                      </p:tavLst>
                                    </p:anim>
                                    <p:anim calcmode="lin" valueType="num">
                                      <p:cBhvr>
                                        <p:cTn id="18" dur="250" fill="hold"/>
                                        <p:tgtEl>
                                          <p:spTgt spid="271"/>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275"/>
                                        </p:tgtEl>
                                        <p:attrNameLst>
                                          <p:attrName>style.visibility</p:attrName>
                                        </p:attrNameLst>
                                      </p:cBhvr>
                                      <p:to>
                                        <p:strVal val="visible"/>
                                      </p:to>
                                    </p:set>
                                    <p:animEffect transition="in" filter="fade">
                                      <p:cBhvr>
                                        <p:cTn id="21" dur="250"/>
                                        <p:tgtEl>
                                          <p:spTgt spid="275"/>
                                        </p:tgtEl>
                                      </p:cBhvr>
                                    </p:animEffect>
                                    <p:anim calcmode="lin" valueType="num">
                                      <p:cBhvr>
                                        <p:cTn id="22" dur="250" fill="hold"/>
                                        <p:tgtEl>
                                          <p:spTgt spid="275"/>
                                        </p:tgtEl>
                                        <p:attrNameLst>
                                          <p:attrName>ppt_x</p:attrName>
                                        </p:attrNameLst>
                                      </p:cBhvr>
                                      <p:tavLst>
                                        <p:tav tm="0">
                                          <p:val>
                                            <p:strVal val="#ppt_x"/>
                                          </p:val>
                                        </p:tav>
                                        <p:tav tm="100000">
                                          <p:val>
                                            <p:strVal val="#ppt_x"/>
                                          </p:val>
                                        </p:tav>
                                      </p:tavLst>
                                    </p:anim>
                                    <p:anim calcmode="lin" valueType="num">
                                      <p:cBhvr>
                                        <p:cTn id="23" dur="250" fill="hold"/>
                                        <p:tgtEl>
                                          <p:spTgt spid="275"/>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0"/>
                                  </p:stCondLst>
                                  <p:childTnLst>
                                    <p:set>
                                      <p:cBhvr>
                                        <p:cTn id="25" dur="1" fill="hold">
                                          <p:stCondLst>
                                            <p:cond delay="0"/>
                                          </p:stCondLst>
                                        </p:cTn>
                                        <p:tgtEl>
                                          <p:spTgt spid="296"/>
                                        </p:tgtEl>
                                        <p:attrNameLst>
                                          <p:attrName>style.visibility</p:attrName>
                                        </p:attrNameLst>
                                      </p:cBhvr>
                                      <p:to>
                                        <p:strVal val="visible"/>
                                      </p:to>
                                    </p:set>
                                    <p:animEffect transition="in" filter="fade">
                                      <p:cBhvr>
                                        <p:cTn id="26" dur="250"/>
                                        <p:tgtEl>
                                          <p:spTgt spid="296"/>
                                        </p:tgtEl>
                                      </p:cBhvr>
                                    </p:animEffect>
                                    <p:anim calcmode="lin" valueType="num">
                                      <p:cBhvr>
                                        <p:cTn id="27" dur="250" fill="hold"/>
                                        <p:tgtEl>
                                          <p:spTgt spid="296"/>
                                        </p:tgtEl>
                                        <p:attrNameLst>
                                          <p:attrName>ppt_x</p:attrName>
                                        </p:attrNameLst>
                                      </p:cBhvr>
                                      <p:tavLst>
                                        <p:tav tm="0">
                                          <p:val>
                                            <p:strVal val="#ppt_x"/>
                                          </p:val>
                                        </p:tav>
                                        <p:tav tm="100000">
                                          <p:val>
                                            <p:strVal val="#ppt_x"/>
                                          </p:val>
                                        </p:tav>
                                      </p:tavLst>
                                    </p:anim>
                                    <p:anim calcmode="lin" valueType="num">
                                      <p:cBhvr>
                                        <p:cTn id="28" dur="250" fill="hold"/>
                                        <p:tgtEl>
                                          <p:spTgt spid="296"/>
                                        </p:tgtEl>
                                        <p:attrNameLst>
                                          <p:attrName>ppt_y</p:attrName>
                                        </p:attrNameLst>
                                      </p:cBhvr>
                                      <p:tavLst>
                                        <p:tav tm="0">
                                          <p:val>
                                            <p:strVal val="#ppt_y-.1"/>
                                          </p:val>
                                        </p:tav>
                                        <p:tav tm="100000">
                                          <p:val>
                                            <p:strVal val="#ppt_y"/>
                                          </p:val>
                                        </p:tav>
                                      </p:tavLst>
                                    </p:anim>
                                  </p:childTnLst>
                                </p:cTn>
                              </p:par>
                            </p:childTnLst>
                          </p:cTn>
                        </p:par>
                        <p:par>
                          <p:cTn id="29" fill="hold">
                            <p:stCondLst>
                              <p:cond delay="1750"/>
                            </p:stCondLst>
                            <p:childTnLst>
                              <p:par>
                                <p:cTn id="30" presetID="2" presetClass="entr" presetSubtype="4" fill="hold" grpId="0" nodeType="afterEffect">
                                  <p:stCondLst>
                                    <p:cond delay="0"/>
                                  </p:stCondLst>
                                  <p:childTnLst>
                                    <p:set>
                                      <p:cBhvr>
                                        <p:cTn id="31" dur="1" fill="hold">
                                          <p:stCondLst>
                                            <p:cond delay="0"/>
                                          </p:stCondLst>
                                        </p:cTn>
                                        <p:tgtEl>
                                          <p:spTgt spid="289"/>
                                        </p:tgtEl>
                                        <p:attrNameLst>
                                          <p:attrName>style.visibility</p:attrName>
                                        </p:attrNameLst>
                                      </p:cBhvr>
                                      <p:to>
                                        <p:strVal val="visible"/>
                                      </p:to>
                                    </p:set>
                                    <p:anim calcmode="lin" valueType="num">
                                      <p:cBhvr additive="base">
                                        <p:cTn id="32" dur="500" fill="hold"/>
                                        <p:tgtEl>
                                          <p:spTgt spid="289"/>
                                        </p:tgtEl>
                                        <p:attrNameLst>
                                          <p:attrName>ppt_x</p:attrName>
                                        </p:attrNameLst>
                                      </p:cBhvr>
                                      <p:tavLst>
                                        <p:tav tm="0">
                                          <p:val>
                                            <p:strVal val="#ppt_x"/>
                                          </p:val>
                                        </p:tav>
                                        <p:tav tm="100000">
                                          <p:val>
                                            <p:strVal val="#ppt_x"/>
                                          </p:val>
                                        </p:tav>
                                      </p:tavLst>
                                    </p:anim>
                                    <p:anim calcmode="lin" valueType="num">
                                      <p:cBhvr additive="base">
                                        <p:cTn id="33" dur="500" fill="hold"/>
                                        <p:tgtEl>
                                          <p:spTgt spid="28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98"/>
                                        </p:tgtEl>
                                        <p:attrNameLst>
                                          <p:attrName>style.visibility</p:attrName>
                                        </p:attrNameLst>
                                      </p:cBhvr>
                                      <p:to>
                                        <p:strVal val="visible"/>
                                      </p:to>
                                    </p:set>
                                    <p:anim calcmode="lin" valueType="num">
                                      <p:cBhvr additive="base">
                                        <p:cTn id="36" dur="500" fill="hold"/>
                                        <p:tgtEl>
                                          <p:spTgt spid="298"/>
                                        </p:tgtEl>
                                        <p:attrNameLst>
                                          <p:attrName>ppt_x</p:attrName>
                                        </p:attrNameLst>
                                      </p:cBhvr>
                                      <p:tavLst>
                                        <p:tav tm="0">
                                          <p:val>
                                            <p:strVal val="#ppt_x"/>
                                          </p:val>
                                        </p:tav>
                                        <p:tav tm="100000">
                                          <p:val>
                                            <p:strVal val="#ppt_x"/>
                                          </p:val>
                                        </p:tav>
                                      </p:tavLst>
                                    </p:anim>
                                    <p:anim calcmode="lin" valueType="num">
                                      <p:cBhvr additive="base">
                                        <p:cTn id="37" dur="500" fill="hold"/>
                                        <p:tgtEl>
                                          <p:spTgt spid="298"/>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01"/>
                                        </p:tgtEl>
                                        <p:attrNameLst>
                                          <p:attrName>style.visibility</p:attrName>
                                        </p:attrNameLst>
                                      </p:cBhvr>
                                      <p:to>
                                        <p:strVal val="visible"/>
                                      </p:to>
                                    </p:set>
                                    <p:anim calcmode="lin" valueType="num">
                                      <p:cBhvr additive="base">
                                        <p:cTn id="40" dur="500" fill="hold"/>
                                        <p:tgtEl>
                                          <p:spTgt spid="301"/>
                                        </p:tgtEl>
                                        <p:attrNameLst>
                                          <p:attrName>ppt_x</p:attrName>
                                        </p:attrNameLst>
                                      </p:cBhvr>
                                      <p:tavLst>
                                        <p:tav tm="0">
                                          <p:val>
                                            <p:strVal val="#ppt_x"/>
                                          </p:val>
                                        </p:tav>
                                        <p:tav tm="100000">
                                          <p:val>
                                            <p:strVal val="#ppt_x"/>
                                          </p:val>
                                        </p:tav>
                                      </p:tavLst>
                                    </p:anim>
                                    <p:anim calcmode="lin" valueType="num">
                                      <p:cBhvr additive="base">
                                        <p:cTn id="41" dur="500" fill="hold"/>
                                        <p:tgtEl>
                                          <p:spTgt spid="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p:bldP spid="298" grpId="0"/>
      <p:bldP spid="30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026618D1-A82E-BBDB-28DF-A1E4182F1CC9}"/>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E3D48B83-CF46-7DC4-34DA-ECA790492845}"/>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Recreation of Paper’s Results (I)</a:t>
            </a:r>
          </a:p>
        </p:txBody>
      </p:sp>
      <p:sp>
        <p:nvSpPr>
          <p:cNvPr id="255" name="Google Shape;255;p21">
            <a:extLst>
              <a:ext uri="{FF2B5EF4-FFF2-40B4-BE49-F238E27FC236}">
                <a16:creationId xmlns:a16="http://schemas.microsoft.com/office/drawing/2014/main" id="{E2E26BCC-00A4-8995-7DFD-84BDDE3C61FA}"/>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31;p20">
            <a:extLst>
              <a:ext uri="{FF2B5EF4-FFF2-40B4-BE49-F238E27FC236}">
                <a16:creationId xmlns:a16="http://schemas.microsoft.com/office/drawing/2014/main" id="{73C4C81A-B582-E3E5-E962-0B4A2512F86C}"/>
              </a:ext>
            </a:extLst>
          </p:cNvPr>
          <p:cNvSpPr/>
          <p:nvPr/>
        </p:nvSpPr>
        <p:spPr>
          <a:xfrm>
            <a:off x="3082540" y="5888991"/>
            <a:ext cx="6007855" cy="418985"/>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a:solidFill>
                  <a:srgbClr val="C084FC"/>
                </a:solidFill>
                <a:latin typeface="Lato"/>
                <a:ea typeface="Lato"/>
                <a:cs typeface="Lato"/>
                <a:sym typeface="Lato"/>
              </a:rPr>
              <a:t>Token Efficiency Examination for Both Qwen &amp; Llama models</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255;p21">
            <a:extLst>
              <a:ext uri="{FF2B5EF4-FFF2-40B4-BE49-F238E27FC236}">
                <a16:creationId xmlns:a16="http://schemas.microsoft.com/office/drawing/2014/main" id="{24397C57-AB0C-6A15-C960-8B07171F9E8E}"/>
              </a:ext>
            </a:extLst>
          </p:cNvPr>
          <p:cNvSpPr/>
          <p:nvPr/>
        </p:nvSpPr>
        <p:spPr>
          <a:xfrm>
            <a:off x="1530294" y="3439316"/>
            <a:ext cx="9131405" cy="11526"/>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55;p21">
            <a:extLst>
              <a:ext uri="{FF2B5EF4-FFF2-40B4-BE49-F238E27FC236}">
                <a16:creationId xmlns:a16="http://schemas.microsoft.com/office/drawing/2014/main" id="{74E2EB23-72FE-4792-46D6-C2AB1EE43AAD}"/>
              </a:ext>
            </a:extLst>
          </p:cNvPr>
          <p:cNvSpPr/>
          <p:nvPr/>
        </p:nvSpPr>
        <p:spPr>
          <a:xfrm>
            <a:off x="1945358" y="5561422"/>
            <a:ext cx="8301277"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3" name="Picture 252">
            <a:extLst>
              <a:ext uri="{FF2B5EF4-FFF2-40B4-BE49-F238E27FC236}">
                <a16:creationId xmlns:a16="http://schemas.microsoft.com/office/drawing/2014/main" id="{5D5A8EE6-380D-239E-7CE6-8F4A20FB39C2}"/>
              </a:ext>
            </a:extLst>
          </p:cNvPr>
          <p:cNvPicPr>
            <a:picLocks noChangeAspect="1"/>
          </p:cNvPicPr>
          <p:nvPr/>
        </p:nvPicPr>
        <p:blipFill>
          <a:blip r:embed="rId3"/>
          <a:stretch>
            <a:fillRect/>
          </a:stretch>
        </p:blipFill>
        <p:spPr>
          <a:xfrm>
            <a:off x="1841684" y="3526582"/>
            <a:ext cx="8508619" cy="2044365"/>
          </a:xfrm>
          <a:prstGeom prst="rect">
            <a:avLst/>
          </a:prstGeom>
        </p:spPr>
      </p:pic>
      <p:pic>
        <p:nvPicPr>
          <p:cNvPr id="313" name="Picture 312">
            <a:extLst>
              <a:ext uri="{FF2B5EF4-FFF2-40B4-BE49-F238E27FC236}">
                <a16:creationId xmlns:a16="http://schemas.microsoft.com/office/drawing/2014/main" id="{5CBD4BDA-6183-D923-7970-B6F45F19E0DB}"/>
              </a:ext>
            </a:extLst>
          </p:cNvPr>
          <p:cNvPicPr>
            <a:picLocks noChangeAspect="1"/>
          </p:cNvPicPr>
          <p:nvPr/>
        </p:nvPicPr>
        <p:blipFill>
          <a:blip r:embed="rId4"/>
          <a:stretch>
            <a:fillRect/>
          </a:stretch>
        </p:blipFill>
        <p:spPr>
          <a:xfrm>
            <a:off x="1929921" y="1305755"/>
            <a:ext cx="8332143" cy="2095691"/>
          </a:xfrm>
          <a:prstGeom prst="rect">
            <a:avLst/>
          </a:prstGeom>
        </p:spPr>
      </p:pic>
      <p:sp>
        <p:nvSpPr>
          <p:cNvPr id="317" name="Google Shape;144;p16">
            <a:extLst>
              <a:ext uri="{FF2B5EF4-FFF2-40B4-BE49-F238E27FC236}">
                <a16:creationId xmlns:a16="http://schemas.microsoft.com/office/drawing/2014/main" id="{EDA99EC0-395C-6B6C-2ACE-7C57E5EE1FFB}"/>
              </a:ext>
            </a:extLst>
          </p:cNvPr>
          <p:cNvSpPr txBox="1"/>
          <p:nvPr/>
        </p:nvSpPr>
        <p:spPr>
          <a:xfrm>
            <a:off x="3638550" y="1287053"/>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sp>
        <p:nvSpPr>
          <p:cNvPr id="319" name="Google Shape;144;p16">
            <a:extLst>
              <a:ext uri="{FF2B5EF4-FFF2-40B4-BE49-F238E27FC236}">
                <a16:creationId xmlns:a16="http://schemas.microsoft.com/office/drawing/2014/main" id="{515EA523-252E-C86B-86C2-343F1C5A8393}"/>
              </a:ext>
            </a:extLst>
          </p:cNvPr>
          <p:cNvSpPr txBox="1"/>
          <p:nvPr/>
        </p:nvSpPr>
        <p:spPr>
          <a:xfrm>
            <a:off x="3082540" y="3526582"/>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sp>
        <p:nvSpPr>
          <p:cNvPr id="321" name="Google Shape;144;p16">
            <a:extLst>
              <a:ext uri="{FF2B5EF4-FFF2-40B4-BE49-F238E27FC236}">
                <a16:creationId xmlns:a16="http://schemas.microsoft.com/office/drawing/2014/main" id="{A4CD9A3F-B961-9F64-86C2-AECED3CC206E}"/>
              </a:ext>
            </a:extLst>
          </p:cNvPr>
          <p:cNvSpPr txBox="1"/>
          <p:nvPr/>
        </p:nvSpPr>
        <p:spPr>
          <a:xfrm>
            <a:off x="2771775" y="5888991"/>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spTree>
    <p:extLst>
      <p:ext uri="{BB962C8B-B14F-4D97-AF65-F5344CB8AC3E}">
        <p14:creationId xmlns:p14="http://schemas.microsoft.com/office/powerpoint/2010/main" val="3969616430"/>
      </p:ext>
    </p:extLst>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2DB99863-A7C8-5A65-6B26-6E7EACC58EF2}"/>
            </a:ext>
          </a:extLst>
        </p:cNvPr>
        <p:cNvGrpSpPr/>
        <p:nvPr/>
      </p:nvGrpSpPr>
      <p:grpSpPr>
        <a:xfrm>
          <a:off x="0" y="0"/>
          <a:ext cx="0" cy="0"/>
          <a:chOff x="0" y="0"/>
          <a:chExt cx="0" cy="0"/>
        </a:xfrm>
      </p:grpSpPr>
      <p:sp>
        <p:nvSpPr>
          <p:cNvPr id="10" name="Google Shape;210;p20">
            <a:extLst>
              <a:ext uri="{FF2B5EF4-FFF2-40B4-BE49-F238E27FC236}">
                <a16:creationId xmlns:a16="http://schemas.microsoft.com/office/drawing/2014/main" id="{8E0103A0-EB9E-80D5-E8AA-8757639E1885}"/>
              </a:ext>
            </a:extLst>
          </p:cNvPr>
          <p:cNvSpPr/>
          <p:nvPr/>
        </p:nvSpPr>
        <p:spPr>
          <a:xfrm>
            <a:off x="5924550" y="1672191"/>
            <a:ext cx="5886450" cy="4456790"/>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 name="Google Shape;210;p20">
            <a:extLst>
              <a:ext uri="{FF2B5EF4-FFF2-40B4-BE49-F238E27FC236}">
                <a16:creationId xmlns:a16="http://schemas.microsoft.com/office/drawing/2014/main" id="{C1EF0AA9-6F12-5AFA-8AA5-68927849232E}"/>
              </a:ext>
            </a:extLst>
          </p:cNvPr>
          <p:cNvSpPr/>
          <p:nvPr/>
        </p:nvSpPr>
        <p:spPr>
          <a:xfrm>
            <a:off x="400050" y="1672192"/>
            <a:ext cx="5296648" cy="4456788"/>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21">
            <a:extLst>
              <a:ext uri="{FF2B5EF4-FFF2-40B4-BE49-F238E27FC236}">
                <a16:creationId xmlns:a16="http://schemas.microsoft.com/office/drawing/2014/main" id="{D6AF2FB4-2AFD-48B7-9FBF-298074F42588}"/>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Recreation of Paper’s Results (I) – PPO vs GRPO</a:t>
            </a:r>
          </a:p>
        </p:txBody>
      </p:sp>
      <p:sp>
        <p:nvSpPr>
          <p:cNvPr id="255" name="Google Shape;255;p21">
            <a:extLst>
              <a:ext uri="{FF2B5EF4-FFF2-40B4-BE49-F238E27FC236}">
                <a16:creationId xmlns:a16="http://schemas.microsoft.com/office/drawing/2014/main" id="{6D6E0CD8-12EC-F82A-CA5C-C4FF80A70719}"/>
              </a:ext>
            </a:extLst>
          </p:cNvPr>
          <p:cNvSpPr/>
          <p:nvPr/>
        </p:nvSpPr>
        <p:spPr>
          <a:xfrm>
            <a:off x="40005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C6BE986A-01EA-D392-AE5A-EB49941803C6}"/>
              </a:ext>
            </a:extLst>
          </p:cNvPr>
          <p:cNvSpPr txBox="1"/>
          <p:nvPr/>
        </p:nvSpPr>
        <p:spPr>
          <a:xfrm>
            <a:off x="5939064" y="1152525"/>
            <a:ext cx="6224493"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2400" b="1" err="1">
                <a:solidFill>
                  <a:srgbClr val="FDE047"/>
                </a:solidFill>
                <a:latin typeface="Lato"/>
                <a:ea typeface="Lato"/>
                <a:cs typeface="Lato"/>
              </a:rPr>
              <a:t>Group</a:t>
            </a:r>
            <a:r>
              <a:rPr lang="el-GR" sz="2400" b="1">
                <a:solidFill>
                  <a:srgbClr val="FDE047"/>
                </a:solidFill>
                <a:latin typeface="Lato"/>
                <a:ea typeface="Lato"/>
                <a:cs typeface="Lato"/>
              </a:rPr>
              <a:t> </a:t>
            </a:r>
            <a:r>
              <a:rPr lang="el-GR" sz="2400" b="1" err="1">
                <a:solidFill>
                  <a:srgbClr val="FDE047"/>
                </a:solidFill>
                <a:latin typeface="Lato"/>
                <a:ea typeface="Lato"/>
                <a:cs typeface="Lato"/>
              </a:rPr>
              <a:t>Relative</a:t>
            </a:r>
            <a:r>
              <a:rPr lang="el-GR" sz="2400" b="1">
                <a:solidFill>
                  <a:srgbClr val="FDE047"/>
                </a:solidFill>
                <a:latin typeface="Lato"/>
                <a:ea typeface="Lato"/>
                <a:cs typeface="Lato"/>
              </a:rPr>
              <a:t> Policy </a:t>
            </a:r>
            <a:r>
              <a:rPr lang="el-GR" sz="2400" b="1" err="1">
                <a:solidFill>
                  <a:srgbClr val="FDE047"/>
                </a:solidFill>
                <a:latin typeface="Lato"/>
                <a:ea typeface="Lato"/>
                <a:cs typeface="Lato"/>
              </a:rPr>
              <a:t>Optimization</a:t>
            </a:r>
            <a:r>
              <a:rPr lang="el-GR" sz="2400" b="1">
                <a:solidFill>
                  <a:srgbClr val="FDE047"/>
                </a:solidFill>
                <a:latin typeface="Lato"/>
                <a:ea typeface="Lato"/>
                <a:cs typeface="Lato"/>
              </a:rPr>
              <a:t> (GRPO)</a:t>
            </a:r>
          </a:p>
          <a:p>
            <a:endParaRPr lang="en-US">
              <a:solidFill>
                <a:srgbClr val="C084FC"/>
              </a:solidFill>
              <a:latin typeface="Lato"/>
              <a:ea typeface="Lato"/>
              <a:cs typeface="Lato"/>
            </a:endParaRPr>
          </a:p>
          <a:p>
            <a:r>
              <a:rPr lang="el-GR">
                <a:solidFill>
                  <a:srgbClr val="C084FC"/>
                </a:solidFill>
                <a:latin typeface="Lato"/>
                <a:ea typeface="Lato"/>
                <a:cs typeface="Lato"/>
              </a:rPr>
              <a:t>GRPO </a:t>
            </a:r>
            <a:r>
              <a:rPr lang="el-GR" err="1">
                <a:solidFill>
                  <a:srgbClr val="C084FC"/>
                </a:solidFill>
                <a:latin typeface="Lato"/>
                <a:ea typeface="Lato"/>
                <a:cs typeface="Lato"/>
              </a:rPr>
              <a:t>is</a:t>
            </a:r>
            <a:r>
              <a:rPr lang="el-GR">
                <a:solidFill>
                  <a:srgbClr val="C084FC"/>
                </a:solidFill>
                <a:latin typeface="Lato"/>
                <a:ea typeface="Lato"/>
                <a:cs typeface="Lato"/>
              </a:rPr>
              <a:t> a </a:t>
            </a:r>
            <a:r>
              <a:rPr lang="el-GR" err="1">
                <a:solidFill>
                  <a:srgbClr val="C084FC"/>
                </a:solidFill>
                <a:latin typeface="Lato"/>
                <a:ea typeface="Lato"/>
                <a:cs typeface="Lato"/>
              </a:rPr>
              <a:t>group-relative</a:t>
            </a:r>
            <a:r>
              <a:rPr lang="el-GR">
                <a:solidFill>
                  <a:srgbClr val="C084FC"/>
                </a:solidFill>
                <a:latin typeface="Lato"/>
                <a:ea typeface="Lato"/>
                <a:cs typeface="Lato"/>
              </a:rPr>
              <a:t> </a:t>
            </a:r>
            <a:r>
              <a:rPr lang="el-GR" err="1">
                <a:solidFill>
                  <a:srgbClr val="C084FC"/>
                </a:solidFill>
                <a:latin typeface="Lato"/>
                <a:ea typeface="Lato"/>
                <a:cs typeface="Lato"/>
              </a:rPr>
              <a:t>algorithm</a:t>
            </a:r>
            <a:r>
              <a:rPr lang="el-GR">
                <a:solidFill>
                  <a:srgbClr val="C084FC"/>
                </a:solidFill>
                <a:latin typeface="Lato"/>
                <a:ea typeface="Lato"/>
                <a:cs typeface="Lato"/>
              </a:rPr>
              <a:t> </a:t>
            </a:r>
            <a:r>
              <a:rPr lang="el-GR" err="1">
                <a:solidFill>
                  <a:srgbClr val="C084FC"/>
                </a:solidFill>
                <a:latin typeface="Lato"/>
                <a:ea typeface="Lato"/>
                <a:cs typeface="Lato"/>
              </a:rPr>
              <a:t>consisting</a:t>
            </a:r>
            <a:r>
              <a:rPr lang="el-GR">
                <a:solidFill>
                  <a:srgbClr val="C084FC"/>
                </a:solidFill>
                <a:latin typeface="Lato"/>
                <a:ea typeface="Lato"/>
                <a:cs typeface="Lato"/>
              </a:rPr>
              <a:t> of:</a:t>
            </a:r>
            <a:endParaRPr lang="en-US">
              <a:solidFill>
                <a:srgbClr val="C084FC"/>
              </a:solidFill>
              <a:latin typeface="Lato"/>
              <a:ea typeface="Lato"/>
              <a:cs typeface="Lato"/>
            </a:endParaRPr>
          </a:p>
          <a:p>
            <a:endParaRPr lang="el-GR">
              <a:solidFill>
                <a:srgbClr val="C084FC"/>
              </a:solidFill>
              <a:latin typeface="Lato"/>
              <a:ea typeface="Lato"/>
              <a:cs typeface="Lato"/>
            </a:endParaRPr>
          </a:p>
          <a:p>
            <a:pPr marL="685800" indent="-400050" algn="just">
              <a:buClr>
                <a:srgbClr val="FDE047"/>
              </a:buClr>
              <a:buFont typeface="+mj-lt"/>
              <a:buAutoNum type="romanUcPeriod"/>
            </a:pPr>
            <a:r>
              <a:rPr lang="el-GR">
                <a:solidFill>
                  <a:schemeClr val="bg1"/>
                </a:solidFill>
                <a:latin typeface="Lato"/>
                <a:ea typeface="Lato"/>
                <a:cs typeface="Lato"/>
              </a:rPr>
              <a:t>The current </a:t>
            </a:r>
            <a:r>
              <a:rPr lang="el-GR" err="1">
                <a:solidFill>
                  <a:schemeClr val="bg1"/>
                </a:solidFill>
                <a:latin typeface="Lato"/>
                <a:ea typeface="Lato"/>
                <a:cs typeface="Lato"/>
              </a:rPr>
              <a:t>policy</a:t>
            </a:r>
            <a:r>
              <a:rPr lang="el-GR">
                <a:solidFill>
                  <a:schemeClr val="bg1"/>
                </a:solidFill>
                <a:latin typeface="Lato"/>
                <a:ea typeface="Lato"/>
                <a:cs typeface="Lato"/>
              </a:rPr>
              <a:t> </a:t>
            </a:r>
            <a:r>
              <a:rPr lang="el-GR" err="1">
                <a:solidFill>
                  <a:schemeClr val="bg1"/>
                </a:solidFill>
                <a:latin typeface="Lato"/>
                <a:ea typeface="Lato"/>
                <a:cs typeface="Lato"/>
              </a:rPr>
              <a:t>model</a:t>
            </a:r>
            <a:endParaRPr lang="el-GR">
              <a:solidFill>
                <a:schemeClr val="bg1"/>
              </a:solidFill>
              <a:latin typeface="Lato"/>
              <a:ea typeface="Lato"/>
              <a:cs typeface="Lato"/>
            </a:endParaRPr>
          </a:p>
          <a:p>
            <a:pPr marL="685800" indent="-400050" algn="just">
              <a:buClr>
                <a:srgbClr val="FDE047"/>
              </a:buClr>
              <a:buFont typeface="+mj-lt"/>
              <a:buAutoNum type="romanUcPeriod"/>
            </a:pPr>
            <a:r>
              <a:rPr lang="el-GR" err="1">
                <a:solidFill>
                  <a:schemeClr val="bg1"/>
                </a:solidFill>
                <a:latin typeface="Lato"/>
                <a:ea typeface="Lato"/>
                <a:cs typeface="Lato"/>
              </a:rPr>
              <a:t>old</a:t>
            </a:r>
            <a:r>
              <a:rPr lang="el-GR">
                <a:solidFill>
                  <a:schemeClr val="bg1"/>
                </a:solidFill>
                <a:latin typeface="Lato"/>
                <a:ea typeface="Lato"/>
                <a:cs typeface="Lato"/>
              </a:rPr>
              <a:t> </a:t>
            </a:r>
            <a:r>
              <a:rPr lang="el-GR" err="1">
                <a:solidFill>
                  <a:schemeClr val="bg1"/>
                </a:solidFill>
                <a:latin typeface="Lato"/>
                <a:ea typeface="Lato"/>
                <a:cs typeface="Lato"/>
              </a:rPr>
              <a:t>policy</a:t>
            </a:r>
            <a:r>
              <a:rPr lang="el-GR">
                <a:solidFill>
                  <a:schemeClr val="bg1"/>
                </a:solidFill>
                <a:latin typeface="Lato"/>
                <a:ea typeface="Lato"/>
                <a:cs typeface="Lato"/>
              </a:rPr>
              <a:t> </a:t>
            </a:r>
            <a:r>
              <a:rPr lang="el-GR" err="1">
                <a:solidFill>
                  <a:schemeClr val="bg1"/>
                </a:solidFill>
                <a:latin typeface="Lato"/>
                <a:ea typeface="Lato"/>
                <a:cs typeface="Lato"/>
              </a:rPr>
              <a:t>model</a:t>
            </a:r>
            <a:endParaRPr lang="el-GR">
              <a:solidFill>
                <a:schemeClr val="bg1"/>
              </a:solidFill>
              <a:latin typeface="Lato"/>
              <a:ea typeface="Lato"/>
              <a:cs typeface="Lato"/>
            </a:endParaRPr>
          </a:p>
          <a:p>
            <a:pPr marL="685800" indent="-400050" algn="just">
              <a:buClr>
                <a:srgbClr val="FDE047"/>
              </a:buClr>
              <a:buFont typeface="+mj-lt"/>
              <a:buAutoNum type="romanUcPeriod"/>
            </a:pPr>
            <a:r>
              <a:rPr lang="el-GR">
                <a:solidFill>
                  <a:schemeClr val="bg1"/>
                </a:solidFill>
                <a:latin typeface="Lato"/>
                <a:ea typeface="Lato"/>
                <a:cs typeface="Lato"/>
              </a:rPr>
              <a:t>The </a:t>
            </a:r>
            <a:r>
              <a:rPr lang="el-GR" err="1">
                <a:solidFill>
                  <a:schemeClr val="bg1"/>
                </a:solidFill>
                <a:latin typeface="Lato"/>
                <a:ea typeface="Lato"/>
                <a:cs typeface="Lato"/>
              </a:rPr>
              <a:t>reference</a:t>
            </a:r>
            <a:r>
              <a:rPr lang="el-GR">
                <a:solidFill>
                  <a:schemeClr val="bg1"/>
                </a:solidFill>
                <a:latin typeface="Lato"/>
                <a:ea typeface="Lato"/>
                <a:cs typeface="Lato"/>
              </a:rPr>
              <a:t> </a:t>
            </a:r>
            <a:r>
              <a:rPr lang="el-GR" err="1">
                <a:solidFill>
                  <a:schemeClr val="bg1"/>
                </a:solidFill>
                <a:latin typeface="Lato"/>
                <a:ea typeface="Lato"/>
                <a:cs typeface="Lato"/>
              </a:rPr>
              <a:t>model</a:t>
            </a:r>
            <a:r>
              <a:rPr lang="el-GR">
                <a:solidFill>
                  <a:schemeClr val="bg1"/>
                </a:solidFill>
                <a:latin typeface="Lato"/>
                <a:ea typeface="Lato"/>
                <a:cs typeface="Lato"/>
              </a:rPr>
              <a:t>, </a:t>
            </a:r>
            <a:endParaRPr lang="en-US">
              <a:solidFill>
                <a:schemeClr val="bg1"/>
              </a:solidFill>
              <a:latin typeface="Lato"/>
              <a:ea typeface="Lato"/>
              <a:cs typeface="Lato"/>
            </a:endParaRPr>
          </a:p>
          <a:p>
            <a:pPr marL="285750">
              <a:buClr>
                <a:srgbClr val="FDE047"/>
              </a:buClr>
            </a:pPr>
            <a:endParaRPr lang="en-US">
              <a:solidFill>
                <a:schemeClr val="bg1"/>
              </a:solidFill>
              <a:latin typeface="Lato"/>
              <a:ea typeface="Lato"/>
              <a:cs typeface="Lato"/>
            </a:endParaRPr>
          </a:p>
          <a:p>
            <a:pPr>
              <a:buClr>
                <a:srgbClr val="FDE047"/>
              </a:buClr>
            </a:pPr>
            <a:r>
              <a:rPr lang="el-GR" err="1">
                <a:solidFill>
                  <a:srgbClr val="C084FC"/>
                </a:solidFill>
                <a:latin typeface="Lato"/>
                <a:ea typeface="Lato"/>
                <a:cs typeface="Lato"/>
              </a:rPr>
              <a:t>where</a:t>
            </a:r>
            <a:r>
              <a:rPr lang="el-GR">
                <a:solidFill>
                  <a:schemeClr val="bg1"/>
                </a:solidFill>
                <a:latin typeface="Lato"/>
                <a:ea typeface="Lato"/>
                <a:cs typeface="Lato"/>
              </a:rPr>
              <a:t>:</a:t>
            </a:r>
            <a:endParaRPr lang="en-US">
              <a:solidFill>
                <a:schemeClr val="bg1"/>
              </a:solidFill>
              <a:latin typeface="Lato"/>
              <a:ea typeface="Lato"/>
              <a:cs typeface="Lato"/>
            </a:endParaRPr>
          </a:p>
          <a:p>
            <a:pPr>
              <a:buClr>
                <a:srgbClr val="FDE047"/>
              </a:buClr>
            </a:pPr>
            <a:endParaRPr lang="el-GR">
              <a:solidFill>
                <a:schemeClr val="bg1"/>
              </a:solidFill>
              <a:latin typeface="Lato"/>
              <a:ea typeface="Lato"/>
              <a:cs typeface="Lato"/>
            </a:endParaRPr>
          </a:p>
          <a:p>
            <a:pPr marL="685800" indent="-400050" algn="just">
              <a:buClr>
                <a:srgbClr val="FDE047"/>
              </a:buClr>
              <a:buFont typeface="+mj-lt"/>
              <a:buAutoNum type="romanUcPeriod"/>
            </a:pPr>
            <a:r>
              <a:rPr lang="el-GR">
                <a:solidFill>
                  <a:schemeClr val="bg1"/>
                </a:solidFill>
                <a:latin typeface="Lato"/>
                <a:ea typeface="Lato"/>
                <a:cs typeface="Lato"/>
              </a:rPr>
              <a:t>G </a:t>
            </a:r>
            <a:r>
              <a:rPr lang="el-GR" err="1">
                <a:solidFill>
                  <a:schemeClr val="bg1"/>
                </a:solidFill>
                <a:latin typeface="Lato"/>
                <a:ea typeface="Lato"/>
                <a:cs typeface="Lato"/>
              </a:rPr>
              <a:t>outputs</a:t>
            </a:r>
            <a:r>
              <a:rPr lang="el-GR">
                <a:solidFill>
                  <a:schemeClr val="bg1"/>
                </a:solidFill>
                <a:latin typeface="Lato"/>
                <a:ea typeface="Lato"/>
                <a:cs typeface="Lato"/>
              </a:rPr>
              <a:t> </a:t>
            </a:r>
            <a:r>
              <a:rPr lang="el-GR" err="1">
                <a:solidFill>
                  <a:schemeClr val="bg1"/>
                </a:solidFill>
                <a:latin typeface="Lato"/>
                <a:ea typeface="Lato"/>
                <a:cs typeface="Lato"/>
              </a:rPr>
              <a:t>are</a:t>
            </a:r>
            <a:r>
              <a:rPr lang="el-GR">
                <a:solidFill>
                  <a:schemeClr val="bg1"/>
                </a:solidFill>
                <a:latin typeface="Lato"/>
                <a:ea typeface="Lato"/>
                <a:cs typeface="Lato"/>
              </a:rPr>
              <a:t> </a:t>
            </a:r>
            <a:r>
              <a:rPr lang="el-GR" err="1">
                <a:solidFill>
                  <a:schemeClr val="bg1"/>
                </a:solidFill>
                <a:latin typeface="Lato"/>
                <a:ea typeface="Lato"/>
                <a:cs typeface="Lato"/>
              </a:rPr>
              <a:t>sampled</a:t>
            </a:r>
            <a:r>
              <a:rPr lang="el-GR">
                <a:solidFill>
                  <a:schemeClr val="bg1"/>
                </a:solidFill>
                <a:latin typeface="Lato"/>
                <a:ea typeface="Lato"/>
                <a:cs typeface="Lato"/>
              </a:rPr>
              <a:t> for </a:t>
            </a:r>
            <a:r>
              <a:rPr lang="el-GR" err="1">
                <a:solidFill>
                  <a:schemeClr val="bg1"/>
                </a:solidFill>
                <a:latin typeface="Lato"/>
                <a:ea typeface="Lato"/>
                <a:cs typeface="Lato"/>
              </a:rPr>
              <a:t>each</a:t>
            </a:r>
            <a:r>
              <a:rPr lang="el-GR">
                <a:solidFill>
                  <a:schemeClr val="bg1"/>
                </a:solidFill>
                <a:latin typeface="Lato"/>
                <a:ea typeface="Lato"/>
                <a:cs typeface="Lato"/>
              </a:rPr>
              <a:t> </a:t>
            </a:r>
            <a:r>
              <a:rPr lang="el-GR" err="1">
                <a:solidFill>
                  <a:schemeClr val="bg1"/>
                </a:solidFill>
                <a:latin typeface="Lato"/>
                <a:ea typeface="Lato"/>
                <a:cs typeface="Lato"/>
              </a:rPr>
              <a:t>question</a:t>
            </a:r>
            <a:r>
              <a:rPr lang="el-GR">
                <a:solidFill>
                  <a:schemeClr val="bg1"/>
                </a:solidFill>
                <a:latin typeface="Lato"/>
                <a:ea typeface="Lato"/>
                <a:cs typeface="Lato"/>
              </a:rPr>
              <a:t> in the </a:t>
            </a:r>
            <a:r>
              <a:rPr lang="el-GR" err="1">
                <a:solidFill>
                  <a:schemeClr val="bg1"/>
                </a:solidFill>
                <a:latin typeface="Lato"/>
                <a:ea typeface="Lato"/>
                <a:cs typeface="Lato"/>
              </a:rPr>
              <a:t>batch</a:t>
            </a:r>
            <a:endParaRPr lang="el-GR">
              <a:solidFill>
                <a:schemeClr val="bg1"/>
              </a:solidFill>
              <a:latin typeface="Lato"/>
              <a:ea typeface="Lato"/>
              <a:cs typeface="Lato"/>
            </a:endParaRPr>
          </a:p>
          <a:p>
            <a:pPr marL="685800" indent="-400050" algn="just">
              <a:buClr>
                <a:srgbClr val="FDE047"/>
              </a:buClr>
              <a:buFont typeface="+mj-lt"/>
              <a:buAutoNum type="romanUcPeriod"/>
            </a:pPr>
            <a:r>
              <a:rPr lang="el-GR" err="1">
                <a:solidFill>
                  <a:schemeClr val="bg1"/>
                </a:solidFill>
                <a:latin typeface="Lato"/>
                <a:ea typeface="Lato"/>
                <a:cs typeface="Lato"/>
              </a:rPr>
              <a:t>Reward</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computed</a:t>
            </a:r>
            <a:r>
              <a:rPr lang="el-GR">
                <a:solidFill>
                  <a:schemeClr val="bg1"/>
                </a:solidFill>
                <a:latin typeface="Lato"/>
                <a:ea typeface="Lato"/>
                <a:cs typeface="Lato"/>
              </a:rPr>
              <a:t> for </a:t>
            </a:r>
            <a:r>
              <a:rPr lang="el-GR" err="1">
                <a:solidFill>
                  <a:schemeClr val="bg1"/>
                </a:solidFill>
                <a:latin typeface="Lato"/>
                <a:ea typeface="Lato"/>
                <a:cs typeface="Lato"/>
              </a:rPr>
              <a:t>each</a:t>
            </a:r>
            <a:r>
              <a:rPr lang="el-GR">
                <a:solidFill>
                  <a:schemeClr val="bg1"/>
                </a:solidFill>
                <a:latin typeface="Lato"/>
                <a:ea typeface="Lato"/>
                <a:cs typeface="Lato"/>
              </a:rPr>
              <a:t> </a:t>
            </a:r>
            <a:r>
              <a:rPr lang="el-GR" err="1">
                <a:solidFill>
                  <a:schemeClr val="bg1"/>
                </a:solidFill>
                <a:latin typeface="Lato"/>
                <a:ea typeface="Lato"/>
                <a:cs typeface="Lato"/>
              </a:rPr>
              <a:t>sampled</a:t>
            </a:r>
            <a:r>
              <a:rPr lang="el-GR">
                <a:solidFill>
                  <a:schemeClr val="bg1"/>
                </a:solidFill>
                <a:latin typeface="Lato"/>
                <a:ea typeface="Lato"/>
                <a:cs typeface="Lato"/>
              </a:rPr>
              <a:t> </a:t>
            </a:r>
            <a:r>
              <a:rPr lang="el-GR" err="1">
                <a:solidFill>
                  <a:schemeClr val="bg1"/>
                </a:solidFill>
                <a:latin typeface="Lato"/>
                <a:ea typeface="Lato"/>
                <a:cs typeface="Lato"/>
              </a:rPr>
              <a:t>output</a:t>
            </a:r>
            <a:endParaRPr lang="el-GR">
              <a:solidFill>
                <a:schemeClr val="bg1"/>
              </a:solidFill>
              <a:latin typeface="Lato"/>
              <a:ea typeface="Lato"/>
              <a:cs typeface="Lato"/>
            </a:endParaRPr>
          </a:p>
          <a:p>
            <a:pPr marL="685800" indent="-400050" algn="just">
              <a:buClr>
                <a:srgbClr val="FDE047"/>
              </a:buClr>
              <a:buFont typeface="+mj-lt"/>
              <a:buAutoNum type="romanUcPeriod"/>
            </a:pPr>
            <a:r>
              <a:rPr lang="el-GR" err="1">
                <a:solidFill>
                  <a:schemeClr val="bg1"/>
                </a:solidFill>
                <a:latin typeface="Lato"/>
                <a:ea typeface="Lato"/>
                <a:cs typeface="Lato"/>
              </a:rPr>
              <a:t>Advantage</a:t>
            </a:r>
            <a:r>
              <a:rPr lang="el-GR">
                <a:solidFill>
                  <a:schemeClr val="bg1"/>
                </a:solidFill>
                <a:latin typeface="Lato"/>
                <a:ea typeface="Lato"/>
                <a:cs typeface="Lato"/>
              </a:rPr>
              <a:t> </a:t>
            </a:r>
            <a:r>
              <a:rPr lang="el-GR" err="1">
                <a:solidFill>
                  <a:schemeClr val="bg1"/>
                </a:solidFill>
                <a:latin typeface="Lato"/>
                <a:ea typeface="Lato"/>
                <a:cs typeface="Lato"/>
              </a:rPr>
              <a:t>estimation</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group</a:t>
            </a:r>
            <a:r>
              <a:rPr lang="el-GR">
                <a:solidFill>
                  <a:schemeClr val="bg1"/>
                </a:solidFill>
                <a:latin typeface="Lato"/>
                <a:ea typeface="Lato"/>
                <a:cs typeface="Lato"/>
              </a:rPr>
              <a:t> </a:t>
            </a:r>
            <a:r>
              <a:rPr lang="el-GR" err="1">
                <a:solidFill>
                  <a:schemeClr val="bg1"/>
                </a:solidFill>
                <a:latin typeface="Lato"/>
                <a:ea typeface="Lato"/>
                <a:cs typeface="Lato"/>
              </a:rPr>
              <a:t>relative</a:t>
            </a:r>
            <a:endParaRPr lang="el-GR">
              <a:solidFill>
                <a:schemeClr val="bg1"/>
              </a:solidFill>
              <a:latin typeface="Lato"/>
              <a:ea typeface="Lato"/>
              <a:cs typeface="Lato"/>
            </a:endParaRPr>
          </a:p>
          <a:p>
            <a:pPr marL="685800" indent="-400050" algn="just">
              <a:buClr>
                <a:srgbClr val="FDE047"/>
              </a:buClr>
              <a:buFont typeface="+mj-lt"/>
              <a:buAutoNum type="romanUcPeriod"/>
            </a:pPr>
            <a:r>
              <a:rPr lang="el-GR">
                <a:solidFill>
                  <a:schemeClr val="bg1"/>
                </a:solidFill>
                <a:latin typeface="Lato"/>
                <a:ea typeface="Lato"/>
                <a:cs typeface="Lato"/>
              </a:rPr>
              <a:t>Policy </a:t>
            </a:r>
            <a:r>
              <a:rPr lang="el-GR" err="1">
                <a:solidFill>
                  <a:schemeClr val="bg1"/>
                </a:solidFill>
                <a:latin typeface="Lato"/>
                <a:ea typeface="Lato"/>
                <a:cs typeface="Lato"/>
              </a:rPr>
              <a:t>model</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updated</a:t>
            </a:r>
            <a:r>
              <a:rPr lang="el-GR">
                <a:solidFill>
                  <a:schemeClr val="bg1"/>
                </a:solidFill>
                <a:latin typeface="Lato"/>
                <a:ea typeface="Lato"/>
                <a:cs typeface="Lato"/>
              </a:rPr>
              <a:t> </a:t>
            </a:r>
            <a:r>
              <a:rPr lang="el-GR" err="1">
                <a:solidFill>
                  <a:schemeClr val="bg1"/>
                </a:solidFill>
                <a:latin typeface="Lato"/>
                <a:ea typeface="Lato"/>
                <a:cs typeface="Lato"/>
              </a:rPr>
              <a:t>by</a:t>
            </a:r>
            <a:r>
              <a:rPr lang="el-GR">
                <a:solidFill>
                  <a:schemeClr val="bg1"/>
                </a:solidFill>
                <a:latin typeface="Lato"/>
                <a:ea typeface="Lato"/>
                <a:cs typeface="Lato"/>
              </a:rPr>
              <a:t> </a:t>
            </a:r>
            <a:r>
              <a:rPr lang="el-GR" err="1">
                <a:solidFill>
                  <a:schemeClr val="bg1"/>
                </a:solidFill>
                <a:latin typeface="Lato"/>
                <a:ea typeface="Lato"/>
                <a:cs typeface="Lato"/>
              </a:rPr>
              <a:t>maximizing</a:t>
            </a:r>
            <a:r>
              <a:rPr lang="el-GR">
                <a:solidFill>
                  <a:schemeClr val="bg1"/>
                </a:solidFill>
                <a:latin typeface="Lato"/>
                <a:ea typeface="Lato"/>
                <a:cs typeface="Lato"/>
              </a:rPr>
              <a:t> the GRPO </a:t>
            </a:r>
            <a:r>
              <a:rPr lang="el-GR" err="1">
                <a:solidFill>
                  <a:schemeClr val="bg1"/>
                </a:solidFill>
                <a:latin typeface="Lato"/>
                <a:ea typeface="Lato"/>
                <a:cs typeface="Lato"/>
              </a:rPr>
              <a:t>objective</a:t>
            </a:r>
            <a:endParaRPr lang="el-GR">
              <a:solidFill>
                <a:schemeClr val="bg1"/>
              </a:solidFill>
              <a:latin typeface="Lato"/>
              <a:ea typeface="Lato"/>
              <a:cs typeface="Lato"/>
            </a:endParaRPr>
          </a:p>
          <a:p>
            <a:pPr marL="685800" indent="-400050"/>
            <a:endParaRPr lang="el-GR">
              <a:solidFill>
                <a:schemeClr val="bg1"/>
              </a:solidFill>
              <a:latin typeface="Lato"/>
              <a:ea typeface="Lato"/>
              <a:cs typeface="Lato"/>
            </a:endParaRPr>
          </a:p>
          <a:p>
            <a:pPr marL="400050" indent="-400050"/>
            <a:r>
              <a:rPr lang="el-GR" err="1">
                <a:solidFill>
                  <a:srgbClr val="C084FC"/>
                </a:solidFill>
                <a:latin typeface="Lato"/>
                <a:ea typeface="Lato"/>
                <a:cs typeface="Lato"/>
              </a:rPr>
              <a:t>Main</a:t>
            </a:r>
            <a:r>
              <a:rPr lang="el-GR">
                <a:solidFill>
                  <a:srgbClr val="C084FC"/>
                </a:solidFill>
                <a:latin typeface="Lato"/>
                <a:ea typeface="Lato"/>
                <a:cs typeface="Lato"/>
              </a:rPr>
              <a:t> </a:t>
            </a:r>
            <a:r>
              <a:rPr lang="el-GR" err="1">
                <a:solidFill>
                  <a:srgbClr val="C084FC"/>
                </a:solidFill>
                <a:latin typeface="Lato"/>
                <a:ea typeface="Lato"/>
                <a:cs typeface="Lato"/>
              </a:rPr>
              <a:t>Differences</a:t>
            </a:r>
            <a:r>
              <a:rPr lang="el-GR">
                <a:solidFill>
                  <a:srgbClr val="C084FC"/>
                </a:solidFill>
                <a:latin typeface="Lato"/>
                <a:ea typeface="Lato"/>
                <a:cs typeface="Lato"/>
              </a:rPr>
              <a:t> </a:t>
            </a:r>
            <a:r>
              <a:rPr lang="el-GR" err="1">
                <a:solidFill>
                  <a:srgbClr val="C084FC"/>
                </a:solidFill>
                <a:latin typeface="Lato"/>
                <a:ea typeface="Lato"/>
                <a:cs typeface="Lato"/>
              </a:rPr>
              <a:t>between</a:t>
            </a:r>
            <a:r>
              <a:rPr lang="el-GR">
                <a:solidFill>
                  <a:srgbClr val="C084FC"/>
                </a:solidFill>
                <a:latin typeface="Lato"/>
                <a:ea typeface="Lato"/>
                <a:cs typeface="Lato"/>
              </a:rPr>
              <a:t> the GRPO and the PPO:</a:t>
            </a:r>
            <a:endParaRPr lang="en-US">
              <a:solidFill>
                <a:srgbClr val="C084FC"/>
              </a:solidFill>
              <a:latin typeface="Lato"/>
              <a:ea typeface="Lato"/>
              <a:cs typeface="Lato"/>
            </a:endParaRPr>
          </a:p>
          <a:p>
            <a:pPr marL="685800" indent="-400050"/>
            <a:endParaRPr lang="el-GR">
              <a:solidFill>
                <a:schemeClr val="bg1"/>
              </a:solidFill>
              <a:latin typeface="Lato"/>
              <a:ea typeface="Lato"/>
              <a:cs typeface="Lato"/>
            </a:endParaRPr>
          </a:p>
          <a:p>
            <a:pPr marL="685800" indent="-400050" algn="just">
              <a:buClr>
                <a:srgbClr val="FDE047"/>
              </a:buClr>
              <a:buFont typeface="+mj-lt"/>
              <a:buAutoNum type="romanUcPeriod"/>
              <a:tabLst>
                <a:tab pos="5772150" algn="l"/>
              </a:tabLst>
            </a:pPr>
            <a:r>
              <a:rPr lang="el-GR">
                <a:solidFill>
                  <a:schemeClr val="bg1"/>
                </a:solidFill>
                <a:latin typeface="Lato"/>
                <a:ea typeface="Lato"/>
                <a:cs typeface="Lato"/>
              </a:rPr>
              <a:t>GRPO </a:t>
            </a:r>
            <a:r>
              <a:rPr lang="el-GR" err="1">
                <a:solidFill>
                  <a:schemeClr val="bg1"/>
                </a:solidFill>
                <a:latin typeface="Lato"/>
                <a:ea typeface="Lato"/>
                <a:cs typeface="Lato"/>
              </a:rPr>
              <a:t>removes</a:t>
            </a:r>
            <a:r>
              <a:rPr lang="el-GR">
                <a:solidFill>
                  <a:schemeClr val="bg1"/>
                </a:solidFill>
                <a:latin typeface="Lato"/>
                <a:ea typeface="Lato"/>
                <a:cs typeface="Lato"/>
              </a:rPr>
              <a:t> the </a:t>
            </a:r>
            <a:r>
              <a:rPr lang="el-GR" err="1">
                <a:solidFill>
                  <a:schemeClr val="bg1"/>
                </a:solidFill>
                <a:latin typeface="Lato"/>
                <a:ea typeface="Lato"/>
                <a:cs typeface="Lato"/>
              </a:rPr>
              <a:t>need</a:t>
            </a:r>
            <a:r>
              <a:rPr lang="el-GR">
                <a:solidFill>
                  <a:schemeClr val="bg1"/>
                </a:solidFill>
                <a:latin typeface="Lato"/>
                <a:ea typeface="Lato"/>
                <a:cs typeface="Lato"/>
              </a:rPr>
              <a:t> for the </a:t>
            </a:r>
            <a:r>
              <a:rPr lang="el-GR" err="1">
                <a:solidFill>
                  <a:schemeClr val="bg1"/>
                </a:solidFill>
                <a:latin typeface="Lato"/>
                <a:ea typeface="Lato"/>
                <a:cs typeface="Lato"/>
              </a:rPr>
              <a:t>critic</a:t>
            </a:r>
            <a:endParaRPr lang="el-GR">
              <a:solidFill>
                <a:schemeClr val="bg1"/>
              </a:solidFill>
              <a:latin typeface="Lato"/>
              <a:ea typeface="Lato"/>
              <a:cs typeface="Lato"/>
            </a:endParaRPr>
          </a:p>
          <a:p>
            <a:pPr marL="685800" indent="-400050" algn="just">
              <a:buClr>
                <a:srgbClr val="FDE047"/>
              </a:buClr>
              <a:buFont typeface="+mj-lt"/>
              <a:buAutoNum type="romanUcPeriod"/>
              <a:tabLst>
                <a:tab pos="5772150" algn="l"/>
              </a:tabLst>
            </a:pPr>
            <a:r>
              <a:rPr lang="el-GR">
                <a:solidFill>
                  <a:schemeClr val="bg1"/>
                </a:solidFill>
                <a:latin typeface="Lato"/>
                <a:ea typeface="Lato"/>
                <a:cs typeface="Lato"/>
              </a:rPr>
              <a:t>In GRPO the </a:t>
            </a:r>
            <a:r>
              <a:rPr lang="el-GR" err="1">
                <a:solidFill>
                  <a:schemeClr val="bg1"/>
                </a:solidFill>
                <a:latin typeface="Lato"/>
                <a:ea typeface="Lato"/>
                <a:cs typeface="Lato"/>
              </a:rPr>
              <a:t>reference</a:t>
            </a:r>
            <a:r>
              <a:rPr lang="el-GR">
                <a:solidFill>
                  <a:schemeClr val="bg1"/>
                </a:solidFill>
                <a:latin typeface="Lato"/>
                <a:ea typeface="Lato"/>
                <a:cs typeface="Lato"/>
              </a:rPr>
              <a:t> </a:t>
            </a:r>
            <a:r>
              <a:rPr lang="el-GR" err="1">
                <a:solidFill>
                  <a:schemeClr val="bg1"/>
                </a:solidFill>
                <a:latin typeface="Lato"/>
                <a:ea typeface="Lato"/>
                <a:cs typeface="Lato"/>
              </a:rPr>
              <a:t>model</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extracted</a:t>
            </a:r>
            <a:r>
              <a:rPr lang="el-GR">
                <a:solidFill>
                  <a:schemeClr val="bg1"/>
                </a:solidFill>
                <a:latin typeface="Lato"/>
                <a:ea typeface="Lato"/>
                <a:cs typeface="Lato"/>
              </a:rPr>
              <a:t> </a:t>
            </a:r>
            <a:r>
              <a:rPr lang="el-GR" err="1">
                <a:solidFill>
                  <a:schemeClr val="bg1"/>
                </a:solidFill>
                <a:latin typeface="Lato"/>
                <a:ea typeface="Lato"/>
                <a:cs typeface="Lato"/>
              </a:rPr>
              <a:t>from</a:t>
            </a:r>
            <a:r>
              <a:rPr lang="el-GR">
                <a:solidFill>
                  <a:schemeClr val="bg1"/>
                </a:solidFill>
                <a:latin typeface="Lato"/>
                <a:ea typeface="Lato"/>
                <a:cs typeface="Lato"/>
              </a:rPr>
              <a:t> the </a:t>
            </a:r>
            <a:r>
              <a:rPr lang="el-GR" err="1">
                <a:solidFill>
                  <a:schemeClr val="bg1"/>
                </a:solidFill>
                <a:latin typeface="Lato"/>
                <a:ea typeface="Lato"/>
                <a:cs typeface="Lato"/>
              </a:rPr>
              <a:t>policy</a:t>
            </a:r>
            <a:r>
              <a:rPr lang="el-GR">
                <a:solidFill>
                  <a:schemeClr val="bg1"/>
                </a:solidFill>
                <a:latin typeface="Lato"/>
                <a:ea typeface="Lato"/>
                <a:cs typeface="Lato"/>
              </a:rPr>
              <a:t> </a:t>
            </a:r>
            <a:r>
              <a:rPr lang="el-GR" err="1">
                <a:solidFill>
                  <a:schemeClr val="bg1"/>
                </a:solidFill>
                <a:latin typeface="Lato"/>
                <a:ea typeface="Lato"/>
                <a:cs typeface="Lato"/>
              </a:rPr>
              <a:t>model</a:t>
            </a:r>
            <a:endParaRPr lang="el-GR">
              <a:solidFill>
                <a:schemeClr val="bg1"/>
              </a:solidFill>
              <a:latin typeface="Lato"/>
              <a:ea typeface="Lato"/>
              <a:cs typeface="Lato"/>
            </a:endParaRPr>
          </a:p>
          <a:p>
            <a:pPr marL="685800" indent="-400050" algn="just" defTabSz="768350">
              <a:buClr>
                <a:srgbClr val="FDE047"/>
              </a:buClr>
              <a:buFont typeface="+mj-lt"/>
              <a:buAutoNum type="romanUcPeriod"/>
              <a:tabLst>
                <a:tab pos="5029200" algn="l"/>
              </a:tabLst>
            </a:pPr>
            <a:r>
              <a:rPr lang="el-GR">
                <a:solidFill>
                  <a:schemeClr val="bg1"/>
                </a:solidFill>
                <a:latin typeface="Lato"/>
                <a:ea typeface="Lato"/>
                <a:cs typeface="Lato"/>
              </a:rPr>
              <a:t>In GRPO the KL-</a:t>
            </a:r>
            <a:r>
              <a:rPr lang="el-GR" err="1">
                <a:solidFill>
                  <a:schemeClr val="bg1"/>
                </a:solidFill>
                <a:latin typeface="Lato"/>
                <a:ea typeface="Lato"/>
                <a:cs typeface="Lato"/>
              </a:rPr>
              <a:t>divergence</a:t>
            </a:r>
            <a:r>
              <a:rPr lang="el-GR">
                <a:solidFill>
                  <a:schemeClr val="bg1"/>
                </a:solidFill>
                <a:latin typeface="Lato"/>
                <a:ea typeface="Lato"/>
                <a:cs typeface="Lato"/>
              </a:rPr>
              <a:t> </a:t>
            </a:r>
            <a:r>
              <a:rPr lang="el-GR" err="1">
                <a:solidFill>
                  <a:schemeClr val="bg1"/>
                </a:solidFill>
                <a:latin typeface="Lato"/>
                <a:ea typeface="Lato"/>
                <a:cs typeface="Lato"/>
              </a:rPr>
              <a:t>penalty</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added</a:t>
            </a:r>
            <a:r>
              <a:rPr lang="el-GR">
                <a:solidFill>
                  <a:schemeClr val="bg1"/>
                </a:solidFill>
                <a:latin typeface="Lato"/>
                <a:ea typeface="Lato"/>
                <a:cs typeface="Lato"/>
              </a:rPr>
              <a:t> </a:t>
            </a:r>
            <a:r>
              <a:rPr lang="el-GR" err="1">
                <a:solidFill>
                  <a:schemeClr val="bg1"/>
                </a:solidFill>
                <a:latin typeface="Lato"/>
                <a:ea typeface="Lato"/>
                <a:cs typeface="Lato"/>
              </a:rPr>
              <a:t>directly</a:t>
            </a:r>
            <a:r>
              <a:rPr lang="el-GR">
                <a:solidFill>
                  <a:schemeClr val="bg1"/>
                </a:solidFill>
                <a:latin typeface="Lato"/>
                <a:ea typeface="Lato"/>
                <a:cs typeface="Lato"/>
              </a:rPr>
              <a:t> in </a:t>
            </a:r>
            <a:endParaRPr lang="en-US">
              <a:solidFill>
                <a:schemeClr val="bg1"/>
              </a:solidFill>
              <a:latin typeface="Lato"/>
              <a:ea typeface="Lato"/>
              <a:cs typeface="Lato"/>
            </a:endParaRPr>
          </a:p>
          <a:p>
            <a:pPr marL="285750" algn="just" defTabSz="768350">
              <a:buClr>
                <a:srgbClr val="FDE047"/>
              </a:buClr>
              <a:tabLst>
                <a:tab pos="5029200" algn="l"/>
              </a:tabLst>
            </a:pPr>
            <a:r>
              <a:rPr lang="en-US">
                <a:solidFill>
                  <a:schemeClr val="bg1"/>
                </a:solidFill>
                <a:latin typeface="Lato"/>
                <a:ea typeface="Lato"/>
                <a:cs typeface="Lato"/>
              </a:rPr>
              <a:t>         </a:t>
            </a:r>
            <a:r>
              <a:rPr lang="el-GR">
                <a:solidFill>
                  <a:schemeClr val="bg1"/>
                </a:solidFill>
                <a:latin typeface="Lato"/>
                <a:ea typeface="Lato"/>
                <a:cs typeface="Lato"/>
              </a:rPr>
              <a:t>the </a:t>
            </a:r>
            <a:r>
              <a:rPr lang="el-GR" err="1">
                <a:solidFill>
                  <a:schemeClr val="bg1"/>
                </a:solidFill>
                <a:latin typeface="Lato"/>
                <a:ea typeface="Lato"/>
                <a:cs typeface="Lato"/>
              </a:rPr>
              <a:t>optimization</a:t>
            </a:r>
            <a:r>
              <a:rPr lang="el-GR">
                <a:solidFill>
                  <a:schemeClr val="bg1"/>
                </a:solidFill>
                <a:latin typeface="Lato"/>
                <a:ea typeface="Lato"/>
                <a:cs typeface="Lato"/>
              </a:rPr>
              <a:t> </a:t>
            </a:r>
            <a:r>
              <a:rPr lang="el-GR" err="1">
                <a:solidFill>
                  <a:schemeClr val="bg1"/>
                </a:solidFill>
                <a:latin typeface="Lato"/>
                <a:ea typeface="Lato"/>
                <a:cs typeface="Lato"/>
              </a:rPr>
              <a:t>objective</a:t>
            </a:r>
            <a:endParaRPr lang="en-US">
              <a:solidFill>
                <a:schemeClr val="bg1"/>
              </a:solidFill>
              <a:latin typeface="Lato"/>
              <a:ea typeface="Lato"/>
              <a:cs typeface="Lato"/>
            </a:endParaRPr>
          </a:p>
        </p:txBody>
      </p:sp>
      <p:sp>
        <p:nvSpPr>
          <p:cNvPr id="3" name="TextBox 2">
            <a:extLst>
              <a:ext uri="{FF2B5EF4-FFF2-40B4-BE49-F238E27FC236}">
                <a16:creationId xmlns:a16="http://schemas.microsoft.com/office/drawing/2014/main" id="{765A2097-CA75-1C70-99E8-DB07FB4CE075}"/>
              </a:ext>
            </a:extLst>
          </p:cNvPr>
          <p:cNvSpPr txBox="1"/>
          <p:nvPr/>
        </p:nvSpPr>
        <p:spPr>
          <a:xfrm>
            <a:off x="400050" y="1143000"/>
            <a:ext cx="5296648"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2400" b="1" err="1">
                <a:solidFill>
                  <a:srgbClr val="FDE047"/>
                </a:solidFill>
                <a:latin typeface="Lato"/>
                <a:ea typeface="Lato"/>
                <a:cs typeface="Lato"/>
              </a:rPr>
              <a:t>Proximal</a:t>
            </a:r>
            <a:r>
              <a:rPr lang="el-GR" sz="2400" b="1">
                <a:solidFill>
                  <a:srgbClr val="FDE047"/>
                </a:solidFill>
                <a:latin typeface="Lato"/>
                <a:ea typeface="Lato"/>
                <a:cs typeface="Lato"/>
              </a:rPr>
              <a:t> Policy </a:t>
            </a:r>
            <a:r>
              <a:rPr lang="el-GR" sz="2400" b="1" err="1">
                <a:solidFill>
                  <a:srgbClr val="FDE047"/>
                </a:solidFill>
                <a:latin typeface="Lato"/>
                <a:ea typeface="Lato"/>
                <a:cs typeface="Lato"/>
              </a:rPr>
              <a:t>Optimization</a:t>
            </a:r>
            <a:r>
              <a:rPr lang="el-GR" sz="2400" b="1">
                <a:solidFill>
                  <a:srgbClr val="FDE047"/>
                </a:solidFill>
                <a:latin typeface="Lato"/>
                <a:ea typeface="Lato"/>
                <a:cs typeface="Lato"/>
              </a:rPr>
              <a:t> (PPO)</a:t>
            </a:r>
          </a:p>
          <a:p>
            <a:endParaRPr lang="el-GR">
              <a:latin typeface="Lato"/>
              <a:ea typeface="Lato"/>
              <a:cs typeface="Lato"/>
            </a:endParaRPr>
          </a:p>
          <a:p>
            <a:r>
              <a:rPr lang="el-GR">
                <a:solidFill>
                  <a:srgbClr val="C084FC"/>
                </a:solidFill>
                <a:latin typeface="Lato"/>
                <a:ea typeface="Lato"/>
                <a:cs typeface="Lato"/>
              </a:rPr>
              <a:t>PPO </a:t>
            </a:r>
            <a:r>
              <a:rPr lang="el-GR" err="1">
                <a:solidFill>
                  <a:srgbClr val="C084FC"/>
                </a:solidFill>
                <a:latin typeface="Lato"/>
                <a:ea typeface="Lato"/>
                <a:cs typeface="Lato"/>
              </a:rPr>
              <a:t>is</a:t>
            </a:r>
            <a:r>
              <a:rPr lang="el-GR">
                <a:solidFill>
                  <a:srgbClr val="C084FC"/>
                </a:solidFill>
                <a:latin typeface="Lato"/>
                <a:ea typeface="Lato"/>
                <a:cs typeface="Lato"/>
              </a:rPr>
              <a:t> </a:t>
            </a:r>
            <a:r>
              <a:rPr lang="el-GR" err="1">
                <a:solidFill>
                  <a:srgbClr val="C084FC"/>
                </a:solidFill>
                <a:latin typeface="Lato"/>
                <a:ea typeface="Lato"/>
                <a:cs typeface="Lato"/>
              </a:rPr>
              <a:t>an</a:t>
            </a:r>
            <a:r>
              <a:rPr lang="el-GR">
                <a:solidFill>
                  <a:srgbClr val="C084FC"/>
                </a:solidFill>
                <a:latin typeface="Lato"/>
                <a:ea typeface="Lato"/>
                <a:cs typeface="Lato"/>
              </a:rPr>
              <a:t> actor–</a:t>
            </a:r>
            <a:r>
              <a:rPr lang="el-GR" err="1">
                <a:solidFill>
                  <a:srgbClr val="C084FC"/>
                </a:solidFill>
                <a:latin typeface="Lato"/>
                <a:ea typeface="Lato"/>
                <a:cs typeface="Lato"/>
              </a:rPr>
              <a:t>critic</a:t>
            </a:r>
            <a:r>
              <a:rPr lang="el-GR">
                <a:solidFill>
                  <a:srgbClr val="C084FC"/>
                </a:solidFill>
                <a:latin typeface="Lato"/>
                <a:ea typeface="Lato"/>
                <a:cs typeface="Lato"/>
              </a:rPr>
              <a:t> </a:t>
            </a:r>
            <a:r>
              <a:rPr lang="el-GR" err="1">
                <a:solidFill>
                  <a:srgbClr val="C084FC"/>
                </a:solidFill>
                <a:latin typeface="Lato"/>
                <a:ea typeface="Lato"/>
                <a:cs typeface="Lato"/>
              </a:rPr>
              <a:t>algorithm</a:t>
            </a:r>
            <a:r>
              <a:rPr lang="el-GR">
                <a:solidFill>
                  <a:srgbClr val="C084FC"/>
                </a:solidFill>
                <a:latin typeface="Lato"/>
                <a:ea typeface="Lato"/>
                <a:cs typeface="Lato"/>
              </a:rPr>
              <a:t> </a:t>
            </a:r>
            <a:r>
              <a:rPr lang="el-GR" err="1">
                <a:solidFill>
                  <a:srgbClr val="C084FC"/>
                </a:solidFill>
                <a:latin typeface="Lato"/>
                <a:ea typeface="Lato"/>
                <a:cs typeface="Lato"/>
              </a:rPr>
              <a:t>consisting</a:t>
            </a:r>
            <a:r>
              <a:rPr lang="el-GR">
                <a:solidFill>
                  <a:srgbClr val="C084FC"/>
                </a:solidFill>
                <a:latin typeface="Lato"/>
                <a:ea typeface="Lato"/>
                <a:cs typeface="Lato"/>
              </a:rPr>
              <a:t> of:</a:t>
            </a:r>
            <a:endParaRPr lang="en-US">
              <a:solidFill>
                <a:srgbClr val="C084FC"/>
              </a:solidFill>
              <a:latin typeface="Lato"/>
              <a:ea typeface="Lato"/>
              <a:cs typeface="Lato"/>
            </a:endParaRPr>
          </a:p>
          <a:p>
            <a:endParaRPr lang="el-GR">
              <a:solidFill>
                <a:srgbClr val="C084FC"/>
              </a:solidFill>
              <a:latin typeface="Lato"/>
              <a:ea typeface="Lato"/>
              <a:cs typeface="Lato"/>
            </a:endParaRPr>
          </a:p>
          <a:p>
            <a:pPr marL="457200" lvl="1" indent="-285750">
              <a:buClr>
                <a:srgbClr val="FFC000"/>
              </a:buClr>
              <a:buFont typeface="+mj-lt"/>
              <a:buAutoNum type="romanUcPeriod"/>
            </a:pPr>
            <a:r>
              <a:rPr lang="en-US">
                <a:solidFill>
                  <a:schemeClr val="bg1"/>
                </a:solidFill>
                <a:latin typeface="Lato"/>
                <a:ea typeface="Lato"/>
                <a:cs typeface="Lato"/>
              </a:rPr>
              <a:t> </a:t>
            </a:r>
            <a:r>
              <a:rPr lang="el-GR">
                <a:solidFill>
                  <a:schemeClr val="bg1"/>
                </a:solidFill>
                <a:latin typeface="Lato"/>
                <a:ea typeface="Lato"/>
                <a:cs typeface="Lato"/>
              </a:rPr>
              <a:t>The </a:t>
            </a:r>
            <a:r>
              <a:rPr lang="en-US">
                <a:solidFill>
                  <a:schemeClr val="bg1"/>
                </a:solidFill>
                <a:latin typeface="Lato"/>
                <a:ea typeface="Lato"/>
                <a:cs typeface="Lato"/>
              </a:rPr>
              <a:t>C</a:t>
            </a:r>
            <a:r>
              <a:rPr lang="el-GR" err="1">
                <a:solidFill>
                  <a:schemeClr val="bg1"/>
                </a:solidFill>
                <a:latin typeface="Lato"/>
                <a:ea typeface="Lato"/>
                <a:cs typeface="Lato"/>
              </a:rPr>
              <a:t>urrent</a:t>
            </a:r>
            <a:r>
              <a:rPr lang="el-GR">
                <a:solidFill>
                  <a:schemeClr val="bg1"/>
                </a:solidFill>
                <a:latin typeface="Lato"/>
                <a:ea typeface="Lato"/>
                <a:cs typeface="Lato"/>
              </a:rPr>
              <a:t> </a:t>
            </a:r>
            <a:r>
              <a:rPr lang="en-US">
                <a:solidFill>
                  <a:schemeClr val="bg1"/>
                </a:solidFill>
                <a:latin typeface="Lato"/>
                <a:ea typeface="Lato"/>
                <a:cs typeface="Lato"/>
              </a:rPr>
              <a:t>P</a:t>
            </a:r>
            <a:r>
              <a:rPr lang="el-GR" err="1">
                <a:solidFill>
                  <a:schemeClr val="bg1"/>
                </a:solidFill>
                <a:latin typeface="Lato"/>
                <a:ea typeface="Lato"/>
                <a:cs typeface="Lato"/>
              </a:rPr>
              <a:t>olicy</a:t>
            </a:r>
            <a:r>
              <a:rPr lang="el-GR">
                <a:solidFill>
                  <a:schemeClr val="bg1"/>
                </a:solidFill>
                <a:latin typeface="Lato"/>
                <a:ea typeface="Lato"/>
                <a:cs typeface="Lato"/>
              </a:rPr>
              <a:t> </a:t>
            </a:r>
            <a:r>
              <a:rPr lang="en-US">
                <a:solidFill>
                  <a:schemeClr val="bg1"/>
                </a:solidFill>
                <a:latin typeface="Lato"/>
                <a:ea typeface="Lato"/>
                <a:cs typeface="Lato"/>
              </a:rPr>
              <a:t>M</a:t>
            </a:r>
            <a:r>
              <a:rPr lang="el-GR" err="1">
                <a:solidFill>
                  <a:schemeClr val="bg1"/>
                </a:solidFill>
                <a:latin typeface="Lato"/>
                <a:ea typeface="Lato"/>
                <a:cs typeface="Lato"/>
              </a:rPr>
              <a:t>odel</a:t>
            </a:r>
            <a:endParaRPr lang="el-GR">
              <a:solidFill>
                <a:schemeClr val="bg1"/>
              </a:solidFill>
              <a:latin typeface="Lato"/>
              <a:ea typeface="Lato"/>
              <a:cs typeface="Lato"/>
            </a:endParaRPr>
          </a:p>
          <a:p>
            <a:pPr marL="457200" lvl="1" indent="-285750">
              <a:buClr>
                <a:srgbClr val="FFC000"/>
              </a:buClr>
              <a:buFont typeface="+mj-lt"/>
              <a:buAutoNum type="romanUcPeriod"/>
            </a:pPr>
            <a:r>
              <a:rPr lang="en-US">
                <a:solidFill>
                  <a:schemeClr val="bg1"/>
                </a:solidFill>
                <a:latin typeface="Lato"/>
                <a:ea typeface="Lato"/>
                <a:cs typeface="Lato"/>
              </a:rPr>
              <a:t> O</a:t>
            </a:r>
            <a:r>
              <a:rPr lang="el-GR" err="1">
                <a:solidFill>
                  <a:schemeClr val="bg1"/>
                </a:solidFill>
                <a:latin typeface="Lato"/>
                <a:ea typeface="Lato"/>
                <a:cs typeface="Lato"/>
              </a:rPr>
              <a:t>ld</a:t>
            </a:r>
            <a:r>
              <a:rPr lang="el-GR">
                <a:solidFill>
                  <a:schemeClr val="bg1"/>
                </a:solidFill>
                <a:latin typeface="Lato"/>
                <a:ea typeface="Lato"/>
                <a:cs typeface="Lato"/>
              </a:rPr>
              <a:t> </a:t>
            </a:r>
            <a:r>
              <a:rPr lang="en-US">
                <a:solidFill>
                  <a:schemeClr val="bg1"/>
                </a:solidFill>
                <a:latin typeface="Lato"/>
                <a:ea typeface="Lato"/>
                <a:cs typeface="Lato"/>
              </a:rPr>
              <a:t>P</a:t>
            </a:r>
            <a:r>
              <a:rPr lang="el-GR" err="1">
                <a:solidFill>
                  <a:schemeClr val="bg1"/>
                </a:solidFill>
                <a:latin typeface="Lato"/>
                <a:ea typeface="Lato"/>
                <a:cs typeface="Lato"/>
              </a:rPr>
              <a:t>olicy</a:t>
            </a:r>
            <a:r>
              <a:rPr lang="el-GR">
                <a:solidFill>
                  <a:schemeClr val="bg1"/>
                </a:solidFill>
                <a:latin typeface="Lato"/>
                <a:ea typeface="Lato"/>
                <a:cs typeface="Lato"/>
              </a:rPr>
              <a:t> </a:t>
            </a:r>
            <a:r>
              <a:rPr lang="en-US">
                <a:solidFill>
                  <a:schemeClr val="bg1"/>
                </a:solidFill>
                <a:latin typeface="Lato"/>
                <a:ea typeface="Lato"/>
                <a:cs typeface="Lato"/>
              </a:rPr>
              <a:t>M</a:t>
            </a:r>
            <a:r>
              <a:rPr lang="el-GR" err="1">
                <a:solidFill>
                  <a:schemeClr val="bg1"/>
                </a:solidFill>
                <a:latin typeface="Lato"/>
                <a:ea typeface="Lato"/>
                <a:cs typeface="Lato"/>
              </a:rPr>
              <a:t>odel</a:t>
            </a:r>
            <a:endParaRPr lang="el-GR">
              <a:solidFill>
                <a:schemeClr val="bg1"/>
              </a:solidFill>
              <a:latin typeface="Lato"/>
              <a:ea typeface="Lato"/>
              <a:cs typeface="Lato"/>
            </a:endParaRPr>
          </a:p>
          <a:p>
            <a:pPr marL="514350" lvl="1" indent="-342900">
              <a:buClr>
                <a:srgbClr val="FFC000"/>
              </a:buClr>
              <a:buFont typeface="+mj-lt"/>
              <a:buAutoNum type="romanUcPeriod"/>
            </a:pPr>
            <a:r>
              <a:rPr lang="el-GR">
                <a:solidFill>
                  <a:schemeClr val="bg1"/>
                </a:solidFill>
                <a:latin typeface="Lato"/>
                <a:ea typeface="Lato"/>
                <a:cs typeface="Lato"/>
              </a:rPr>
              <a:t>The </a:t>
            </a:r>
            <a:r>
              <a:rPr lang="en-US">
                <a:solidFill>
                  <a:schemeClr val="bg1"/>
                </a:solidFill>
                <a:latin typeface="Lato"/>
                <a:ea typeface="Lato"/>
                <a:cs typeface="Lato"/>
              </a:rPr>
              <a:t>Reference Model</a:t>
            </a:r>
          </a:p>
          <a:p>
            <a:pPr marL="171450" lvl="1">
              <a:buClr>
                <a:srgbClr val="FFC000"/>
              </a:buClr>
            </a:pPr>
            <a:endParaRPr lang="en-US">
              <a:solidFill>
                <a:schemeClr val="bg1"/>
              </a:solidFill>
              <a:latin typeface="Lato"/>
              <a:ea typeface="Lato"/>
              <a:cs typeface="Lato"/>
            </a:endParaRPr>
          </a:p>
          <a:p>
            <a:pPr lvl="1">
              <a:buClr>
                <a:srgbClr val="FFC000"/>
              </a:buClr>
            </a:pPr>
            <a:r>
              <a:rPr lang="el-GR" err="1">
                <a:solidFill>
                  <a:srgbClr val="C084FC"/>
                </a:solidFill>
                <a:latin typeface="Lato"/>
                <a:ea typeface="Lato"/>
                <a:cs typeface="Lato"/>
              </a:rPr>
              <a:t>where</a:t>
            </a:r>
            <a:r>
              <a:rPr lang="el-GR">
                <a:solidFill>
                  <a:srgbClr val="C084FC"/>
                </a:solidFill>
                <a:latin typeface="Lato"/>
                <a:ea typeface="Lato"/>
                <a:cs typeface="Lato"/>
              </a:rPr>
              <a:t>:</a:t>
            </a:r>
            <a:endParaRPr lang="en-US">
              <a:solidFill>
                <a:srgbClr val="C084FC"/>
              </a:solidFill>
              <a:latin typeface="Lato"/>
              <a:ea typeface="Lato"/>
              <a:cs typeface="Lato"/>
            </a:endParaRPr>
          </a:p>
          <a:p>
            <a:pPr lvl="1">
              <a:buClr>
                <a:srgbClr val="FFC000"/>
              </a:buClr>
            </a:pPr>
            <a:endParaRPr lang="el-GR">
              <a:solidFill>
                <a:srgbClr val="C084FC"/>
              </a:solidFill>
              <a:latin typeface="Lato"/>
              <a:ea typeface="Lato"/>
              <a:cs typeface="Lato"/>
            </a:endParaRPr>
          </a:p>
          <a:p>
            <a:pPr marL="457200" indent="-285750" algn="just">
              <a:buClr>
                <a:srgbClr val="FFC000"/>
              </a:buClr>
              <a:buFont typeface="+mj-lt"/>
              <a:buAutoNum type="romanUcPeriod"/>
            </a:pPr>
            <a:r>
              <a:rPr lang="el-GR" err="1">
                <a:solidFill>
                  <a:schemeClr val="bg1"/>
                </a:solidFill>
                <a:latin typeface="Lato"/>
                <a:ea typeface="Lato"/>
                <a:cs typeface="Lato"/>
              </a:rPr>
              <a:t>Multiple</a:t>
            </a:r>
            <a:r>
              <a:rPr lang="el-GR">
                <a:solidFill>
                  <a:schemeClr val="bg1"/>
                </a:solidFill>
                <a:latin typeface="Lato"/>
                <a:ea typeface="Lato"/>
                <a:cs typeface="Lato"/>
              </a:rPr>
              <a:t> </a:t>
            </a:r>
            <a:r>
              <a:rPr lang="el-GR" err="1">
                <a:solidFill>
                  <a:schemeClr val="bg1"/>
                </a:solidFill>
                <a:latin typeface="Lato"/>
                <a:ea typeface="Lato"/>
                <a:cs typeface="Lato"/>
              </a:rPr>
              <a:t>parallel</a:t>
            </a:r>
            <a:r>
              <a:rPr lang="el-GR">
                <a:solidFill>
                  <a:schemeClr val="bg1"/>
                </a:solidFill>
                <a:latin typeface="Lato"/>
                <a:ea typeface="Lato"/>
                <a:cs typeface="Lato"/>
              </a:rPr>
              <a:t> </a:t>
            </a:r>
            <a:r>
              <a:rPr lang="el-GR" err="1">
                <a:solidFill>
                  <a:schemeClr val="bg1"/>
                </a:solidFill>
                <a:latin typeface="Lato"/>
                <a:ea typeface="Lato"/>
                <a:cs typeface="Lato"/>
              </a:rPr>
              <a:t>actors</a:t>
            </a:r>
            <a:r>
              <a:rPr lang="el-GR">
                <a:solidFill>
                  <a:schemeClr val="bg1"/>
                </a:solidFill>
                <a:latin typeface="Lato"/>
                <a:ea typeface="Lato"/>
                <a:cs typeface="Lato"/>
              </a:rPr>
              <a:t> </a:t>
            </a:r>
            <a:r>
              <a:rPr lang="el-GR" err="1">
                <a:solidFill>
                  <a:schemeClr val="bg1"/>
                </a:solidFill>
                <a:latin typeface="Lato"/>
                <a:ea typeface="Lato"/>
                <a:cs typeface="Lato"/>
              </a:rPr>
              <a:t>collect</a:t>
            </a:r>
            <a:r>
              <a:rPr lang="el-GR">
                <a:solidFill>
                  <a:schemeClr val="bg1"/>
                </a:solidFill>
                <a:latin typeface="Lato"/>
                <a:ea typeface="Lato"/>
                <a:cs typeface="Lato"/>
              </a:rPr>
              <a:t> T </a:t>
            </a:r>
            <a:r>
              <a:rPr lang="el-GR" err="1">
                <a:solidFill>
                  <a:schemeClr val="bg1"/>
                </a:solidFill>
                <a:latin typeface="Lato"/>
                <a:ea typeface="Lato"/>
                <a:cs typeface="Lato"/>
              </a:rPr>
              <a:t>timesteps</a:t>
            </a:r>
            <a:r>
              <a:rPr lang="el-GR">
                <a:solidFill>
                  <a:schemeClr val="bg1"/>
                </a:solidFill>
                <a:latin typeface="Lato"/>
                <a:ea typeface="Lato"/>
                <a:cs typeface="Lato"/>
              </a:rPr>
              <a:t> of </a:t>
            </a:r>
            <a:r>
              <a:rPr lang="el-GR" err="1">
                <a:solidFill>
                  <a:schemeClr val="bg1"/>
                </a:solidFill>
                <a:latin typeface="Lato"/>
                <a:ea typeface="Lato"/>
                <a:cs typeface="Lato"/>
              </a:rPr>
              <a:t>data</a:t>
            </a:r>
            <a:r>
              <a:rPr lang="el-GR">
                <a:solidFill>
                  <a:schemeClr val="bg1"/>
                </a:solidFill>
                <a:latin typeface="Lato"/>
                <a:ea typeface="Lato"/>
                <a:cs typeface="Lato"/>
              </a:rPr>
              <a:t>.</a:t>
            </a:r>
          </a:p>
          <a:p>
            <a:pPr marL="457200" indent="-285750" algn="just">
              <a:buClr>
                <a:srgbClr val="FFC000"/>
              </a:buClr>
              <a:buFont typeface="+mj-lt"/>
              <a:buAutoNum type="romanUcPeriod"/>
            </a:pPr>
            <a:r>
              <a:rPr lang="el-GR" err="1">
                <a:solidFill>
                  <a:schemeClr val="bg1"/>
                </a:solidFill>
                <a:latin typeface="Lato"/>
                <a:ea typeface="Lato"/>
                <a:cs typeface="Lato"/>
              </a:rPr>
              <a:t>This</a:t>
            </a:r>
            <a:r>
              <a:rPr lang="el-GR">
                <a:solidFill>
                  <a:schemeClr val="bg1"/>
                </a:solidFill>
                <a:latin typeface="Lato"/>
                <a:ea typeface="Lato"/>
                <a:cs typeface="Lato"/>
              </a:rPr>
              <a:t> </a:t>
            </a:r>
            <a:r>
              <a:rPr lang="el-GR" err="1">
                <a:solidFill>
                  <a:schemeClr val="bg1"/>
                </a:solidFill>
                <a:latin typeface="Lato"/>
                <a:ea typeface="Lato"/>
                <a:cs typeface="Lato"/>
              </a:rPr>
              <a:t>collected</a:t>
            </a:r>
            <a:r>
              <a:rPr lang="el-GR">
                <a:solidFill>
                  <a:schemeClr val="bg1"/>
                </a:solidFill>
                <a:latin typeface="Lato"/>
                <a:ea typeface="Lato"/>
                <a:cs typeface="Lato"/>
              </a:rPr>
              <a:t> </a:t>
            </a:r>
            <a:r>
              <a:rPr lang="el-GR" err="1">
                <a:solidFill>
                  <a:schemeClr val="bg1"/>
                </a:solidFill>
                <a:latin typeface="Lato"/>
                <a:ea typeface="Lato"/>
                <a:cs typeface="Lato"/>
              </a:rPr>
              <a:t>data</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used</a:t>
            </a:r>
            <a:r>
              <a:rPr lang="el-GR">
                <a:solidFill>
                  <a:schemeClr val="bg1"/>
                </a:solidFill>
                <a:latin typeface="Lato"/>
                <a:ea typeface="Lato"/>
                <a:cs typeface="Lato"/>
              </a:rPr>
              <a:t> </a:t>
            </a:r>
            <a:r>
              <a:rPr lang="el-GR" err="1">
                <a:solidFill>
                  <a:schemeClr val="bg1"/>
                </a:solidFill>
                <a:latin typeface="Lato"/>
                <a:ea typeface="Lato"/>
                <a:cs typeface="Lato"/>
              </a:rPr>
              <a:t>to</a:t>
            </a:r>
            <a:r>
              <a:rPr lang="el-GR">
                <a:solidFill>
                  <a:schemeClr val="bg1"/>
                </a:solidFill>
                <a:latin typeface="Lato"/>
                <a:ea typeface="Lato"/>
                <a:cs typeface="Lato"/>
              </a:rPr>
              <a:t> </a:t>
            </a:r>
            <a:r>
              <a:rPr lang="el-GR" err="1">
                <a:solidFill>
                  <a:schemeClr val="bg1"/>
                </a:solidFill>
                <a:latin typeface="Lato"/>
                <a:ea typeface="Lato"/>
                <a:cs typeface="Lato"/>
              </a:rPr>
              <a:t>construct</a:t>
            </a:r>
            <a:r>
              <a:rPr lang="el-GR">
                <a:solidFill>
                  <a:schemeClr val="bg1"/>
                </a:solidFill>
                <a:latin typeface="Lato"/>
                <a:ea typeface="Lato"/>
                <a:cs typeface="Lato"/>
              </a:rPr>
              <a:t> the </a:t>
            </a:r>
            <a:r>
              <a:rPr lang="el-GR" err="1">
                <a:solidFill>
                  <a:schemeClr val="bg1"/>
                </a:solidFill>
                <a:latin typeface="Lato"/>
                <a:ea typeface="Lato"/>
                <a:cs typeface="Lato"/>
              </a:rPr>
              <a:t>surrogate</a:t>
            </a:r>
            <a:r>
              <a:rPr lang="el-GR">
                <a:solidFill>
                  <a:schemeClr val="bg1"/>
                </a:solidFill>
                <a:latin typeface="Lato"/>
                <a:ea typeface="Lato"/>
                <a:cs typeface="Lato"/>
              </a:rPr>
              <a:t> </a:t>
            </a:r>
            <a:r>
              <a:rPr lang="el-GR" err="1">
                <a:solidFill>
                  <a:schemeClr val="bg1"/>
                </a:solidFill>
                <a:latin typeface="Lato"/>
                <a:ea typeface="Lato"/>
                <a:cs typeface="Lato"/>
              </a:rPr>
              <a:t>loss</a:t>
            </a:r>
            <a:r>
              <a:rPr lang="el-GR">
                <a:solidFill>
                  <a:schemeClr val="bg1"/>
                </a:solidFill>
                <a:latin typeface="Lato"/>
                <a:ea typeface="Lato"/>
                <a:cs typeface="Lato"/>
              </a:rPr>
              <a:t>.</a:t>
            </a:r>
          </a:p>
          <a:p>
            <a:pPr marL="457200" indent="-285750" algn="just">
              <a:buClr>
                <a:srgbClr val="FFC000"/>
              </a:buClr>
              <a:buFont typeface="+mj-lt"/>
              <a:buAutoNum type="romanUcPeriod"/>
            </a:pPr>
            <a:r>
              <a:rPr lang="el-GR">
                <a:solidFill>
                  <a:schemeClr val="bg1"/>
                </a:solidFill>
                <a:latin typeface="Lato"/>
                <a:ea typeface="Lato"/>
                <a:cs typeface="Lato"/>
              </a:rPr>
              <a:t>The </a:t>
            </a:r>
            <a:r>
              <a:rPr lang="el-GR" err="1">
                <a:solidFill>
                  <a:schemeClr val="bg1"/>
                </a:solidFill>
                <a:latin typeface="Lato"/>
                <a:ea typeface="Lato"/>
                <a:cs typeface="Lato"/>
              </a:rPr>
              <a:t>loss</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optimized</a:t>
            </a:r>
            <a:r>
              <a:rPr lang="el-GR">
                <a:solidFill>
                  <a:schemeClr val="bg1"/>
                </a:solidFill>
                <a:latin typeface="Lato"/>
                <a:ea typeface="Lato"/>
                <a:cs typeface="Lato"/>
              </a:rPr>
              <a:t> </a:t>
            </a:r>
            <a:r>
              <a:rPr lang="el-GR" err="1">
                <a:solidFill>
                  <a:schemeClr val="bg1"/>
                </a:solidFill>
                <a:latin typeface="Lato"/>
                <a:ea typeface="Lato"/>
                <a:cs typeface="Lato"/>
              </a:rPr>
              <a:t>over</a:t>
            </a:r>
            <a:r>
              <a:rPr lang="el-GR">
                <a:solidFill>
                  <a:schemeClr val="bg1"/>
                </a:solidFill>
                <a:latin typeface="Lato"/>
                <a:ea typeface="Lato"/>
                <a:cs typeface="Lato"/>
              </a:rPr>
              <a:t> K </a:t>
            </a:r>
            <a:r>
              <a:rPr lang="el-GR" err="1">
                <a:solidFill>
                  <a:schemeClr val="bg1"/>
                </a:solidFill>
                <a:latin typeface="Lato"/>
                <a:ea typeface="Lato"/>
                <a:cs typeface="Lato"/>
              </a:rPr>
              <a:t>epochs</a:t>
            </a:r>
            <a:r>
              <a:rPr lang="el-GR">
                <a:solidFill>
                  <a:schemeClr val="bg1"/>
                </a:solidFill>
                <a:latin typeface="Lato"/>
                <a:ea typeface="Lato"/>
                <a:cs typeface="Lato"/>
              </a:rPr>
              <a:t>.</a:t>
            </a:r>
            <a:endParaRPr lang="en-US">
              <a:solidFill>
                <a:schemeClr val="bg1"/>
              </a:solidFill>
              <a:latin typeface="Lato"/>
              <a:ea typeface="Lato"/>
              <a:cs typeface="Lato"/>
            </a:endParaRPr>
          </a:p>
          <a:p>
            <a:pPr marL="171450" algn="just">
              <a:buClr>
                <a:srgbClr val="FFC000"/>
              </a:buClr>
            </a:pPr>
            <a:endParaRPr lang="el-GR">
              <a:latin typeface="Lato"/>
              <a:ea typeface="Lato"/>
              <a:cs typeface="Lato"/>
            </a:endParaRPr>
          </a:p>
          <a:p>
            <a:r>
              <a:rPr lang="el-GR" err="1">
                <a:solidFill>
                  <a:srgbClr val="C084FC"/>
                </a:solidFill>
                <a:latin typeface="Lato"/>
                <a:ea typeface="Lato"/>
                <a:cs typeface="Lato"/>
              </a:rPr>
              <a:t>Further</a:t>
            </a:r>
            <a:r>
              <a:rPr lang="el-GR">
                <a:solidFill>
                  <a:srgbClr val="C084FC"/>
                </a:solidFill>
                <a:latin typeface="Lato"/>
                <a:ea typeface="Lato"/>
                <a:cs typeface="Lato"/>
              </a:rPr>
              <a:t> </a:t>
            </a:r>
            <a:r>
              <a:rPr lang="el-GR" err="1">
                <a:solidFill>
                  <a:srgbClr val="C084FC"/>
                </a:solidFill>
                <a:latin typeface="Lato"/>
                <a:ea typeface="Lato"/>
                <a:cs typeface="Lato"/>
              </a:rPr>
              <a:t>Details</a:t>
            </a:r>
            <a:r>
              <a:rPr lang="el-GR">
                <a:solidFill>
                  <a:srgbClr val="C084FC"/>
                </a:solidFill>
                <a:latin typeface="Lato"/>
                <a:ea typeface="Lato"/>
                <a:cs typeface="Lato"/>
              </a:rPr>
              <a:t>:</a:t>
            </a:r>
            <a:endParaRPr lang="en-US">
              <a:solidFill>
                <a:srgbClr val="C084FC"/>
              </a:solidFill>
              <a:latin typeface="Lato"/>
              <a:ea typeface="Lato"/>
              <a:cs typeface="Lato"/>
            </a:endParaRPr>
          </a:p>
          <a:p>
            <a:endParaRPr lang="el-GR">
              <a:solidFill>
                <a:srgbClr val="C084FC"/>
              </a:solidFill>
              <a:latin typeface="Lato"/>
              <a:ea typeface="Lato"/>
              <a:cs typeface="Lato"/>
            </a:endParaRPr>
          </a:p>
          <a:p>
            <a:pPr marL="457200" indent="-285750" algn="just">
              <a:buClr>
                <a:srgbClr val="FFC000"/>
              </a:buClr>
              <a:buFont typeface="+mj-lt"/>
              <a:buAutoNum type="romanUcPeriod"/>
            </a:pPr>
            <a:r>
              <a:rPr lang="el-GR">
                <a:solidFill>
                  <a:schemeClr val="bg1"/>
                </a:solidFill>
                <a:latin typeface="Lato"/>
                <a:ea typeface="Lato"/>
                <a:cs typeface="Lato"/>
              </a:rPr>
              <a:t>The </a:t>
            </a:r>
            <a:r>
              <a:rPr lang="el-GR" err="1">
                <a:solidFill>
                  <a:schemeClr val="bg1"/>
                </a:solidFill>
                <a:latin typeface="Lato"/>
                <a:ea typeface="Lato"/>
                <a:cs typeface="Lato"/>
              </a:rPr>
              <a:t>policy</a:t>
            </a:r>
            <a:r>
              <a:rPr lang="el-GR">
                <a:solidFill>
                  <a:schemeClr val="bg1"/>
                </a:solidFill>
                <a:latin typeface="Lato"/>
                <a:ea typeface="Lato"/>
                <a:cs typeface="Lato"/>
              </a:rPr>
              <a:t> </a:t>
            </a:r>
            <a:r>
              <a:rPr lang="el-GR" err="1">
                <a:solidFill>
                  <a:schemeClr val="bg1"/>
                </a:solidFill>
                <a:latin typeface="Lato"/>
                <a:ea typeface="Lato"/>
                <a:cs typeface="Lato"/>
              </a:rPr>
              <a:t>model</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trained</a:t>
            </a:r>
            <a:r>
              <a:rPr lang="el-GR">
                <a:solidFill>
                  <a:schemeClr val="bg1"/>
                </a:solidFill>
                <a:latin typeface="Lato"/>
                <a:ea typeface="Lato"/>
                <a:cs typeface="Lato"/>
              </a:rPr>
              <a:t> </a:t>
            </a:r>
            <a:r>
              <a:rPr lang="el-GR" err="1">
                <a:solidFill>
                  <a:schemeClr val="bg1"/>
                </a:solidFill>
                <a:latin typeface="Lato"/>
                <a:ea typeface="Lato"/>
                <a:cs typeface="Lato"/>
              </a:rPr>
              <a:t>jointly</a:t>
            </a:r>
            <a:r>
              <a:rPr lang="el-GR">
                <a:solidFill>
                  <a:schemeClr val="bg1"/>
                </a:solidFill>
                <a:latin typeface="Lato"/>
                <a:ea typeface="Lato"/>
                <a:cs typeface="Lato"/>
              </a:rPr>
              <a:t> </a:t>
            </a:r>
            <a:r>
              <a:rPr lang="el-GR" err="1">
                <a:solidFill>
                  <a:schemeClr val="bg1"/>
                </a:solidFill>
                <a:latin typeface="Lato"/>
                <a:ea typeface="Lato"/>
                <a:cs typeface="Lato"/>
              </a:rPr>
              <a:t>with</a:t>
            </a:r>
            <a:r>
              <a:rPr lang="el-GR">
                <a:solidFill>
                  <a:schemeClr val="bg1"/>
                </a:solidFill>
                <a:latin typeface="Lato"/>
                <a:ea typeface="Lato"/>
                <a:cs typeface="Lato"/>
              </a:rPr>
              <a:t> a </a:t>
            </a:r>
            <a:r>
              <a:rPr lang="el-GR" err="1">
                <a:solidFill>
                  <a:schemeClr val="bg1"/>
                </a:solidFill>
                <a:latin typeface="Lato"/>
                <a:ea typeface="Lato"/>
                <a:cs typeface="Lato"/>
              </a:rPr>
              <a:t>separate</a:t>
            </a:r>
            <a:r>
              <a:rPr lang="el-GR">
                <a:solidFill>
                  <a:schemeClr val="bg1"/>
                </a:solidFill>
                <a:latin typeface="Lato"/>
                <a:ea typeface="Lato"/>
                <a:cs typeface="Lato"/>
              </a:rPr>
              <a:t> </a:t>
            </a:r>
            <a:r>
              <a:rPr lang="el-GR" err="1">
                <a:solidFill>
                  <a:schemeClr val="bg1"/>
                </a:solidFill>
                <a:latin typeface="Lato"/>
                <a:ea typeface="Lato"/>
                <a:cs typeface="Lato"/>
              </a:rPr>
              <a:t>value</a:t>
            </a:r>
            <a:r>
              <a:rPr lang="el-GR">
                <a:solidFill>
                  <a:schemeClr val="bg1"/>
                </a:solidFill>
                <a:latin typeface="Lato"/>
                <a:ea typeface="Lato"/>
                <a:cs typeface="Lato"/>
              </a:rPr>
              <a:t> </a:t>
            </a:r>
            <a:r>
              <a:rPr lang="el-GR" err="1">
                <a:solidFill>
                  <a:schemeClr val="bg1"/>
                </a:solidFill>
                <a:latin typeface="Lato"/>
                <a:ea typeface="Lato"/>
                <a:cs typeface="Lato"/>
              </a:rPr>
              <a:t>function</a:t>
            </a:r>
            <a:r>
              <a:rPr lang="el-GR">
                <a:solidFill>
                  <a:schemeClr val="bg1"/>
                </a:solidFill>
                <a:latin typeface="Lato"/>
                <a:ea typeface="Lato"/>
                <a:cs typeface="Lato"/>
              </a:rPr>
              <a:t>, the </a:t>
            </a:r>
            <a:r>
              <a:rPr lang="el-GR" err="1">
                <a:solidFill>
                  <a:schemeClr val="bg1"/>
                </a:solidFill>
                <a:latin typeface="Lato"/>
                <a:ea typeface="Lato"/>
                <a:cs typeface="Lato"/>
              </a:rPr>
              <a:t>critic</a:t>
            </a:r>
            <a:r>
              <a:rPr lang="el-GR">
                <a:solidFill>
                  <a:schemeClr val="bg1"/>
                </a:solidFill>
                <a:latin typeface="Lato"/>
                <a:ea typeface="Lato"/>
                <a:cs typeface="Lato"/>
              </a:rPr>
              <a:t>.</a:t>
            </a:r>
          </a:p>
          <a:p>
            <a:pPr marL="457200" indent="-285750" algn="just">
              <a:buClr>
                <a:srgbClr val="FFC000"/>
              </a:buClr>
              <a:buFont typeface="+mj-lt"/>
              <a:buAutoNum type="romanUcPeriod"/>
            </a:pPr>
            <a:r>
              <a:rPr lang="el-GR">
                <a:solidFill>
                  <a:schemeClr val="bg1"/>
                </a:solidFill>
                <a:latin typeface="Lato"/>
                <a:ea typeface="Lato"/>
                <a:cs typeface="Lato"/>
              </a:rPr>
              <a:t>The </a:t>
            </a:r>
            <a:r>
              <a:rPr lang="el-GR" err="1">
                <a:solidFill>
                  <a:schemeClr val="bg1"/>
                </a:solidFill>
                <a:latin typeface="Lato"/>
                <a:ea typeface="Lato"/>
                <a:cs typeface="Lato"/>
              </a:rPr>
              <a:t>reference</a:t>
            </a:r>
            <a:r>
              <a:rPr lang="el-GR">
                <a:solidFill>
                  <a:schemeClr val="bg1"/>
                </a:solidFill>
                <a:latin typeface="Lato"/>
                <a:ea typeface="Lato"/>
                <a:cs typeface="Lato"/>
              </a:rPr>
              <a:t> </a:t>
            </a:r>
            <a:r>
              <a:rPr lang="el-GR" err="1">
                <a:solidFill>
                  <a:schemeClr val="bg1"/>
                </a:solidFill>
                <a:latin typeface="Lato"/>
                <a:ea typeface="Lato"/>
                <a:cs typeface="Lato"/>
              </a:rPr>
              <a:t>model</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usually</a:t>
            </a:r>
            <a:r>
              <a:rPr lang="el-GR">
                <a:solidFill>
                  <a:schemeClr val="bg1"/>
                </a:solidFill>
                <a:latin typeface="Lato"/>
                <a:ea typeface="Lato"/>
                <a:cs typeface="Lato"/>
              </a:rPr>
              <a:t> the </a:t>
            </a:r>
            <a:r>
              <a:rPr lang="el-GR" err="1">
                <a:solidFill>
                  <a:schemeClr val="bg1"/>
                </a:solidFill>
                <a:latin typeface="Lato"/>
                <a:ea typeface="Lato"/>
                <a:cs typeface="Lato"/>
              </a:rPr>
              <a:t>initial</a:t>
            </a:r>
            <a:r>
              <a:rPr lang="el-GR">
                <a:solidFill>
                  <a:schemeClr val="bg1"/>
                </a:solidFill>
                <a:latin typeface="Lato"/>
                <a:ea typeface="Lato"/>
                <a:cs typeface="Lato"/>
              </a:rPr>
              <a:t> SFT </a:t>
            </a:r>
            <a:r>
              <a:rPr lang="el-GR" err="1">
                <a:solidFill>
                  <a:schemeClr val="bg1"/>
                </a:solidFill>
                <a:latin typeface="Lato"/>
                <a:ea typeface="Lato"/>
                <a:cs typeface="Lato"/>
              </a:rPr>
              <a:t>model</a:t>
            </a:r>
            <a:r>
              <a:rPr lang="el-GR">
                <a:solidFill>
                  <a:schemeClr val="bg1"/>
                </a:solidFill>
                <a:latin typeface="Lato"/>
                <a:ea typeface="Lato"/>
                <a:cs typeface="Lato"/>
              </a:rPr>
              <a:t>.</a:t>
            </a:r>
          </a:p>
          <a:p>
            <a:pPr marL="457200" indent="-285750" algn="just">
              <a:buClr>
                <a:srgbClr val="FFC000"/>
              </a:buClr>
              <a:buFont typeface="+mj-lt"/>
              <a:buAutoNum type="romanUcPeriod"/>
            </a:pPr>
            <a:r>
              <a:rPr lang="el-GR">
                <a:solidFill>
                  <a:schemeClr val="bg1"/>
                </a:solidFill>
                <a:latin typeface="Lato"/>
                <a:ea typeface="Lato"/>
                <a:cs typeface="Lato"/>
              </a:rPr>
              <a:t>A per-</a:t>
            </a:r>
            <a:r>
              <a:rPr lang="el-GR" err="1">
                <a:solidFill>
                  <a:schemeClr val="bg1"/>
                </a:solidFill>
                <a:latin typeface="Lato"/>
                <a:ea typeface="Lato"/>
                <a:cs typeface="Lato"/>
              </a:rPr>
              <a:t>token</a:t>
            </a:r>
            <a:r>
              <a:rPr lang="el-GR">
                <a:solidFill>
                  <a:schemeClr val="bg1"/>
                </a:solidFill>
                <a:latin typeface="Lato"/>
                <a:ea typeface="Lato"/>
                <a:cs typeface="Lato"/>
              </a:rPr>
              <a:t> KL-</a:t>
            </a:r>
            <a:r>
              <a:rPr lang="el-GR" err="1">
                <a:solidFill>
                  <a:schemeClr val="bg1"/>
                </a:solidFill>
                <a:latin typeface="Lato"/>
                <a:ea typeface="Lato"/>
                <a:cs typeface="Lato"/>
              </a:rPr>
              <a:t>divergence</a:t>
            </a:r>
            <a:r>
              <a:rPr lang="el-GR">
                <a:solidFill>
                  <a:schemeClr val="bg1"/>
                </a:solidFill>
                <a:latin typeface="Lato"/>
                <a:ea typeface="Lato"/>
                <a:cs typeface="Lato"/>
              </a:rPr>
              <a:t> </a:t>
            </a:r>
            <a:r>
              <a:rPr lang="el-GR" err="1">
                <a:solidFill>
                  <a:schemeClr val="bg1"/>
                </a:solidFill>
                <a:latin typeface="Lato"/>
                <a:ea typeface="Lato"/>
                <a:cs typeface="Lato"/>
              </a:rPr>
              <a:t>is</a:t>
            </a:r>
            <a:r>
              <a:rPr lang="el-GR">
                <a:solidFill>
                  <a:schemeClr val="bg1"/>
                </a:solidFill>
                <a:latin typeface="Lato"/>
                <a:ea typeface="Lato"/>
                <a:cs typeface="Lato"/>
              </a:rPr>
              <a:t> </a:t>
            </a:r>
            <a:r>
              <a:rPr lang="el-GR" err="1">
                <a:solidFill>
                  <a:schemeClr val="bg1"/>
                </a:solidFill>
                <a:latin typeface="Lato"/>
                <a:ea typeface="Lato"/>
                <a:cs typeface="Lato"/>
              </a:rPr>
              <a:t>incorporated</a:t>
            </a:r>
            <a:r>
              <a:rPr lang="el-GR">
                <a:solidFill>
                  <a:schemeClr val="bg1"/>
                </a:solidFill>
                <a:latin typeface="Lato"/>
                <a:ea typeface="Lato"/>
                <a:cs typeface="Lato"/>
              </a:rPr>
              <a:t> </a:t>
            </a:r>
            <a:r>
              <a:rPr lang="el-GR" err="1">
                <a:solidFill>
                  <a:schemeClr val="bg1"/>
                </a:solidFill>
                <a:latin typeface="Lato"/>
                <a:ea typeface="Lato"/>
                <a:cs typeface="Lato"/>
              </a:rPr>
              <a:t>into</a:t>
            </a:r>
            <a:r>
              <a:rPr lang="el-GR">
                <a:solidFill>
                  <a:schemeClr val="bg1"/>
                </a:solidFill>
                <a:latin typeface="Lato"/>
                <a:ea typeface="Lato"/>
                <a:cs typeface="Lato"/>
              </a:rPr>
              <a:t> the </a:t>
            </a:r>
            <a:r>
              <a:rPr lang="el-GR" err="1">
                <a:solidFill>
                  <a:schemeClr val="bg1"/>
                </a:solidFill>
                <a:latin typeface="Lato"/>
                <a:ea typeface="Lato"/>
                <a:cs typeface="Lato"/>
              </a:rPr>
              <a:t>reward</a:t>
            </a:r>
            <a:r>
              <a:rPr lang="el-GR">
                <a:solidFill>
                  <a:schemeClr val="bg1"/>
                </a:solidFill>
                <a:latin typeface="Lato"/>
                <a:ea typeface="Lato"/>
                <a:cs typeface="Lato"/>
              </a:rPr>
              <a:t> </a:t>
            </a:r>
            <a:r>
              <a:rPr lang="el-GR" err="1">
                <a:solidFill>
                  <a:schemeClr val="bg1"/>
                </a:solidFill>
                <a:latin typeface="Lato"/>
                <a:ea typeface="Lato"/>
                <a:cs typeface="Lato"/>
              </a:rPr>
              <a:t>function</a:t>
            </a:r>
            <a:r>
              <a:rPr lang="el-GR">
                <a:solidFill>
                  <a:schemeClr val="bg1"/>
                </a:solidFill>
                <a:latin typeface="Lato"/>
                <a:ea typeface="Lato"/>
                <a:cs typeface="Lato"/>
              </a:rPr>
              <a:t> </a:t>
            </a:r>
            <a:r>
              <a:rPr lang="el-GR" err="1">
                <a:solidFill>
                  <a:schemeClr val="bg1"/>
                </a:solidFill>
                <a:latin typeface="Lato"/>
                <a:ea typeface="Lato"/>
                <a:cs typeface="Lato"/>
              </a:rPr>
              <a:t>to</a:t>
            </a:r>
            <a:r>
              <a:rPr lang="el-GR">
                <a:solidFill>
                  <a:schemeClr val="bg1"/>
                </a:solidFill>
                <a:latin typeface="Lato"/>
                <a:ea typeface="Lato"/>
                <a:cs typeface="Lato"/>
              </a:rPr>
              <a:t> </a:t>
            </a:r>
            <a:r>
              <a:rPr lang="el-GR" err="1">
                <a:solidFill>
                  <a:schemeClr val="bg1"/>
                </a:solidFill>
                <a:latin typeface="Lato"/>
                <a:ea typeface="Lato"/>
                <a:cs typeface="Lato"/>
              </a:rPr>
              <a:t>prevent</a:t>
            </a:r>
            <a:r>
              <a:rPr lang="el-GR">
                <a:solidFill>
                  <a:schemeClr val="bg1"/>
                </a:solidFill>
                <a:latin typeface="Lato"/>
                <a:ea typeface="Lato"/>
                <a:cs typeface="Lato"/>
              </a:rPr>
              <a:t> </a:t>
            </a:r>
            <a:r>
              <a:rPr lang="el-GR" err="1">
                <a:solidFill>
                  <a:schemeClr val="bg1"/>
                </a:solidFill>
                <a:latin typeface="Lato"/>
                <a:ea typeface="Lato"/>
                <a:cs typeface="Lato"/>
              </a:rPr>
              <a:t>over-optimization</a:t>
            </a:r>
            <a:r>
              <a:rPr lang="el-GR">
                <a:solidFill>
                  <a:schemeClr val="bg1"/>
                </a:solidFill>
                <a:latin typeface="Lato"/>
                <a:ea typeface="Lato"/>
                <a:cs typeface="Lato"/>
              </a:rPr>
              <a:t> and </a:t>
            </a:r>
            <a:r>
              <a:rPr lang="el-GR" err="1">
                <a:solidFill>
                  <a:schemeClr val="bg1"/>
                </a:solidFill>
                <a:latin typeface="Lato"/>
                <a:ea typeface="Lato"/>
                <a:cs typeface="Lato"/>
              </a:rPr>
              <a:t>excessive</a:t>
            </a:r>
            <a:r>
              <a:rPr lang="el-GR">
                <a:solidFill>
                  <a:schemeClr val="bg1"/>
                </a:solidFill>
                <a:latin typeface="Lato"/>
                <a:ea typeface="Lato"/>
                <a:cs typeface="Lato"/>
              </a:rPr>
              <a:t> </a:t>
            </a:r>
            <a:r>
              <a:rPr lang="el-GR" err="1">
                <a:solidFill>
                  <a:schemeClr val="bg1"/>
                </a:solidFill>
                <a:latin typeface="Lato"/>
                <a:ea typeface="Lato"/>
                <a:cs typeface="Lato"/>
              </a:rPr>
              <a:t>deviation</a:t>
            </a:r>
            <a:r>
              <a:rPr lang="el-GR">
                <a:solidFill>
                  <a:schemeClr val="bg1"/>
                </a:solidFill>
                <a:latin typeface="Lato"/>
                <a:ea typeface="Lato"/>
                <a:cs typeface="Lato"/>
              </a:rPr>
              <a:t> </a:t>
            </a:r>
            <a:r>
              <a:rPr lang="el-GR" err="1">
                <a:solidFill>
                  <a:schemeClr val="bg1"/>
                </a:solidFill>
                <a:latin typeface="Lato"/>
                <a:ea typeface="Lato"/>
                <a:cs typeface="Lato"/>
              </a:rPr>
              <a:t>from</a:t>
            </a:r>
            <a:r>
              <a:rPr lang="el-GR">
                <a:solidFill>
                  <a:schemeClr val="bg1"/>
                </a:solidFill>
                <a:latin typeface="Lato"/>
                <a:ea typeface="Lato"/>
                <a:cs typeface="Lato"/>
              </a:rPr>
              <a:t> the </a:t>
            </a:r>
            <a:r>
              <a:rPr lang="el-GR" err="1">
                <a:solidFill>
                  <a:schemeClr val="bg1"/>
                </a:solidFill>
                <a:latin typeface="Lato"/>
                <a:ea typeface="Lato"/>
                <a:cs typeface="Lato"/>
              </a:rPr>
              <a:t>reference</a:t>
            </a:r>
            <a:r>
              <a:rPr lang="el-GR">
                <a:solidFill>
                  <a:schemeClr val="bg1"/>
                </a:solidFill>
                <a:latin typeface="Lato"/>
                <a:ea typeface="Lato"/>
                <a:cs typeface="Lato"/>
              </a:rPr>
              <a:t> Policy</a:t>
            </a:r>
          </a:p>
        </p:txBody>
      </p:sp>
      <p:sp>
        <p:nvSpPr>
          <p:cNvPr id="12" name="TextBox 11">
            <a:extLst>
              <a:ext uri="{FF2B5EF4-FFF2-40B4-BE49-F238E27FC236}">
                <a16:creationId xmlns:a16="http://schemas.microsoft.com/office/drawing/2014/main" id="{FEE0EF76-1BD6-B659-D3D0-A5C11A73E208}"/>
              </a:ext>
            </a:extLst>
          </p:cNvPr>
          <p:cNvSpPr txBox="1"/>
          <p:nvPr/>
        </p:nvSpPr>
        <p:spPr>
          <a:xfrm>
            <a:off x="1266825" y="6211895"/>
            <a:ext cx="9067800" cy="461665"/>
          </a:xfrm>
          <a:prstGeom prst="rect">
            <a:avLst/>
          </a:prstGeom>
          <a:noFill/>
        </p:spPr>
        <p:txBody>
          <a:bodyPr wrap="square">
            <a:spAutoFit/>
          </a:bodyPr>
          <a:lstStyle/>
          <a:p>
            <a:pPr>
              <a:buClr>
                <a:srgbClr val="FDE047"/>
              </a:buClr>
            </a:pPr>
            <a:r>
              <a:rPr lang="en-US" sz="2400" b="1">
                <a:solidFill>
                  <a:srgbClr val="C084FC"/>
                </a:solidFill>
                <a:latin typeface="Lato"/>
                <a:ea typeface="Lato"/>
                <a:cs typeface="Lato"/>
              </a:rPr>
              <a:t>GRPO introduced</a:t>
            </a:r>
            <a:r>
              <a:rPr lang="el-GR" sz="2400" b="1">
                <a:solidFill>
                  <a:srgbClr val="C084FC"/>
                </a:solidFill>
                <a:latin typeface="Lato"/>
                <a:ea typeface="Lato"/>
                <a:cs typeface="Lato"/>
              </a:rPr>
              <a:t> </a:t>
            </a:r>
            <a:r>
              <a:rPr lang="en-US" sz="2400" b="1">
                <a:solidFill>
                  <a:srgbClr val="C084FC"/>
                </a:solidFill>
                <a:latin typeface="Lato"/>
                <a:ea typeface="Lato"/>
                <a:cs typeface="Lato"/>
              </a:rPr>
              <a:t>as </a:t>
            </a:r>
            <a:r>
              <a:rPr lang="el-GR" sz="2400" b="1">
                <a:solidFill>
                  <a:srgbClr val="C084FC"/>
                </a:solidFill>
                <a:latin typeface="Lato"/>
                <a:ea typeface="Lato"/>
                <a:cs typeface="Lato"/>
              </a:rPr>
              <a:t>a </a:t>
            </a:r>
            <a:r>
              <a:rPr lang="en-US" sz="2400" b="1">
                <a:solidFill>
                  <a:srgbClr val="C084FC"/>
                </a:solidFill>
                <a:latin typeface="Lato"/>
                <a:ea typeface="Lato"/>
                <a:cs typeface="Lato"/>
              </a:rPr>
              <a:t>more</a:t>
            </a:r>
            <a:r>
              <a:rPr lang="el-GR" sz="2400" b="1">
                <a:solidFill>
                  <a:srgbClr val="C084FC"/>
                </a:solidFill>
                <a:latin typeface="Lato"/>
                <a:ea typeface="Lato"/>
                <a:cs typeface="Lato"/>
              </a:rPr>
              <a:t> memory-</a:t>
            </a:r>
            <a:r>
              <a:rPr lang="en-US" sz="2400" b="1">
                <a:solidFill>
                  <a:srgbClr val="C084FC"/>
                </a:solidFill>
                <a:latin typeface="Lato"/>
                <a:ea typeface="Lato"/>
                <a:cs typeface="Lato"/>
              </a:rPr>
              <a:t>efficient alternative to</a:t>
            </a:r>
            <a:r>
              <a:rPr lang="el-GR" sz="2400" b="1">
                <a:solidFill>
                  <a:srgbClr val="C084FC"/>
                </a:solidFill>
                <a:latin typeface="Lato"/>
                <a:ea typeface="Lato"/>
                <a:cs typeface="Lato"/>
              </a:rPr>
              <a:t> PPO</a:t>
            </a:r>
            <a:endParaRPr lang="en-US" sz="2400" b="1">
              <a:solidFill>
                <a:srgbClr val="C084FC"/>
              </a:solidFill>
              <a:latin typeface="Lato"/>
              <a:ea typeface="Lato"/>
              <a:cs typeface="Lato"/>
            </a:endParaRPr>
          </a:p>
        </p:txBody>
      </p:sp>
    </p:spTree>
    <p:extLst>
      <p:ext uri="{BB962C8B-B14F-4D97-AF65-F5344CB8AC3E}">
        <p14:creationId xmlns:p14="http://schemas.microsoft.com/office/powerpoint/2010/main" val="2399011404"/>
      </p:ext>
    </p:extLst>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7391E2A7-E555-E28A-95ED-6ADA3CF04D2C}"/>
            </a:ext>
          </a:extLst>
        </p:cNvPr>
        <p:cNvGrpSpPr/>
        <p:nvPr/>
      </p:nvGrpSpPr>
      <p:grpSpPr>
        <a:xfrm>
          <a:off x="0" y="0"/>
          <a:ext cx="0" cy="0"/>
          <a:chOff x="0" y="0"/>
          <a:chExt cx="0" cy="0"/>
        </a:xfrm>
      </p:grpSpPr>
      <p:sp>
        <p:nvSpPr>
          <p:cNvPr id="25" name="Google Shape;234;p20">
            <a:extLst>
              <a:ext uri="{FF2B5EF4-FFF2-40B4-BE49-F238E27FC236}">
                <a16:creationId xmlns:a16="http://schemas.microsoft.com/office/drawing/2014/main" id="{D9DD2DAF-5B43-3CCF-AE15-1B9A13CF4B0D}"/>
              </a:ext>
            </a:extLst>
          </p:cNvPr>
          <p:cNvSpPr/>
          <p:nvPr/>
        </p:nvSpPr>
        <p:spPr>
          <a:xfrm>
            <a:off x="295275" y="2128308"/>
            <a:ext cx="11601449" cy="3434291"/>
          </a:xfrm>
          <a:prstGeom prst="roundRect">
            <a:avLst>
              <a:gd name="adj" fmla="val 13774"/>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254" name="Google Shape;254;p21">
            <a:extLst>
              <a:ext uri="{FF2B5EF4-FFF2-40B4-BE49-F238E27FC236}">
                <a16:creationId xmlns:a16="http://schemas.microsoft.com/office/drawing/2014/main" id="{A0E79490-146C-4527-23C1-C617EA6C192D}"/>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Recreation of Paper’s Results (II)</a:t>
            </a:r>
          </a:p>
        </p:txBody>
      </p:sp>
      <p:sp>
        <p:nvSpPr>
          <p:cNvPr id="255" name="Google Shape;255;p21">
            <a:extLst>
              <a:ext uri="{FF2B5EF4-FFF2-40B4-BE49-F238E27FC236}">
                <a16:creationId xmlns:a16="http://schemas.microsoft.com/office/drawing/2014/main" id="{080693C7-705F-1827-01E4-2D654710FA81}"/>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TextBox 10">
            <a:extLst>
              <a:ext uri="{FF2B5EF4-FFF2-40B4-BE49-F238E27FC236}">
                <a16:creationId xmlns:a16="http://schemas.microsoft.com/office/drawing/2014/main" id="{286ED2C7-90E3-EB0B-4CDB-53EB19F44799}"/>
              </a:ext>
            </a:extLst>
          </p:cNvPr>
          <p:cNvSpPr txBox="1"/>
          <p:nvPr/>
        </p:nvSpPr>
        <p:spPr>
          <a:xfrm>
            <a:off x="2904182" y="1699509"/>
            <a:ext cx="6383633" cy="369332"/>
          </a:xfrm>
          <a:prstGeom prst="rect">
            <a:avLst/>
          </a:prstGeom>
          <a:noFill/>
        </p:spPr>
        <p:txBody>
          <a:bodyPr wrap="square" lIns="91440" tIns="45720" rIns="91440" bIns="45720" anchor="t">
            <a:spAutoFit/>
          </a:bodyPr>
          <a:lstStyle/>
          <a:p>
            <a:pPr algn="ctr"/>
            <a:r>
              <a:rPr lang="en-US" sz="1800" b="1">
                <a:solidFill>
                  <a:srgbClr val="C084FC"/>
                </a:solidFill>
                <a:latin typeface="Lato" panose="020F0502020204030203" pitchFamily="34" charset="0"/>
                <a:ea typeface="Lato" panose="020F0502020204030203" pitchFamily="34" charset="0"/>
                <a:cs typeface="Lato" panose="020F0502020204030203" pitchFamily="34" charset="0"/>
              </a:rPr>
              <a:t>Response length during RL training of </a:t>
            </a:r>
            <a:r>
              <a:rPr lang="en-US" sz="1800" b="1">
                <a:solidFill>
                  <a:srgbClr val="C084FC"/>
                </a:solidFill>
                <a:latin typeface="Lato"/>
                <a:ea typeface="Lato"/>
                <a:cs typeface="Lato"/>
              </a:rPr>
              <a:t>Llama-3.2-1B-Instruct.</a:t>
            </a:r>
          </a:p>
        </p:txBody>
      </p:sp>
      <p:pic>
        <p:nvPicPr>
          <p:cNvPr id="5" name="Picture 4">
            <a:extLst>
              <a:ext uri="{FF2B5EF4-FFF2-40B4-BE49-F238E27FC236}">
                <a16:creationId xmlns:a16="http://schemas.microsoft.com/office/drawing/2014/main" id="{6F7C6E93-69C6-C582-352B-1765648705C3}"/>
              </a:ext>
            </a:extLst>
          </p:cNvPr>
          <p:cNvPicPr>
            <a:picLocks noChangeAspect="1"/>
          </p:cNvPicPr>
          <p:nvPr/>
        </p:nvPicPr>
        <p:blipFill>
          <a:blip r:embed="rId3"/>
          <a:srcRect l="1248" t="2059" r="844" b="375"/>
          <a:stretch>
            <a:fillRect/>
          </a:stretch>
        </p:blipFill>
        <p:spPr>
          <a:xfrm>
            <a:off x="6134979" y="2370238"/>
            <a:ext cx="5614797" cy="2788253"/>
          </a:xfrm>
          <a:prstGeom prst="rect">
            <a:avLst/>
          </a:prstGeom>
        </p:spPr>
      </p:pic>
      <p:sp>
        <p:nvSpPr>
          <p:cNvPr id="27" name="TextBox 26">
            <a:extLst>
              <a:ext uri="{FF2B5EF4-FFF2-40B4-BE49-F238E27FC236}">
                <a16:creationId xmlns:a16="http://schemas.microsoft.com/office/drawing/2014/main" id="{3EE27F04-6086-70DF-34BA-4FF987E8BD6A}"/>
              </a:ext>
            </a:extLst>
          </p:cNvPr>
          <p:cNvSpPr txBox="1"/>
          <p:nvPr/>
        </p:nvSpPr>
        <p:spPr>
          <a:xfrm>
            <a:off x="483295" y="5163177"/>
            <a:ext cx="5384106" cy="307777"/>
          </a:xfrm>
          <a:prstGeom prst="rect">
            <a:avLst/>
          </a:prstGeom>
          <a:noFill/>
        </p:spPr>
        <p:txBody>
          <a:bodyPr wrap="square">
            <a:spAutoFit/>
          </a:bodyPr>
          <a:lstStyle/>
          <a:p>
            <a:pPr algn="ctr"/>
            <a:r>
              <a:rPr lang="en-US">
                <a:solidFill>
                  <a:srgbClr val="FDE047"/>
                </a:solidFill>
                <a:latin typeface="Lato" panose="020F0502020204030203" pitchFamily="34" charset="0"/>
                <a:ea typeface="Lato" panose="020F0502020204030203" pitchFamily="34" charset="0"/>
                <a:cs typeface="Lato" panose="020F0502020204030203" pitchFamily="34" charset="0"/>
              </a:rPr>
              <a:t>Without Exploration Reward (</a:t>
            </a:r>
            <a:r>
              <a:rPr lang="el-GR">
                <a:solidFill>
                  <a:srgbClr val="FDE047"/>
                </a:solidFill>
                <a:latin typeface="Lato" panose="020F0502020204030203" pitchFamily="34" charset="0"/>
                <a:ea typeface="Lato" panose="020F0502020204030203" pitchFamily="34" charset="0"/>
                <a:cs typeface="Lato" panose="020F0502020204030203" pitchFamily="34" charset="0"/>
              </a:rPr>
              <a:t>α = 1)</a:t>
            </a:r>
            <a:endParaRPr lang="en-US">
              <a:solidFill>
                <a:srgbClr val="C084FC"/>
              </a:solidFill>
              <a:latin typeface="Lato"/>
              <a:ea typeface="Lato"/>
              <a:cs typeface="Lato"/>
            </a:endParaRPr>
          </a:p>
        </p:txBody>
      </p:sp>
      <p:sp>
        <p:nvSpPr>
          <p:cNvPr id="29" name="TextBox 28">
            <a:extLst>
              <a:ext uri="{FF2B5EF4-FFF2-40B4-BE49-F238E27FC236}">
                <a16:creationId xmlns:a16="http://schemas.microsoft.com/office/drawing/2014/main" id="{27C4208E-941E-8FDD-DEBB-09A225457D0C}"/>
              </a:ext>
            </a:extLst>
          </p:cNvPr>
          <p:cNvSpPr txBox="1"/>
          <p:nvPr/>
        </p:nvSpPr>
        <p:spPr>
          <a:xfrm>
            <a:off x="6286068" y="5163176"/>
            <a:ext cx="5422637" cy="307777"/>
          </a:xfrm>
          <a:prstGeom prst="rect">
            <a:avLst/>
          </a:prstGeom>
          <a:noFill/>
        </p:spPr>
        <p:txBody>
          <a:bodyPr wrap="square">
            <a:spAutoFit/>
          </a:bodyPr>
          <a:lstStyle/>
          <a:p>
            <a:pPr algn="ctr"/>
            <a:r>
              <a:rPr lang="en-US">
                <a:solidFill>
                  <a:srgbClr val="FDE047"/>
                </a:solidFill>
                <a:latin typeface="Lato" panose="020F0502020204030203" pitchFamily="34" charset="0"/>
                <a:ea typeface="Lato" panose="020F0502020204030203" pitchFamily="34" charset="0"/>
                <a:cs typeface="Lato" panose="020F0502020204030203" pitchFamily="34" charset="0"/>
              </a:rPr>
              <a:t>With Exploration Reward (</a:t>
            </a:r>
            <a:r>
              <a:rPr lang="el-GR">
                <a:solidFill>
                  <a:srgbClr val="FDE047"/>
                </a:solidFill>
                <a:latin typeface="Lato" panose="020F0502020204030203" pitchFamily="34" charset="0"/>
                <a:ea typeface="Lato" panose="020F0502020204030203" pitchFamily="34" charset="0"/>
                <a:cs typeface="Lato" panose="020F0502020204030203" pitchFamily="34" charset="0"/>
              </a:rPr>
              <a:t>α = 0.8)</a:t>
            </a:r>
            <a:endParaRPr lang="en-US">
              <a:solidFill>
                <a:srgbClr val="FDE047"/>
              </a:solidFill>
              <a:latin typeface="Lato"/>
              <a:ea typeface="Lato"/>
              <a:cs typeface="Lato"/>
            </a:endParaRPr>
          </a:p>
        </p:txBody>
      </p:sp>
      <p:pic>
        <p:nvPicPr>
          <p:cNvPr id="31" name="Picture 30">
            <a:extLst>
              <a:ext uri="{FF2B5EF4-FFF2-40B4-BE49-F238E27FC236}">
                <a16:creationId xmlns:a16="http://schemas.microsoft.com/office/drawing/2014/main" id="{8E87E97B-39BC-53FF-E433-1DDA77CA6E2C}"/>
              </a:ext>
            </a:extLst>
          </p:cNvPr>
          <p:cNvPicPr>
            <a:picLocks noChangeAspect="1"/>
          </p:cNvPicPr>
          <p:nvPr/>
        </p:nvPicPr>
        <p:blipFill>
          <a:blip r:embed="rId4"/>
          <a:stretch>
            <a:fillRect/>
          </a:stretch>
        </p:blipFill>
        <p:spPr>
          <a:xfrm>
            <a:off x="407036" y="2370238"/>
            <a:ext cx="5580996" cy="2788253"/>
          </a:xfrm>
          <a:prstGeom prst="rect">
            <a:avLst/>
          </a:prstGeom>
        </p:spPr>
      </p:pic>
    </p:spTree>
    <p:extLst>
      <p:ext uri="{BB962C8B-B14F-4D97-AF65-F5344CB8AC3E}">
        <p14:creationId xmlns:p14="http://schemas.microsoft.com/office/powerpoint/2010/main" val="2507349795"/>
      </p:ext>
    </p:extLst>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3544992F-8802-E425-A460-373A5F7DD84B}"/>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C3635D96-E58C-AA95-041D-1C14447FB881}"/>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Recreation of Paper’s Results (III) - Metrics</a:t>
            </a:r>
          </a:p>
        </p:txBody>
      </p:sp>
      <p:sp>
        <p:nvSpPr>
          <p:cNvPr id="255" name="Google Shape;255;p21">
            <a:extLst>
              <a:ext uri="{FF2B5EF4-FFF2-40B4-BE49-F238E27FC236}">
                <a16:creationId xmlns:a16="http://schemas.microsoft.com/office/drawing/2014/main" id="{A5A44ACF-8AB7-E4B9-3DF4-790D45E45A22}"/>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206;p20">
            <a:extLst>
              <a:ext uri="{FF2B5EF4-FFF2-40B4-BE49-F238E27FC236}">
                <a16:creationId xmlns:a16="http://schemas.microsoft.com/office/drawing/2014/main" id="{1CF682BF-2E0D-E54E-372B-F12F48784C82}"/>
              </a:ext>
            </a:extLst>
          </p:cNvPr>
          <p:cNvSpPr txBox="1"/>
          <p:nvPr/>
        </p:nvSpPr>
        <p:spPr>
          <a:xfrm>
            <a:off x="677827" y="5262545"/>
            <a:ext cx="10744201" cy="307777"/>
          </a:xfrm>
          <a:prstGeom prst="rect">
            <a:avLst/>
          </a:prstGeom>
          <a:solidFill>
            <a:srgbClr val="000000">
              <a:alpha val="0"/>
            </a:srgbClr>
          </a:solidFill>
          <a:ln>
            <a:noFill/>
          </a:ln>
        </p:spPr>
        <p:txBody>
          <a:bodyPr spcFirstLastPara="1" wrap="square" lIns="0" tIns="0" rIns="0" bIns="0" anchor="ctr" anchorCtr="0">
            <a:spAutoFit/>
          </a:bodyPr>
          <a:lstStyle/>
          <a:p>
            <a:pPr algn="ctr"/>
            <a:r>
              <a:rPr lang="en-US" sz="2000" b="1" i="0">
                <a:solidFill>
                  <a:srgbClr val="C084FC"/>
                </a:solidFill>
                <a:latin typeface="Lato"/>
                <a:ea typeface="Lato"/>
                <a:cs typeface="Lato"/>
                <a:sym typeface="Lato"/>
              </a:rPr>
              <a:t>Validating the paper, we observe that RLSP training yields improvement </a:t>
            </a:r>
            <a:r>
              <a:rPr lang="en-US" sz="2000" b="1">
                <a:solidFill>
                  <a:srgbClr val="E2E8F0"/>
                </a:solidFill>
                <a:latin typeface="Lato"/>
                <a:ea typeface="Lato"/>
                <a:cs typeface="Lato"/>
                <a:sym typeface="Lato"/>
              </a:rPr>
              <a:t>on MATH-500 dataset</a:t>
            </a:r>
            <a:endParaRPr sz="2000" b="1" i="0">
              <a:solidFill>
                <a:srgbClr val="C084FC"/>
              </a:solidFill>
              <a:latin typeface="Lato"/>
              <a:ea typeface="Lato"/>
              <a:cs typeface="Lato"/>
              <a:sym typeface="Lato"/>
            </a:endParaRPr>
          </a:p>
        </p:txBody>
      </p:sp>
      <p:sp>
        <p:nvSpPr>
          <p:cNvPr id="3" name="Google Shape;210;p20">
            <a:extLst>
              <a:ext uri="{FF2B5EF4-FFF2-40B4-BE49-F238E27FC236}">
                <a16:creationId xmlns:a16="http://schemas.microsoft.com/office/drawing/2014/main" id="{6389B3BE-EE37-652A-8CEF-864798A45264}"/>
              </a:ext>
            </a:extLst>
          </p:cNvPr>
          <p:cNvSpPr/>
          <p:nvPr/>
        </p:nvSpPr>
        <p:spPr>
          <a:xfrm>
            <a:off x="1336750" y="1257130"/>
            <a:ext cx="8985047" cy="1938671"/>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211;p20">
            <a:extLst>
              <a:ext uri="{FF2B5EF4-FFF2-40B4-BE49-F238E27FC236}">
                <a16:creationId xmlns:a16="http://schemas.microsoft.com/office/drawing/2014/main" id="{4EA0832D-0948-BA92-A315-93F272D43066}"/>
              </a:ext>
            </a:extLst>
          </p:cNvPr>
          <p:cNvSpPr txBox="1"/>
          <p:nvPr/>
        </p:nvSpPr>
        <p:spPr>
          <a:xfrm>
            <a:off x="1520868" y="1373315"/>
            <a:ext cx="6080082" cy="232494"/>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4" b="0" i="0">
                <a:solidFill>
                  <a:srgbClr val="E2E8F0"/>
                </a:solidFill>
                <a:latin typeface="Poppins SemiBold"/>
                <a:ea typeface="Poppins SemiBold"/>
                <a:cs typeface="Poppins SemiBold"/>
                <a:sym typeface="Poppins SemiBold"/>
              </a:rPr>
              <a:t>meta-llama/Llama-3.2-1B-Instruct on MATH-500 Dataset</a:t>
            </a:r>
            <a:endParaRPr sz="1464" b="0" i="0">
              <a:solidFill>
                <a:srgbClr val="E2E8F0"/>
              </a:solidFill>
              <a:latin typeface="Poppins SemiBold"/>
              <a:ea typeface="Poppins SemiBold"/>
              <a:cs typeface="Poppins SemiBold"/>
              <a:sym typeface="Poppins SemiBold"/>
            </a:endParaRPr>
          </a:p>
        </p:txBody>
      </p:sp>
      <p:sp>
        <p:nvSpPr>
          <p:cNvPr id="5" name="Google Shape;212;p20">
            <a:extLst>
              <a:ext uri="{FF2B5EF4-FFF2-40B4-BE49-F238E27FC236}">
                <a16:creationId xmlns:a16="http://schemas.microsoft.com/office/drawing/2014/main" id="{DFFDE80C-4557-6F74-6823-43C25D635086}"/>
              </a:ext>
            </a:extLst>
          </p:cNvPr>
          <p:cNvSpPr/>
          <p:nvPr/>
        </p:nvSpPr>
        <p:spPr>
          <a:xfrm>
            <a:off x="1520868" y="1683144"/>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 name="Google Shape;213;p20">
            <a:extLst>
              <a:ext uri="{FF2B5EF4-FFF2-40B4-BE49-F238E27FC236}">
                <a16:creationId xmlns:a16="http://schemas.microsoft.com/office/drawing/2014/main" id="{450C716E-3AEB-071E-32A9-E71624ACCC75}"/>
              </a:ext>
            </a:extLst>
          </p:cNvPr>
          <p:cNvSpPr/>
          <p:nvPr/>
        </p:nvSpPr>
        <p:spPr>
          <a:xfrm>
            <a:off x="1520868" y="1683144"/>
            <a:ext cx="1984332" cy="271040"/>
          </a:xfrm>
          <a:prstGeom prst="roundRect">
            <a:avLst>
              <a:gd name="adj" fmla="val 50000"/>
            </a:avLst>
          </a:prstGeom>
          <a:solidFill>
            <a:srgbClr val="4A7DBA"/>
          </a:solidFill>
          <a:ln>
            <a:noFill/>
          </a:ln>
          <a:effectLst>
            <a:glow>
              <a:schemeClr val="accent1">
                <a:alpha val="40000"/>
              </a:schemeClr>
            </a:glow>
            <a:reflection endPos="0" dir="5400000" sy="-100000" algn="bl" rotWithShape="0"/>
            <a:softEdge rad="0"/>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14;p20">
            <a:extLst>
              <a:ext uri="{FF2B5EF4-FFF2-40B4-BE49-F238E27FC236}">
                <a16:creationId xmlns:a16="http://schemas.microsoft.com/office/drawing/2014/main" id="{61B28A78-241A-2226-D684-25BBA8802AA3}"/>
              </a:ext>
            </a:extLst>
          </p:cNvPr>
          <p:cNvSpPr txBox="1"/>
          <p:nvPr/>
        </p:nvSpPr>
        <p:spPr>
          <a:xfrm>
            <a:off x="1675792" y="1683156"/>
            <a:ext cx="3653301"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1" i="0">
                <a:solidFill>
                  <a:srgbClr val="FFFFFF"/>
                </a:solidFill>
                <a:latin typeface="Lato"/>
                <a:ea typeface="Lato"/>
                <a:cs typeface="Lato"/>
                <a:sym typeface="Lato"/>
              </a:rPr>
              <a:t>Llama-1B (Base): 23.8%</a:t>
            </a:r>
            <a:endParaRPr b="1" i="0">
              <a:solidFill>
                <a:srgbClr val="FFFFFF"/>
              </a:solidFill>
              <a:latin typeface="Lato"/>
              <a:ea typeface="Lato"/>
              <a:cs typeface="Lato"/>
              <a:sym typeface="Lato"/>
            </a:endParaRPr>
          </a:p>
        </p:txBody>
      </p:sp>
      <p:sp>
        <p:nvSpPr>
          <p:cNvPr id="9" name="Google Shape;218;p20">
            <a:extLst>
              <a:ext uri="{FF2B5EF4-FFF2-40B4-BE49-F238E27FC236}">
                <a16:creationId xmlns:a16="http://schemas.microsoft.com/office/drawing/2014/main" id="{8DF1B4B2-F172-841A-9654-9ED20AADB09F}"/>
              </a:ext>
            </a:extLst>
          </p:cNvPr>
          <p:cNvSpPr/>
          <p:nvPr/>
        </p:nvSpPr>
        <p:spPr>
          <a:xfrm>
            <a:off x="1493853" y="2394062"/>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 name="Google Shape;216;p20">
            <a:extLst>
              <a:ext uri="{FF2B5EF4-FFF2-40B4-BE49-F238E27FC236}">
                <a16:creationId xmlns:a16="http://schemas.microsoft.com/office/drawing/2014/main" id="{C807A558-46DB-3735-9DFD-4F5B3A3F9117}"/>
              </a:ext>
            </a:extLst>
          </p:cNvPr>
          <p:cNvSpPr/>
          <p:nvPr/>
        </p:nvSpPr>
        <p:spPr>
          <a:xfrm>
            <a:off x="1493853" y="2391786"/>
            <a:ext cx="2432007" cy="271040"/>
          </a:xfrm>
          <a:prstGeom prst="roundRect">
            <a:avLst>
              <a:gd name="adj" fmla="val 50000"/>
            </a:avLst>
          </a:prstGeom>
          <a:solidFill>
            <a:srgbClr val="FDE04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 name="Google Shape;220;p20">
            <a:extLst>
              <a:ext uri="{FF2B5EF4-FFF2-40B4-BE49-F238E27FC236}">
                <a16:creationId xmlns:a16="http://schemas.microsoft.com/office/drawing/2014/main" id="{FCAF18CB-FCD5-24EE-05B4-CBF522EC6642}"/>
              </a:ext>
            </a:extLst>
          </p:cNvPr>
          <p:cNvSpPr txBox="1"/>
          <p:nvPr/>
        </p:nvSpPr>
        <p:spPr>
          <a:xfrm>
            <a:off x="1648779" y="2396653"/>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66" b="0" i="0">
                <a:solidFill>
                  <a:srgbClr val="070B19"/>
                </a:solidFill>
                <a:latin typeface="Lato Black"/>
                <a:ea typeface="Lato Black"/>
                <a:cs typeface="Lato Black"/>
                <a:sym typeface="Lato Black"/>
              </a:rPr>
              <a:t>Llama-1B (SFT): </a:t>
            </a:r>
            <a:r>
              <a:rPr lang="en-US" sz="1366">
                <a:solidFill>
                  <a:srgbClr val="070B19"/>
                </a:solidFill>
                <a:latin typeface="Lato Black"/>
                <a:ea typeface="Lato Black"/>
                <a:cs typeface="Lato Black"/>
                <a:sym typeface="Lato Black"/>
              </a:rPr>
              <a:t>26.8</a:t>
            </a:r>
            <a:r>
              <a:rPr lang="en-US" sz="1366" b="0" i="0">
                <a:solidFill>
                  <a:srgbClr val="070B19"/>
                </a:solidFill>
                <a:latin typeface="Lato Black"/>
                <a:ea typeface="Lato Black"/>
                <a:cs typeface="Lato Black"/>
                <a:sym typeface="Lato Black"/>
              </a:rPr>
              <a:t>%</a:t>
            </a:r>
            <a:endParaRPr sz="1366" b="0" i="0">
              <a:solidFill>
                <a:srgbClr val="070B19"/>
              </a:solidFill>
              <a:latin typeface="Lato Black"/>
              <a:ea typeface="Lato Black"/>
              <a:cs typeface="Lato Black"/>
              <a:sym typeface="Lato Black"/>
            </a:endParaRPr>
          </a:p>
        </p:txBody>
      </p:sp>
      <p:sp>
        <p:nvSpPr>
          <p:cNvPr id="30" name="TextBox 29">
            <a:extLst>
              <a:ext uri="{FF2B5EF4-FFF2-40B4-BE49-F238E27FC236}">
                <a16:creationId xmlns:a16="http://schemas.microsoft.com/office/drawing/2014/main" id="{ED407309-47BA-C39C-0E0A-310E63B20310}"/>
              </a:ext>
            </a:extLst>
          </p:cNvPr>
          <p:cNvSpPr txBox="1"/>
          <p:nvPr/>
        </p:nvSpPr>
        <p:spPr>
          <a:xfrm>
            <a:off x="609021" y="5600870"/>
            <a:ext cx="10421454" cy="1015663"/>
          </a:xfrm>
          <a:prstGeom prst="rect">
            <a:avLst/>
          </a:prstGeom>
          <a:noFill/>
        </p:spPr>
        <p:txBody>
          <a:bodyPr wrap="square" lIns="91440" tIns="45720" rIns="91440" bIns="45720" anchor="t">
            <a:spAutoFit/>
          </a:bodyPr>
          <a:lstStyle/>
          <a:p>
            <a:pPr marL="0" lvl="0" indent="0">
              <a:spcBef>
                <a:spcPts val="0"/>
              </a:spcBef>
              <a:spcAft>
                <a:spcPts val="0"/>
              </a:spcAft>
              <a:buNone/>
            </a:pPr>
            <a:r>
              <a:rPr lang="en-US" sz="2000" b="1">
                <a:solidFill>
                  <a:srgbClr val="C084FC"/>
                </a:solidFill>
                <a:latin typeface="Lato"/>
                <a:ea typeface="Lato"/>
                <a:cs typeface="Lato"/>
                <a:sym typeface="Lato"/>
              </a:rPr>
              <a:t>Metrics on AIME2024 Dataset are not provided because not a single model managed to solve any AIME question. </a:t>
            </a:r>
            <a:r>
              <a:rPr lang="en-US" sz="2000" b="1">
                <a:solidFill>
                  <a:srgbClr val="E2E8F0"/>
                </a:solidFill>
                <a:latin typeface="Lato"/>
                <a:ea typeface="Lato"/>
                <a:cs typeface="Lato"/>
                <a:sym typeface="Lato"/>
              </a:rPr>
              <a:t>The dataset contains a lot of complex questions that require reasoning and creativity that exceed the abilities of such small models</a:t>
            </a:r>
            <a:endParaRPr lang="en-US" sz="2000" b="1" i="0">
              <a:solidFill>
                <a:srgbClr val="C084FC"/>
              </a:solidFill>
              <a:latin typeface="Lato"/>
              <a:ea typeface="Lato"/>
              <a:cs typeface="Lato"/>
            </a:endParaRPr>
          </a:p>
        </p:txBody>
      </p:sp>
      <p:grpSp>
        <p:nvGrpSpPr>
          <p:cNvPr id="43" name="Group 42">
            <a:extLst>
              <a:ext uri="{FF2B5EF4-FFF2-40B4-BE49-F238E27FC236}">
                <a16:creationId xmlns:a16="http://schemas.microsoft.com/office/drawing/2014/main" id="{B2EBA82F-3B25-B87C-97EC-328C509620AA}"/>
              </a:ext>
            </a:extLst>
          </p:cNvPr>
          <p:cNvGrpSpPr/>
          <p:nvPr/>
        </p:nvGrpSpPr>
        <p:grpSpPr>
          <a:xfrm>
            <a:off x="1300204" y="3334003"/>
            <a:ext cx="8985047" cy="1592776"/>
            <a:chOff x="1327225" y="2845449"/>
            <a:chExt cx="8985047" cy="1592776"/>
          </a:xfrm>
        </p:grpSpPr>
        <p:sp>
          <p:nvSpPr>
            <p:cNvPr id="14" name="Google Shape;222;p20">
              <a:extLst>
                <a:ext uri="{FF2B5EF4-FFF2-40B4-BE49-F238E27FC236}">
                  <a16:creationId xmlns:a16="http://schemas.microsoft.com/office/drawing/2014/main" id="{92AB7078-1180-89A9-0882-3005CC3C06C2}"/>
                </a:ext>
              </a:extLst>
            </p:cNvPr>
            <p:cNvSpPr/>
            <p:nvPr/>
          </p:nvSpPr>
          <p:spPr>
            <a:xfrm>
              <a:off x="1327225" y="2845449"/>
              <a:ext cx="8985047" cy="1592776"/>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15" name="Google Shape;223;p20">
              <a:extLst>
                <a:ext uri="{FF2B5EF4-FFF2-40B4-BE49-F238E27FC236}">
                  <a16:creationId xmlns:a16="http://schemas.microsoft.com/office/drawing/2014/main" id="{F83B7F30-8FBE-E50E-F2EB-5EBCF933D71F}"/>
                </a:ext>
              </a:extLst>
            </p:cNvPr>
            <p:cNvSpPr txBox="1"/>
            <p:nvPr/>
          </p:nvSpPr>
          <p:spPr>
            <a:xfrm>
              <a:off x="1520880" y="2944972"/>
              <a:ext cx="5649891" cy="232494"/>
            </a:xfrm>
            <a:prstGeom prst="rect">
              <a:avLst/>
            </a:prstGeom>
            <a:solidFill>
              <a:srgbClr val="000000">
                <a:alpha val="0"/>
              </a:srgbClr>
            </a:solidFill>
            <a:ln>
              <a:noFill/>
            </a:ln>
          </p:spPr>
          <p:txBody>
            <a:bodyPr spcFirstLastPara="1" wrap="square" lIns="0" tIns="0" rIns="0" bIns="0" anchor="ctr" anchorCtr="0">
              <a:noAutofit/>
            </a:bodyPr>
            <a:lstStyle/>
            <a:p>
              <a:pPr lvl="0"/>
              <a:r>
                <a:rPr lang="en-US" sz="1464" b="0" i="0">
                  <a:solidFill>
                    <a:srgbClr val="E2E8F0"/>
                  </a:solidFill>
                  <a:latin typeface="Poppins SemiBold"/>
                  <a:ea typeface="Poppins SemiBold"/>
                  <a:cs typeface="Poppins SemiBold"/>
                  <a:sym typeface="Poppins SemiBold"/>
                </a:rPr>
                <a:t>Qwen</a:t>
              </a:r>
              <a:r>
                <a:rPr lang="en-US" sz="1464">
                  <a:solidFill>
                    <a:srgbClr val="E2E8F0"/>
                  </a:solidFill>
                  <a:latin typeface="Poppins SemiBold"/>
                  <a:ea typeface="Poppins SemiBold"/>
                  <a:cs typeface="Poppins SemiBold"/>
                  <a:sym typeface="Poppins SemiBold"/>
                </a:rPr>
                <a:t>/Qwen2.5-1.5B-Instruct on MATH-500 Dataset </a:t>
              </a:r>
              <a:endParaRPr sz="1464" b="0" i="0">
                <a:solidFill>
                  <a:srgbClr val="E2E8F0"/>
                </a:solidFill>
                <a:latin typeface="Poppins SemiBold"/>
                <a:ea typeface="Poppins SemiBold"/>
                <a:cs typeface="Poppins SemiBold"/>
                <a:sym typeface="Poppins SemiBold"/>
              </a:endParaRPr>
            </a:p>
          </p:txBody>
        </p:sp>
        <p:sp>
          <p:nvSpPr>
            <p:cNvPr id="16" name="Google Shape;224;p20">
              <a:extLst>
                <a:ext uri="{FF2B5EF4-FFF2-40B4-BE49-F238E27FC236}">
                  <a16:creationId xmlns:a16="http://schemas.microsoft.com/office/drawing/2014/main" id="{E3CDDD36-BF63-8055-BBF7-3D54C42AEE18}"/>
                </a:ext>
              </a:extLst>
            </p:cNvPr>
            <p:cNvSpPr/>
            <p:nvPr/>
          </p:nvSpPr>
          <p:spPr>
            <a:xfrm>
              <a:off x="1520880" y="3254802"/>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 name="Google Shape;225;p20">
              <a:extLst>
                <a:ext uri="{FF2B5EF4-FFF2-40B4-BE49-F238E27FC236}">
                  <a16:creationId xmlns:a16="http://schemas.microsoft.com/office/drawing/2014/main" id="{CB74B1D2-F1A5-AE6A-37D0-25F11BC55865}"/>
                </a:ext>
              </a:extLst>
            </p:cNvPr>
            <p:cNvSpPr/>
            <p:nvPr/>
          </p:nvSpPr>
          <p:spPr>
            <a:xfrm>
              <a:off x="1520880" y="3254802"/>
              <a:ext cx="3563037" cy="27104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 name="Google Shape;226;p20">
              <a:extLst>
                <a:ext uri="{FF2B5EF4-FFF2-40B4-BE49-F238E27FC236}">
                  <a16:creationId xmlns:a16="http://schemas.microsoft.com/office/drawing/2014/main" id="{61088496-7DE4-BD56-D5BD-3F8471D751C4}"/>
                </a:ext>
              </a:extLst>
            </p:cNvPr>
            <p:cNvSpPr txBox="1"/>
            <p:nvPr/>
          </p:nvSpPr>
          <p:spPr>
            <a:xfrm>
              <a:off x="1675795" y="3254802"/>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1" i="0">
                  <a:solidFill>
                    <a:srgbClr val="FFFFFF"/>
                  </a:solidFill>
                  <a:latin typeface="Lato"/>
                  <a:ea typeface="Lato"/>
                  <a:cs typeface="Lato"/>
                  <a:sym typeface="Lato"/>
                </a:rPr>
                <a:t>Qwen-1.5B (Base): 40%</a:t>
              </a:r>
              <a:endParaRPr b="1" i="0">
                <a:solidFill>
                  <a:srgbClr val="FFFFFF"/>
                </a:solidFill>
                <a:latin typeface="Lato"/>
                <a:ea typeface="Lato"/>
                <a:cs typeface="Lato"/>
                <a:sym typeface="Lato"/>
              </a:endParaRPr>
            </a:p>
          </p:txBody>
        </p:sp>
        <p:sp>
          <p:nvSpPr>
            <p:cNvPr id="19" name="Google Shape;227;p20">
              <a:extLst>
                <a:ext uri="{FF2B5EF4-FFF2-40B4-BE49-F238E27FC236}">
                  <a16:creationId xmlns:a16="http://schemas.microsoft.com/office/drawing/2014/main" id="{415700D2-D0DE-92F2-ECC5-A66BF9FB0AFA}"/>
                </a:ext>
              </a:extLst>
            </p:cNvPr>
            <p:cNvSpPr/>
            <p:nvPr/>
          </p:nvSpPr>
          <p:spPr>
            <a:xfrm>
              <a:off x="1520880" y="3603359"/>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20" name="Google Shape;228;p20">
              <a:extLst>
                <a:ext uri="{FF2B5EF4-FFF2-40B4-BE49-F238E27FC236}">
                  <a16:creationId xmlns:a16="http://schemas.microsoft.com/office/drawing/2014/main" id="{C3256139-C283-6218-D029-5EF9B3C42D38}"/>
                </a:ext>
              </a:extLst>
            </p:cNvPr>
            <p:cNvSpPr/>
            <p:nvPr/>
          </p:nvSpPr>
          <p:spPr>
            <a:xfrm>
              <a:off x="1520880" y="3603359"/>
              <a:ext cx="3963966" cy="271040"/>
            </a:xfrm>
            <a:prstGeom prst="roundRect">
              <a:avLst>
                <a:gd name="adj" fmla="val 50000"/>
              </a:avLst>
            </a:prstGeom>
            <a:solidFill>
              <a:srgbClr val="FDE047"/>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rgbClr val="FDE047"/>
                </a:solidFill>
              </a:endParaRPr>
            </a:p>
          </p:txBody>
        </p:sp>
        <p:sp>
          <p:nvSpPr>
            <p:cNvPr id="21" name="Google Shape;229;p20">
              <a:extLst>
                <a:ext uri="{FF2B5EF4-FFF2-40B4-BE49-F238E27FC236}">
                  <a16:creationId xmlns:a16="http://schemas.microsoft.com/office/drawing/2014/main" id="{D4C8BA8A-9FAF-90D8-9EC4-F0B9407C421B}"/>
                </a:ext>
              </a:extLst>
            </p:cNvPr>
            <p:cNvSpPr txBox="1"/>
            <p:nvPr/>
          </p:nvSpPr>
          <p:spPr>
            <a:xfrm>
              <a:off x="1675794" y="3603359"/>
              <a:ext cx="4420205"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0" i="0">
                  <a:solidFill>
                    <a:srgbClr val="070B19"/>
                  </a:solidFill>
                  <a:latin typeface="Lato Black"/>
                  <a:ea typeface="Lato Black"/>
                  <a:cs typeface="Lato Black"/>
                  <a:sym typeface="Lato Black"/>
                </a:rPr>
                <a:t>Qwen-1.5B (RLSP on Math Dataset): 43.6%</a:t>
              </a:r>
              <a:endParaRPr b="0" i="0">
                <a:solidFill>
                  <a:srgbClr val="070B19"/>
                </a:solidFill>
                <a:latin typeface="Lato Black"/>
                <a:ea typeface="Lato Black"/>
                <a:cs typeface="Lato Black"/>
                <a:sym typeface="Lato Black"/>
              </a:endParaRPr>
            </a:p>
          </p:txBody>
        </p:sp>
        <p:sp>
          <p:nvSpPr>
            <p:cNvPr id="34" name="Google Shape;234;p20">
              <a:extLst>
                <a:ext uri="{FF2B5EF4-FFF2-40B4-BE49-F238E27FC236}">
                  <a16:creationId xmlns:a16="http://schemas.microsoft.com/office/drawing/2014/main" id="{C5B20AFC-4377-47D8-7F37-A8FC31D8B8C6}"/>
                </a:ext>
              </a:extLst>
            </p:cNvPr>
            <p:cNvSpPr/>
            <p:nvPr/>
          </p:nvSpPr>
          <p:spPr>
            <a:xfrm>
              <a:off x="1520874" y="3984940"/>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35" name="Google Shape;237;p20">
              <a:extLst>
                <a:ext uri="{FF2B5EF4-FFF2-40B4-BE49-F238E27FC236}">
                  <a16:creationId xmlns:a16="http://schemas.microsoft.com/office/drawing/2014/main" id="{29D3A313-4902-C26F-BD24-BB8A262486BE}"/>
                </a:ext>
              </a:extLst>
            </p:cNvPr>
            <p:cNvSpPr/>
            <p:nvPr/>
          </p:nvSpPr>
          <p:spPr>
            <a:xfrm>
              <a:off x="1520867" y="3984389"/>
              <a:ext cx="3649654" cy="26940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 name="Google Shape;238;p20">
              <a:extLst>
                <a:ext uri="{FF2B5EF4-FFF2-40B4-BE49-F238E27FC236}">
                  <a16:creationId xmlns:a16="http://schemas.microsoft.com/office/drawing/2014/main" id="{5E78D645-25B5-4041-E84C-D68480093EAE}"/>
                </a:ext>
              </a:extLst>
            </p:cNvPr>
            <p:cNvSpPr txBox="1"/>
            <p:nvPr/>
          </p:nvSpPr>
          <p:spPr>
            <a:xfrm>
              <a:off x="1675788" y="3984940"/>
              <a:ext cx="6289546" cy="271040"/>
            </a:xfrm>
            <a:prstGeom prst="rect">
              <a:avLst/>
            </a:prstGeom>
            <a:solidFill>
              <a:srgbClr val="000000">
                <a:alpha val="0"/>
              </a:srgbClr>
            </a:solidFill>
            <a:ln>
              <a:noFill/>
            </a:ln>
          </p:spPr>
          <p:txBody>
            <a:bodyPr spcFirstLastPara="1" wrap="square" lIns="0" tIns="0" rIns="0" bIns="0" anchor="ctr" anchorCtr="0">
              <a:noAutofit/>
            </a:bodyPr>
            <a:lstStyle/>
            <a:p>
              <a:pPr lvl="0">
                <a:buClr>
                  <a:schemeClr val="dk1"/>
                </a:buClr>
                <a:buSzPts val="1100"/>
              </a:pPr>
              <a:r>
                <a:rPr lang="en-US">
                  <a:solidFill>
                    <a:schemeClr val="dk1"/>
                  </a:solidFill>
                  <a:latin typeface="Lato Black"/>
                  <a:ea typeface="Lato Black"/>
                  <a:cs typeface="Lato Black"/>
                  <a:sym typeface="Lato Black"/>
                </a:rPr>
                <a:t>Qwen-1.5B (</a:t>
              </a:r>
              <a:r>
                <a:rPr lang="en-US">
                  <a:solidFill>
                    <a:srgbClr val="070B19"/>
                  </a:solidFill>
                  <a:latin typeface="Lato Black"/>
                  <a:ea typeface="Lato Black"/>
                  <a:cs typeface="Lato Black"/>
                  <a:sym typeface="Lato Black"/>
                </a:rPr>
                <a:t>RLSP on AIME Dataset</a:t>
              </a:r>
              <a:r>
                <a:rPr lang="en-US">
                  <a:solidFill>
                    <a:schemeClr val="dk1"/>
                  </a:solidFill>
                  <a:latin typeface="Lato Black"/>
                  <a:ea typeface="Lato Black"/>
                  <a:cs typeface="Lato Black"/>
                  <a:sym typeface="Lato Black"/>
                </a:rPr>
                <a:t>): 40.4%</a:t>
              </a:r>
              <a:endParaRPr b="0" i="0">
                <a:solidFill>
                  <a:schemeClr val="dk1"/>
                </a:solidFill>
                <a:latin typeface="Lato Black"/>
                <a:ea typeface="Lato Black"/>
                <a:cs typeface="Lato Black"/>
                <a:sym typeface="Lato Black"/>
              </a:endParaRPr>
            </a:p>
          </p:txBody>
        </p:sp>
      </p:grpSp>
      <p:sp>
        <p:nvSpPr>
          <p:cNvPr id="37" name="Google Shape;234;p20">
            <a:extLst>
              <a:ext uri="{FF2B5EF4-FFF2-40B4-BE49-F238E27FC236}">
                <a16:creationId xmlns:a16="http://schemas.microsoft.com/office/drawing/2014/main" id="{F845CE21-C079-F53C-4051-494AF98CDFF5}"/>
              </a:ext>
            </a:extLst>
          </p:cNvPr>
          <p:cNvSpPr/>
          <p:nvPr/>
        </p:nvSpPr>
        <p:spPr>
          <a:xfrm>
            <a:off x="1520868" y="2759564"/>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38" name="Google Shape;237;p20">
            <a:extLst>
              <a:ext uri="{FF2B5EF4-FFF2-40B4-BE49-F238E27FC236}">
                <a16:creationId xmlns:a16="http://schemas.microsoft.com/office/drawing/2014/main" id="{95C26311-3543-6EFD-241B-57E34CF69516}"/>
              </a:ext>
            </a:extLst>
          </p:cNvPr>
          <p:cNvSpPr/>
          <p:nvPr/>
        </p:nvSpPr>
        <p:spPr>
          <a:xfrm>
            <a:off x="1520861" y="2759013"/>
            <a:ext cx="2698713" cy="26940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 name="Google Shape;238;p20">
            <a:extLst>
              <a:ext uri="{FF2B5EF4-FFF2-40B4-BE49-F238E27FC236}">
                <a16:creationId xmlns:a16="http://schemas.microsoft.com/office/drawing/2014/main" id="{5D043AC8-7A5D-1702-E324-E27EED800657}"/>
              </a:ext>
            </a:extLst>
          </p:cNvPr>
          <p:cNvSpPr txBox="1"/>
          <p:nvPr/>
        </p:nvSpPr>
        <p:spPr>
          <a:xfrm>
            <a:off x="1675782" y="2759564"/>
            <a:ext cx="3848718"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a:solidFill>
                  <a:schemeClr val="bg1"/>
                </a:solidFill>
                <a:latin typeface="Lato Black"/>
                <a:ea typeface="Lato Black"/>
                <a:cs typeface="Lato Black"/>
                <a:sym typeface="Lato Black"/>
              </a:rPr>
              <a:t>Llama-1B (RLSP+SFT on Math Dataset): 27.8%</a:t>
            </a:r>
            <a:endParaRPr b="0" i="0">
              <a:solidFill>
                <a:schemeClr val="bg1"/>
              </a:solidFill>
              <a:latin typeface="Lato Black"/>
              <a:ea typeface="Lato Black"/>
              <a:cs typeface="Lato Black"/>
              <a:sym typeface="Lato Black"/>
            </a:endParaRPr>
          </a:p>
        </p:txBody>
      </p:sp>
      <p:sp>
        <p:nvSpPr>
          <p:cNvPr id="53" name="Google Shape;215;p20">
            <a:extLst>
              <a:ext uri="{FF2B5EF4-FFF2-40B4-BE49-F238E27FC236}">
                <a16:creationId xmlns:a16="http://schemas.microsoft.com/office/drawing/2014/main" id="{2718D205-A7BE-654D-E84A-685BD069AEFA}"/>
              </a:ext>
            </a:extLst>
          </p:cNvPr>
          <p:cNvSpPr/>
          <p:nvPr/>
        </p:nvSpPr>
        <p:spPr>
          <a:xfrm>
            <a:off x="1493853" y="2046667"/>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219;p20">
            <a:extLst>
              <a:ext uri="{FF2B5EF4-FFF2-40B4-BE49-F238E27FC236}">
                <a16:creationId xmlns:a16="http://schemas.microsoft.com/office/drawing/2014/main" id="{87FFA4E3-6F85-64E1-8F2D-05FAC605E40F}"/>
              </a:ext>
            </a:extLst>
          </p:cNvPr>
          <p:cNvSpPr/>
          <p:nvPr/>
        </p:nvSpPr>
        <p:spPr>
          <a:xfrm>
            <a:off x="1496235" y="2043399"/>
            <a:ext cx="2220075" cy="27104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sz="1319"/>
          </a:p>
        </p:txBody>
      </p:sp>
      <p:sp>
        <p:nvSpPr>
          <p:cNvPr id="55" name="Google Shape;217;p20">
            <a:extLst>
              <a:ext uri="{FF2B5EF4-FFF2-40B4-BE49-F238E27FC236}">
                <a16:creationId xmlns:a16="http://schemas.microsoft.com/office/drawing/2014/main" id="{C6E78BE8-1B0D-BEC4-631C-5D684518B86B}"/>
              </a:ext>
            </a:extLst>
          </p:cNvPr>
          <p:cNvSpPr txBox="1"/>
          <p:nvPr/>
        </p:nvSpPr>
        <p:spPr>
          <a:xfrm>
            <a:off x="1648768" y="2051860"/>
            <a:ext cx="5267097"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66" b="0" i="0">
                <a:solidFill>
                  <a:schemeClr val="bg1"/>
                </a:solidFill>
                <a:latin typeface="Lato Black"/>
                <a:ea typeface="Lato Black"/>
                <a:cs typeface="Lato Black"/>
                <a:sym typeface="Lato Black"/>
              </a:rPr>
              <a:t>Llama-1B (RLSP on Math Dataset): </a:t>
            </a:r>
            <a:r>
              <a:rPr lang="en-US" sz="1366">
                <a:solidFill>
                  <a:schemeClr val="bg1"/>
                </a:solidFill>
                <a:latin typeface="Lato Black"/>
                <a:ea typeface="Lato Black"/>
                <a:cs typeface="Lato Black"/>
                <a:sym typeface="Lato Black"/>
              </a:rPr>
              <a:t>25.8</a:t>
            </a:r>
            <a:r>
              <a:rPr lang="en-US" sz="1366" b="0" i="0">
                <a:solidFill>
                  <a:schemeClr val="bg1"/>
                </a:solidFill>
                <a:latin typeface="Lato Black"/>
                <a:ea typeface="Lato Black"/>
                <a:cs typeface="Lato Black"/>
                <a:sym typeface="Lato Black"/>
              </a:rPr>
              <a:t>%</a:t>
            </a:r>
            <a:endParaRPr sz="1366" b="0" i="0">
              <a:solidFill>
                <a:schemeClr val="bg1"/>
              </a:solidFill>
              <a:latin typeface="Lato Black"/>
              <a:ea typeface="Lato Black"/>
              <a:cs typeface="Lato Black"/>
              <a:sym typeface="Lato Black"/>
            </a:endParaRPr>
          </a:p>
        </p:txBody>
      </p:sp>
    </p:spTree>
    <p:extLst>
      <p:ext uri="{BB962C8B-B14F-4D97-AF65-F5344CB8AC3E}">
        <p14:creationId xmlns:p14="http://schemas.microsoft.com/office/powerpoint/2010/main" val="4134658240"/>
      </p:ext>
    </p:extLst>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F52058AE-67D9-F3FA-0821-978B52A1818F}"/>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25D42B36-8D0A-8AF2-9959-796FD7D6088D}"/>
              </a:ext>
            </a:extLst>
          </p:cNvPr>
          <p:cNvSpPr txBox="1"/>
          <p:nvPr/>
        </p:nvSpPr>
        <p:spPr>
          <a:xfrm>
            <a:off x="571501" y="219670"/>
            <a:ext cx="11049000" cy="923330"/>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Recreation of Paper’s Results (IV) – </a:t>
            </a:r>
          </a:p>
          <a:p>
            <a:pPr lvl="0"/>
            <a:r>
              <a:rPr lang="en-US" sz="3000">
                <a:solidFill>
                  <a:schemeClr val="bg1"/>
                </a:solidFill>
                <a:latin typeface="Poppins SemiBold" panose="00000700000000000000" pitchFamily="2" charset="0"/>
                <a:cs typeface="Poppins SemiBold" panose="00000700000000000000" pitchFamily="2" charset="0"/>
              </a:rPr>
              <a:t>Token Efficiency Examination</a:t>
            </a:r>
          </a:p>
        </p:txBody>
      </p:sp>
      <p:sp>
        <p:nvSpPr>
          <p:cNvPr id="255" name="Google Shape;255;p21">
            <a:extLst>
              <a:ext uri="{FF2B5EF4-FFF2-40B4-BE49-F238E27FC236}">
                <a16:creationId xmlns:a16="http://schemas.microsoft.com/office/drawing/2014/main" id="{9A693EAF-226B-97A9-1098-4D52F31BCE82}"/>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325E6173-E463-ABD9-3AAB-4FC6E2CF4506}"/>
              </a:ext>
            </a:extLst>
          </p:cNvPr>
          <p:cNvSpPr txBox="1"/>
          <p:nvPr/>
        </p:nvSpPr>
        <p:spPr>
          <a:xfrm>
            <a:off x="862012" y="1480183"/>
            <a:ext cx="10467975" cy="1600438"/>
          </a:xfrm>
          <a:prstGeom prst="rect">
            <a:avLst/>
          </a:prstGeom>
          <a:noFill/>
        </p:spPr>
        <p:txBody>
          <a:bodyPr wrap="square" rtlCol="0">
            <a:spAutoFit/>
          </a:bodyPr>
          <a:lstStyle/>
          <a:p>
            <a:r>
              <a:rPr lang="en-US">
                <a:solidFill>
                  <a:schemeClr val="bg1"/>
                </a:solidFill>
                <a:latin typeface="Lato" panose="020F0502020204030203" pitchFamily="34" charset="0"/>
                <a:ea typeface="Lato" panose="020F0502020204030203" pitchFamily="34" charset="0"/>
                <a:cs typeface="Lato" panose="020F0502020204030203" pitchFamily="34" charset="0"/>
              </a:rPr>
              <a:t>In this experimental procedure, we compare the RLSP framework with self-consistency techniques, such as majority voting applied to the base model, while utilizing the same token budget. </a:t>
            </a:r>
          </a:p>
          <a:p>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a:p>
            <a:r>
              <a:rPr lang="en-US">
                <a:solidFill>
                  <a:schemeClr val="bg1"/>
                </a:solidFill>
                <a:latin typeface="Lato" panose="020F0502020204030203" pitchFamily="34" charset="0"/>
                <a:ea typeface="Lato" panose="020F0502020204030203" pitchFamily="34" charset="0"/>
                <a:cs typeface="Lato" panose="020F0502020204030203" pitchFamily="34" charset="0"/>
              </a:rPr>
              <a:t>The objective is to investigate whether RLSP leads to better reasoning while using the same computational resources. </a:t>
            </a:r>
          </a:p>
          <a:p>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a:p>
            <a:r>
              <a:rPr lang="en-US">
                <a:solidFill>
                  <a:schemeClr val="bg1"/>
                </a:solidFill>
                <a:latin typeface="Lato" panose="020F0502020204030203" pitchFamily="34" charset="0"/>
                <a:ea typeface="Lato" panose="020F0502020204030203" pitchFamily="34" charset="0"/>
                <a:cs typeface="Lato" panose="020F0502020204030203" pitchFamily="34" charset="0"/>
              </a:rPr>
              <a:t>By calculating the average number of tokens generated by the RLSP-trained model and dividing it by the corresponding average number of tokens generated by the base model, we determine the average number of samples used for majority voting.</a:t>
            </a:r>
          </a:p>
        </p:txBody>
      </p:sp>
      <p:sp>
        <p:nvSpPr>
          <p:cNvPr id="5" name="TextBox 4">
            <a:extLst>
              <a:ext uri="{FF2B5EF4-FFF2-40B4-BE49-F238E27FC236}">
                <a16:creationId xmlns:a16="http://schemas.microsoft.com/office/drawing/2014/main" id="{01C901DB-1428-DD2A-436C-D0C5500973B2}"/>
              </a:ext>
            </a:extLst>
          </p:cNvPr>
          <p:cNvSpPr txBox="1"/>
          <p:nvPr/>
        </p:nvSpPr>
        <p:spPr>
          <a:xfrm>
            <a:off x="1329489" y="3163537"/>
            <a:ext cx="9323469" cy="1077218"/>
          </a:xfrm>
          <a:prstGeom prst="rect">
            <a:avLst/>
          </a:prstGeom>
          <a:noFill/>
        </p:spPr>
        <p:txBody>
          <a:bodyPr wrap="square" rtlCol="0">
            <a:spAutoFit/>
          </a:bodyPr>
          <a:lstStyle/>
          <a:p>
            <a:pPr algn="just"/>
            <a:r>
              <a:rPr lang="en-US" sz="1600">
                <a:solidFill>
                  <a:srgbClr val="C084FC"/>
                </a:solidFill>
                <a:latin typeface="Lato" panose="020F0502020204030203" pitchFamily="34" charset="0"/>
                <a:ea typeface="Lato" panose="020F0502020204030203" pitchFamily="34" charset="0"/>
                <a:cs typeface="Lato" panose="020F0502020204030203" pitchFamily="34" charset="0"/>
              </a:rPr>
              <a:t>Since the models used in our experiments were not sufficiently large, we observed that the number of tokens generated by the trained model differed from that of the base model by a multiplicative factor smaller than 2. Consequently, investigating whether RLSP can achieve better performance while utilizing, on average, the same number of tokens is not feasible under these experimental conditions.</a:t>
            </a:r>
          </a:p>
        </p:txBody>
      </p:sp>
      <p:sp>
        <p:nvSpPr>
          <p:cNvPr id="18" name="Google Shape;141;p16">
            <a:extLst>
              <a:ext uri="{FF2B5EF4-FFF2-40B4-BE49-F238E27FC236}">
                <a16:creationId xmlns:a16="http://schemas.microsoft.com/office/drawing/2014/main" id="{92E5C1EB-7C9A-A518-6671-AEDE241BB502}"/>
              </a:ext>
            </a:extLst>
          </p:cNvPr>
          <p:cNvSpPr txBox="1"/>
          <p:nvPr/>
        </p:nvSpPr>
        <p:spPr>
          <a:xfrm>
            <a:off x="728907" y="2051986"/>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sp>
        <p:nvSpPr>
          <p:cNvPr id="23" name="Google Shape;141;p16">
            <a:extLst>
              <a:ext uri="{FF2B5EF4-FFF2-40B4-BE49-F238E27FC236}">
                <a16:creationId xmlns:a16="http://schemas.microsoft.com/office/drawing/2014/main" id="{AB325F8B-797C-F472-B416-41941F225875}"/>
              </a:ext>
            </a:extLst>
          </p:cNvPr>
          <p:cNvSpPr txBox="1"/>
          <p:nvPr/>
        </p:nvSpPr>
        <p:spPr>
          <a:xfrm>
            <a:off x="716756" y="1413964"/>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sp>
        <p:nvSpPr>
          <p:cNvPr id="25" name="Google Shape;141;p16">
            <a:extLst>
              <a:ext uri="{FF2B5EF4-FFF2-40B4-BE49-F238E27FC236}">
                <a16:creationId xmlns:a16="http://schemas.microsoft.com/office/drawing/2014/main" id="{578A8E50-CBD6-BCB9-52B1-2A950C457A18}"/>
              </a:ext>
            </a:extLst>
          </p:cNvPr>
          <p:cNvSpPr txBox="1"/>
          <p:nvPr/>
        </p:nvSpPr>
        <p:spPr>
          <a:xfrm>
            <a:off x="728907" y="2480487"/>
            <a:ext cx="201916"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aphicFrame>
        <p:nvGraphicFramePr>
          <p:cNvPr id="35" name="Google Shape;247;p21">
            <a:extLst>
              <a:ext uri="{FF2B5EF4-FFF2-40B4-BE49-F238E27FC236}">
                <a16:creationId xmlns:a16="http://schemas.microsoft.com/office/drawing/2014/main" id="{31E81222-5241-0536-92E2-798F6F744739}"/>
              </a:ext>
            </a:extLst>
          </p:cNvPr>
          <p:cNvGraphicFramePr/>
          <p:nvPr>
            <p:extLst>
              <p:ext uri="{D42A27DB-BD31-4B8C-83A1-F6EECF244321}">
                <p14:modId xmlns:p14="http://schemas.microsoft.com/office/powerpoint/2010/main" val="2331351883"/>
              </p:ext>
            </p:extLst>
          </p:nvPr>
        </p:nvGraphicFramePr>
        <p:xfrm>
          <a:off x="862014" y="5214615"/>
          <a:ext cx="4948944" cy="1389380"/>
        </p:xfrm>
        <a:graphic>
          <a:graphicData uri="http://schemas.openxmlformats.org/drawingml/2006/table">
            <a:tbl>
              <a:tblPr firstRow="1" bandRow="1">
                <a:noFill/>
                <a:tableStyleId>{9F999E4E-5BA7-4DE1-9601-BB02968FC5E9}</a:tableStyleId>
              </a:tblPr>
              <a:tblGrid>
                <a:gridCol w="1330180">
                  <a:extLst>
                    <a:ext uri="{9D8B030D-6E8A-4147-A177-3AD203B41FA5}">
                      <a16:colId xmlns:a16="http://schemas.microsoft.com/office/drawing/2014/main" val="4150823980"/>
                    </a:ext>
                  </a:extLst>
                </a:gridCol>
                <a:gridCol w="1795457">
                  <a:extLst>
                    <a:ext uri="{9D8B030D-6E8A-4147-A177-3AD203B41FA5}">
                      <a16:colId xmlns:a16="http://schemas.microsoft.com/office/drawing/2014/main" val="20001"/>
                    </a:ext>
                  </a:extLst>
                </a:gridCol>
                <a:gridCol w="1823307">
                  <a:extLst>
                    <a:ext uri="{9D8B030D-6E8A-4147-A177-3AD203B41FA5}">
                      <a16:colId xmlns:a16="http://schemas.microsoft.com/office/drawing/2014/main" val="20002"/>
                    </a:ext>
                  </a:extLst>
                </a:gridCol>
              </a:tblGrid>
              <a:tr h="78545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50" b="1" i="0" u="none" strike="noStrike" cap="none">
                          <a:solidFill>
                            <a:srgbClr val="C084FC"/>
                          </a:solidFill>
                          <a:latin typeface="Lato"/>
                          <a:ea typeface="Lato"/>
                          <a:cs typeface="Lato"/>
                          <a:sym typeface="Lato"/>
                        </a:rPr>
                        <a:t>Qwen2.5-1.5B-Instruct + RLSP</a:t>
                      </a:r>
                    </a:p>
                    <a:p>
                      <a:pPr marL="0" marR="0" lvl="0" indent="0" algn="ctr" rtl="0">
                        <a:spcBef>
                          <a:spcPts val="0"/>
                        </a:spcBef>
                        <a:spcAft>
                          <a:spcPts val="0"/>
                        </a:spcAft>
                        <a:buNone/>
                      </a:pPr>
                      <a:r>
                        <a:rPr lang="en-US" sz="1650" b="1" i="0" u="none" strike="noStrike" cap="none" err="1">
                          <a:solidFill>
                            <a:srgbClr val="C084FC"/>
                          </a:solidFill>
                          <a:latin typeface="Lato"/>
                          <a:ea typeface="Lato"/>
                          <a:cs typeface="Lato"/>
                          <a:sym typeface="Lato"/>
                        </a:rPr>
                        <a:t>N_samplings</a:t>
                      </a:r>
                      <a:r>
                        <a:rPr lang="en-US" sz="1650" b="1" i="0" u="none" strike="noStrike" cap="none">
                          <a:solidFill>
                            <a:srgbClr val="C084FC"/>
                          </a:solidFill>
                          <a:latin typeface="Lato"/>
                          <a:ea typeface="Lato"/>
                          <a:cs typeface="Lato"/>
                          <a:sym typeface="Lato"/>
                        </a:rPr>
                        <a:t> = 1</a:t>
                      </a: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50" b="1" i="0" u="none" strike="noStrike" cap="none">
                          <a:solidFill>
                            <a:srgbClr val="C084FC"/>
                          </a:solidFill>
                          <a:latin typeface="Lato"/>
                          <a:ea typeface="Lato"/>
                          <a:cs typeface="Lato"/>
                          <a:sym typeface="Lato"/>
                        </a:rPr>
                        <a:t>Qwen2.5-1.5B-Instruct</a:t>
                      </a:r>
                    </a:p>
                    <a:p>
                      <a:pPr marL="0" marR="0" lvl="0" indent="0" algn="ctr" rtl="0">
                        <a:spcBef>
                          <a:spcPts val="0"/>
                        </a:spcBef>
                        <a:spcAft>
                          <a:spcPts val="0"/>
                        </a:spcAft>
                        <a:buNone/>
                      </a:pPr>
                      <a:r>
                        <a:rPr lang="en-US" sz="1650" b="1" i="0" u="none" strike="noStrike" cap="none" err="1">
                          <a:solidFill>
                            <a:srgbClr val="C084FC"/>
                          </a:solidFill>
                          <a:latin typeface="Lato"/>
                          <a:ea typeface="Lato"/>
                          <a:cs typeface="Lato"/>
                          <a:sym typeface="Lato"/>
                        </a:rPr>
                        <a:t>N_samplings</a:t>
                      </a:r>
                      <a:r>
                        <a:rPr lang="en-US" sz="1650" b="1" i="0" u="none" strike="noStrike" cap="none">
                          <a:solidFill>
                            <a:srgbClr val="C084FC"/>
                          </a:solidFill>
                          <a:latin typeface="Lato"/>
                          <a:ea typeface="Lato"/>
                          <a:cs typeface="Lato"/>
                          <a:sym typeface="Lato"/>
                        </a:rPr>
                        <a:t> = 3</a:t>
                      </a: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extLst>
                  <a:ext uri="{0D108BD9-81ED-4DB2-BD59-A6C34878D82A}">
                    <a16:rowId xmlns:a16="http://schemas.microsoft.com/office/drawing/2014/main" val="10000"/>
                  </a:ext>
                </a:extLst>
              </a:tr>
              <a:tr h="569891">
                <a:tc>
                  <a:txBody>
                    <a:bodyPr/>
                    <a:lstStyle/>
                    <a:p>
                      <a:pPr>
                        <a:lnSpc>
                          <a:spcPts val="1425"/>
                        </a:lnSpc>
                        <a:buNone/>
                      </a:pPr>
                      <a:r>
                        <a:rPr lang="en-US" sz="1600" b="0">
                          <a:solidFill>
                            <a:srgbClr val="7EE787"/>
                          </a:solidFill>
                          <a:effectLst/>
                          <a:latin typeface="Lato" panose="020F0502020204030203" pitchFamily="34" charset="0"/>
                          <a:ea typeface="Lato" panose="020F0502020204030203" pitchFamily="34" charset="0"/>
                          <a:cs typeface="Lato" panose="020F0502020204030203" pitchFamily="34" charset="0"/>
                        </a:rPr>
                        <a:t>Majority voting accuracy</a:t>
                      </a:r>
                      <a:endParaRPr lang="en-US" sz="1600" b="0">
                        <a:solidFill>
                          <a:srgbClr val="BBBEBF"/>
                        </a:solidFill>
                        <a:effectLst/>
                        <a:latin typeface="Lato" panose="020F0502020204030203" pitchFamily="34" charset="0"/>
                        <a:ea typeface="Lato" panose="020F0502020204030203" pitchFamily="34" charset="0"/>
                        <a:cs typeface="Lato" panose="020F0502020204030203"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solidFill>
                            <a:schemeClr val="bg1"/>
                          </a:solidFill>
                          <a:latin typeface="Lato" panose="020F0502020204030203" pitchFamily="34" charset="0"/>
                          <a:ea typeface="Lato" panose="020F0502020204030203" pitchFamily="34" charset="0"/>
                          <a:cs typeface="Lato" panose="020F0502020204030203" pitchFamily="34" charset="0"/>
                        </a:rPr>
                        <a:t>0.436</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solidFill>
                            <a:schemeClr val="bg1"/>
                          </a:solidFill>
                          <a:latin typeface="Lato" panose="020F0502020204030203" pitchFamily="34" charset="0"/>
                          <a:ea typeface="Lato" panose="020F0502020204030203" pitchFamily="34" charset="0"/>
                          <a:cs typeface="Lato" panose="020F0502020204030203" pitchFamily="34" charset="0"/>
                        </a:rPr>
                        <a:t>0.412</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0002"/>
                  </a:ext>
                </a:extLst>
              </a:tr>
            </a:tbl>
          </a:graphicData>
        </a:graphic>
      </p:graphicFrame>
      <p:graphicFrame>
        <p:nvGraphicFramePr>
          <p:cNvPr id="40" name="Table 39">
            <a:extLst>
              <a:ext uri="{FF2B5EF4-FFF2-40B4-BE49-F238E27FC236}">
                <a16:creationId xmlns:a16="http://schemas.microsoft.com/office/drawing/2014/main" id="{5F316C18-48ED-B306-FA4F-00BDE81B6298}"/>
              </a:ext>
            </a:extLst>
          </p:cNvPr>
          <p:cNvGraphicFramePr>
            <a:graphicFrameLocks noGrp="1"/>
          </p:cNvGraphicFramePr>
          <p:nvPr>
            <p:extLst>
              <p:ext uri="{D42A27DB-BD31-4B8C-83A1-F6EECF244321}">
                <p14:modId xmlns:p14="http://schemas.microsoft.com/office/powerpoint/2010/main" val="3313146244"/>
              </p:ext>
            </p:extLst>
          </p:nvPr>
        </p:nvGraphicFramePr>
        <p:xfrm>
          <a:off x="6095999" y="5214615"/>
          <a:ext cx="5281612" cy="1389380"/>
        </p:xfrm>
        <a:graphic>
          <a:graphicData uri="http://schemas.openxmlformats.org/drawingml/2006/table">
            <a:tbl>
              <a:tblPr firstRow="1" bandRow="1">
                <a:noFill/>
                <a:tableStyleId>{9F999E4E-5BA7-4DE1-9601-BB02968FC5E9}</a:tableStyleId>
              </a:tblPr>
              <a:tblGrid>
                <a:gridCol w="1162050">
                  <a:extLst>
                    <a:ext uri="{9D8B030D-6E8A-4147-A177-3AD203B41FA5}">
                      <a16:colId xmlns:a16="http://schemas.microsoft.com/office/drawing/2014/main" val="3112469298"/>
                    </a:ext>
                  </a:extLst>
                </a:gridCol>
                <a:gridCol w="2315227">
                  <a:extLst>
                    <a:ext uri="{9D8B030D-6E8A-4147-A177-3AD203B41FA5}">
                      <a16:colId xmlns:a16="http://schemas.microsoft.com/office/drawing/2014/main" val="307324701"/>
                    </a:ext>
                  </a:extLst>
                </a:gridCol>
                <a:gridCol w="1804335">
                  <a:extLst>
                    <a:ext uri="{9D8B030D-6E8A-4147-A177-3AD203B41FA5}">
                      <a16:colId xmlns:a16="http://schemas.microsoft.com/office/drawing/2014/main" val="2712985452"/>
                    </a:ext>
                  </a:extLst>
                </a:gridCol>
              </a:tblGrid>
              <a:tr h="78545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50" b="1" i="0" u="none" strike="noStrike" cap="none">
                          <a:solidFill>
                            <a:srgbClr val="C084FC"/>
                          </a:solidFill>
                          <a:latin typeface="Lato"/>
                          <a:ea typeface="Lato"/>
                          <a:cs typeface="Lato"/>
                          <a:sym typeface="Lato"/>
                        </a:rPr>
                        <a:t>Llama-3.2-1B-Instruct + (SFT+RLSP)</a:t>
                      </a:r>
                    </a:p>
                    <a:p>
                      <a:pPr marL="0" marR="0" lvl="0" indent="0" algn="ctr" rtl="0">
                        <a:spcBef>
                          <a:spcPts val="0"/>
                        </a:spcBef>
                        <a:spcAft>
                          <a:spcPts val="0"/>
                        </a:spcAft>
                        <a:buNone/>
                      </a:pPr>
                      <a:r>
                        <a:rPr lang="en-US" sz="1650" b="1" i="0" u="none" strike="noStrike" cap="none" err="1">
                          <a:solidFill>
                            <a:srgbClr val="C084FC"/>
                          </a:solidFill>
                          <a:latin typeface="Lato"/>
                          <a:ea typeface="Lato"/>
                          <a:cs typeface="Lato"/>
                          <a:sym typeface="Lato"/>
                        </a:rPr>
                        <a:t>N_samplings</a:t>
                      </a:r>
                      <a:r>
                        <a:rPr lang="en-US" sz="1650" b="1" i="0" u="none" strike="noStrike" cap="none">
                          <a:solidFill>
                            <a:srgbClr val="C084FC"/>
                          </a:solidFill>
                          <a:latin typeface="Lato"/>
                          <a:ea typeface="Lato"/>
                          <a:cs typeface="Lato"/>
                          <a:sym typeface="Lato"/>
                        </a:rPr>
                        <a:t> = 1</a:t>
                      </a: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50" b="1" i="0" u="none" strike="noStrike" cap="none">
                          <a:solidFill>
                            <a:srgbClr val="C084FC"/>
                          </a:solidFill>
                          <a:latin typeface="Lato"/>
                          <a:ea typeface="Lato"/>
                          <a:cs typeface="Lato"/>
                          <a:sym typeface="Lato"/>
                        </a:rPr>
                        <a:t>Llama-3.2-1B-Instruct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50" b="1" i="0" u="none" strike="noStrike" cap="none" err="1">
                          <a:solidFill>
                            <a:srgbClr val="C084FC"/>
                          </a:solidFill>
                          <a:latin typeface="Lato"/>
                          <a:ea typeface="Lato"/>
                          <a:cs typeface="Lato"/>
                          <a:sym typeface="Lato"/>
                        </a:rPr>
                        <a:t>N_samplings</a:t>
                      </a:r>
                      <a:r>
                        <a:rPr lang="en-US" sz="1650" b="1" i="0" u="none" strike="noStrike" cap="none">
                          <a:solidFill>
                            <a:srgbClr val="C084FC"/>
                          </a:solidFill>
                          <a:latin typeface="Lato"/>
                          <a:ea typeface="Lato"/>
                          <a:cs typeface="Lato"/>
                          <a:sym typeface="Lato"/>
                        </a:rPr>
                        <a:t> = 3</a:t>
                      </a: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extLst>
                  <a:ext uri="{0D108BD9-81ED-4DB2-BD59-A6C34878D82A}">
                    <a16:rowId xmlns:a16="http://schemas.microsoft.com/office/drawing/2014/main" val="3810582288"/>
                  </a:ext>
                </a:extLst>
              </a:tr>
              <a:tr h="569891">
                <a:tc>
                  <a:txBody>
                    <a:bodyPr/>
                    <a:lstStyle/>
                    <a:p>
                      <a:pPr>
                        <a:lnSpc>
                          <a:spcPts val="1425"/>
                        </a:lnSpc>
                        <a:buNone/>
                      </a:pPr>
                      <a:r>
                        <a:rPr lang="en-US" sz="1600" b="0">
                          <a:solidFill>
                            <a:srgbClr val="7EE787"/>
                          </a:solidFill>
                          <a:effectLst/>
                          <a:latin typeface="Lato" panose="020F0502020204030203" pitchFamily="34" charset="0"/>
                          <a:ea typeface="Lato" panose="020F0502020204030203" pitchFamily="34" charset="0"/>
                          <a:cs typeface="Lato" panose="020F0502020204030203" pitchFamily="34" charset="0"/>
                        </a:rPr>
                        <a:t>Majority voting accuracy</a:t>
                      </a:r>
                      <a:endParaRPr lang="en-US" sz="1600" b="0">
                        <a:solidFill>
                          <a:srgbClr val="BBBEBF"/>
                        </a:solidFill>
                        <a:effectLst/>
                        <a:latin typeface="Lato" panose="020F0502020204030203" pitchFamily="34" charset="0"/>
                        <a:ea typeface="Lato" panose="020F0502020204030203" pitchFamily="34" charset="0"/>
                        <a:cs typeface="Lato" panose="020F0502020204030203" pitchFamily="34" charset="0"/>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solidFill>
                            <a:schemeClr val="bg1"/>
                          </a:solidFill>
                          <a:latin typeface="Lato" panose="020F0502020204030203" pitchFamily="34" charset="0"/>
                          <a:ea typeface="Lato" panose="020F0502020204030203" pitchFamily="34" charset="0"/>
                          <a:cs typeface="Lato" panose="020F0502020204030203" pitchFamily="34" charset="0"/>
                        </a:rPr>
                        <a:t>0.258</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solidFill>
                            <a:schemeClr val="bg1"/>
                          </a:solidFill>
                          <a:latin typeface="Lato" panose="020F0502020204030203" pitchFamily="34" charset="0"/>
                          <a:ea typeface="Lato" panose="020F0502020204030203" pitchFamily="34" charset="0"/>
                          <a:cs typeface="Lato" panose="020F0502020204030203" pitchFamily="34" charset="0"/>
                        </a:rPr>
                        <a:t>0.238</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3626533828"/>
                  </a:ext>
                </a:extLst>
              </a:tr>
            </a:tbl>
          </a:graphicData>
        </a:graphic>
      </p:graphicFrame>
      <p:sp>
        <p:nvSpPr>
          <p:cNvPr id="42" name="TextBox 41">
            <a:extLst>
              <a:ext uri="{FF2B5EF4-FFF2-40B4-BE49-F238E27FC236}">
                <a16:creationId xmlns:a16="http://schemas.microsoft.com/office/drawing/2014/main" id="{EA5F1684-9436-551D-44E3-4867A158DBD1}"/>
              </a:ext>
            </a:extLst>
          </p:cNvPr>
          <p:cNvSpPr txBox="1"/>
          <p:nvPr/>
        </p:nvSpPr>
        <p:spPr>
          <a:xfrm>
            <a:off x="1436959" y="4695086"/>
            <a:ext cx="9070427" cy="338554"/>
          </a:xfrm>
          <a:prstGeom prst="rect">
            <a:avLst/>
          </a:prstGeom>
          <a:noFill/>
        </p:spPr>
        <p:txBody>
          <a:bodyPr wrap="square">
            <a:spAutoFit/>
          </a:bodyPr>
          <a:lstStyle/>
          <a:p>
            <a:r>
              <a:rPr lang="en-US" sz="1600" b="1">
                <a:solidFill>
                  <a:srgbClr val="FDE047"/>
                </a:solidFill>
                <a:latin typeface="Lato" panose="020F0502020204030203" pitchFamily="34" charset="0"/>
                <a:ea typeface="Lato" panose="020F0502020204030203" pitchFamily="34" charset="0"/>
                <a:cs typeface="Lato" panose="020F0502020204030203" pitchFamily="34" charset="0"/>
              </a:rPr>
              <a:t>Comparison of Majority Voting with 3 samples without token limitations and RLSP </a:t>
            </a:r>
            <a:r>
              <a:rPr lang="en-US" sz="1600" b="1">
                <a:solidFill>
                  <a:srgbClr val="FDE047"/>
                </a:solidFill>
                <a:latin typeface="Lato"/>
                <a:ea typeface="Lato"/>
                <a:cs typeface="Lato"/>
                <a:sym typeface="Lato"/>
              </a:rPr>
              <a:t>trained models</a:t>
            </a:r>
            <a:endParaRPr lang="en-US" sz="1600" b="1">
              <a:solidFill>
                <a:srgbClr val="FDE047"/>
              </a:solidFill>
            </a:endParaRPr>
          </a:p>
        </p:txBody>
      </p:sp>
    </p:spTree>
    <p:extLst>
      <p:ext uri="{BB962C8B-B14F-4D97-AF65-F5344CB8AC3E}">
        <p14:creationId xmlns:p14="http://schemas.microsoft.com/office/powerpoint/2010/main" val="1773483405"/>
      </p:ext>
    </p:extLst>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B13EDD56-AE36-4137-2A26-1C5964E9C6C6}"/>
            </a:ext>
          </a:extLst>
        </p:cNvPr>
        <p:cNvGrpSpPr/>
        <p:nvPr/>
      </p:nvGrpSpPr>
      <p:grpSpPr>
        <a:xfrm>
          <a:off x="0" y="0"/>
          <a:ext cx="0" cy="0"/>
          <a:chOff x="0" y="0"/>
          <a:chExt cx="0" cy="0"/>
        </a:xfrm>
      </p:grpSpPr>
      <p:sp>
        <p:nvSpPr>
          <p:cNvPr id="25" name="Google Shape;231;p20">
            <a:extLst>
              <a:ext uri="{FF2B5EF4-FFF2-40B4-BE49-F238E27FC236}">
                <a16:creationId xmlns:a16="http://schemas.microsoft.com/office/drawing/2014/main" id="{DE4A3D64-22C1-0565-5A79-A8B9F190D4D8}"/>
              </a:ext>
            </a:extLst>
          </p:cNvPr>
          <p:cNvSpPr/>
          <p:nvPr/>
        </p:nvSpPr>
        <p:spPr>
          <a:xfrm>
            <a:off x="537882" y="1258678"/>
            <a:ext cx="11049000" cy="830998"/>
          </a:xfrm>
          <a:prstGeom prst="roundRect">
            <a:avLst>
              <a:gd name="adj" fmla="val 46119"/>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lang="en-US" sz="1138"/>
          </a:p>
        </p:txBody>
      </p:sp>
      <p:sp>
        <p:nvSpPr>
          <p:cNvPr id="23" name="Google Shape;231;p20">
            <a:extLst>
              <a:ext uri="{FF2B5EF4-FFF2-40B4-BE49-F238E27FC236}">
                <a16:creationId xmlns:a16="http://schemas.microsoft.com/office/drawing/2014/main" id="{93D765BA-57C3-38CF-FAEE-444602FD4F39}"/>
              </a:ext>
            </a:extLst>
          </p:cNvPr>
          <p:cNvSpPr/>
          <p:nvPr/>
        </p:nvSpPr>
        <p:spPr>
          <a:xfrm>
            <a:off x="571500" y="2962457"/>
            <a:ext cx="11049000" cy="923356"/>
          </a:xfrm>
          <a:prstGeom prst="roundRect">
            <a:avLst>
              <a:gd name="adj" fmla="val 46119"/>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lang="en-US" sz="1138"/>
          </a:p>
        </p:txBody>
      </p:sp>
      <p:sp>
        <p:nvSpPr>
          <p:cNvPr id="254" name="Google Shape;254;p21">
            <a:extLst>
              <a:ext uri="{FF2B5EF4-FFF2-40B4-BE49-F238E27FC236}">
                <a16:creationId xmlns:a16="http://schemas.microsoft.com/office/drawing/2014/main" id="{4DC6A3EB-D90A-9068-0290-52CB2A4E6924}"/>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Extensions (I)</a:t>
            </a:r>
          </a:p>
        </p:txBody>
      </p:sp>
      <p:sp>
        <p:nvSpPr>
          <p:cNvPr id="255" name="Google Shape;255;p21">
            <a:extLst>
              <a:ext uri="{FF2B5EF4-FFF2-40B4-BE49-F238E27FC236}">
                <a16:creationId xmlns:a16="http://schemas.microsoft.com/office/drawing/2014/main" id="{7EE83826-0D13-ECBF-3512-FFCBFCADD4F1}"/>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255;p21">
            <a:extLst>
              <a:ext uri="{FF2B5EF4-FFF2-40B4-BE49-F238E27FC236}">
                <a16:creationId xmlns:a16="http://schemas.microsoft.com/office/drawing/2014/main" id="{FC7059E9-A8E9-05CB-3328-587736FB2515}"/>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 name="TextBox 14">
            <a:extLst>
              <a:ext uri="{FF2B5EF4-FFF2-40B4-BE49-F238E27FC236}">
                <a16:creationId xmlns:a16="http://schemas.microsoft.com/office/drawing/2014/main" id="{D666FEF0-559D-DC35-B3B1-C4C677B33BF2}"/>
              </a:ext>
            </a:extLst>
          </p:cNvPr>
          <p:cNvSpPr txBox="1"/>
          <p:nvPr/>
        </p:nvSpPr>
        <p:spPr>
          <a:xfrm>
            <a:off x="891241" y="1258678"/>
            <a:ext cx="1040951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1600" b="1" err="1">
                <a:solidFill>
                  <a:srgbClr val="FDE047"/>
                </a:solidFill>
                <a:latin typeface="Lato"/>
                <a:ea typeface="Lato"/>
                <a:cs typeface="Lato"/>
              </a:rPr>
              <a:t>Dynamic</a:t>
            </a:r>
            <a:r>
              <a:rPr lang="el-GR" sz="1600" b="1">
                <a:solidFill>
                  <a:srgbClr val="FDE047"/>
                </a:solidFill>
                <a:latin typeface="Lato"/>
                <a:ea typeface="Lato"/>
                <a:cs typeface="Lato"/>
              </a:rPr>
              <a:t> α: </a:t>
            </a:r>
            <a:r>
              <a:rPr lang="en-US" sz="1600">
                <a:solidFill>
                  <a:srgbClr val="C084FC"/>
                </a:solidFill>
                <a:latin typeface="Lato"/>
                <a:ea typeface="Lato"/>
                <a:cs typeface="Lato"/>
              </a:rPr>
              <a:t>The scope of this experiment is to encourage greater exploration during the early stages of training,  while progressively increasing the emphasis placed on the outcome verifier. Considering the reward function used, α should increase over time.</a:t>
            </a:r>
            <a:endParaRPr lang="el-GR" sz="1600">
              <a:solidFill>
                <a:srgbClr val="C084FC"/>
              </a:solidFill>
              <a:latin typeface="Lato"/>
              <a:ea typeface="Lato"/>
              <a:cs typeface="Lato"/>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8A3033-D89A-6B5C-056A-FB0E1F02C0BE}"/>
                  </a:ext>
                </a:extLst>
              </p:cNvPr>
              <p:cNvSpPr txBox="1"/>
              <p:nvPr/>
            </p:nvSpPr>
            <p:spPr>
              <a:xfrm>
                <a:off x="862852" y="2962457"/>
                <a:ext cx="10466294" cy="9607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l-GR" sz="1600" b="1" err="1">
                    <a:solidFill>
                      <a:srgbClr val="FDE047"/>
                    </a:solidFill>
                    <a:latin typeface="Lato" panose="020F0502020204030203" pitchFamily="34" charset="0"/>
                    <a:ea typeface="Lato" panose="020F0502020204030203" pitchFamily="34" charset="0"/>
                    <a:cs typeface="Lato" panose="020F0502020204030203" pitchFamily="34" charset="0"/>
                  </a:rPr>
                  <a:t>Exploration</a:t>
                </a:r>
                <a:r>
                  <a:rPr lang="el-GR" sz="1600" b="1">
                    <a:solidFill>
                      <a:srgbClr val="FDE047"/>
                    </a:solidFill>
                    <a:latin typeface="Lato" panose="020F0502020204030203" pitchFamily="34" charset="0"/>
                    <a:ea typeface="Lato" panose="020F0502020204030203" pitchFamily="34" charset="0"/>
                    <a:cs typeface="Lato" panose="020F0502020204030203" pitchFamily="34" charset="0"/>
                  </a:rPr>
                  <a:t> </a:t>
                </a:r>
                <a:r>
                  <a:rPr lang="el-GR" sz="1600" b="1" err="1">
                    <a:solidFill>
                      <a:srgbClr val="FDE047"/>
                    </a:solidFill>
                    <a:latin typeface="Lato" panose="020F0502020204030203" pitchFamily="34" charset="0"/>
                    <a:ea typeface="Lato" panose="020F0502020204030203" pitchFamily="34" charset="0"/>
                    <a:cs typeface="Lato" panose="020F0502020204030203" pitchFamily="34" charset="0"/>
                  </a:rPr>
                  <a:t>function</a:t>
                </a:r>
                <a:r>
                  <a:rPr lang="el-GR" sz="1600" b="1">
                    <a:solidFill>
                      <a:srgbClr val="FDE047"/>
                    </a:solidFill>
                    <a:latin typeface="Lato" panose="020F0502020204030203" pitchFamily="34" charset="0"/>
                    <a:ea typeface="Lato" panose="020F0502020204030203" pitchFamily="34" charset="0"/>
                    <a:cs typeface="Lato" panose="020F0502020204030203" pitchFamily="34" charset="0"/>
                  </a:rPr>
                  <a:t>: </a:t>
                </a:r>
                <a:r>
                  <a:rPr lang="en-US" sz="1600">
                    <a:solidFill>
                      <a:srgbClr val="C084FC"/>
                    </a:solidFill>
                    <a:latin typeface="Lato" panose="020F0502020204030203" pitchFamily="34" charset="0"/>
                    <a:ea typeface="Lato" panose="020F0502020204030203" pitchFamily="34" charset="0"/>
                    <a:cs typeface="Lato" panose="020F0502020204030203" pitchFamily="34" charset="0"/>
                  </a:rPr>
                  <a:t>The paper proposes a simple form, Rex(</a:t>
                </a:r>
                <a:r>
                  <a:rPr lang="en-US" sz="1600" err="1">
                    <a:solidFill>
                      <a:srgbClr val="C084FC"/>
                    </a:solidFill>
                    <a:latin typeface="Lato" panose="020F0502020204030203" pitchFamily="34" charset="0"/>
                    <a:ea typeface="Lato" panose="020F0502020204030203" pitchFamily="34" charset="0"/>
                    <a:cs typeface="Lato" panose="020F0502020204030203" pitchFamily="34" charset="0"/>
                  </a:rPr>
                  <a:t>q,o</a:t>
                </a:r>
                <a:r>
                  <a:rPr lang="en-US" sz="1600">
                    <a:solidFill>
                      <a:srgbClr val="C084FC"/>
                    </a:solidFill>
                    <a:latin typeface="Lato" panose="020F0502020204030203" pitchFamily="34" charset="0"/>
                    <a:ea typeface="Lato" panose="020F0502020204030203" pitchFamily="34" charset="0"/>
                    <a:cs typeface="Lato" panose="020F0502020204030203" pitchFamily="34" charset="0"/>
                  </a:rPr>
                  <a:t>)=−C / ∣o∣, where ∣o∣ denotes the number of tokens in the response and C&gt;0 is a constant. In our experiments, we also explore variants of this formulation, including a gentler version (</a:t>
                </a:r>
                <a14:m>
                  <m:oMath xmlns:m="http://schemas.openxmlformats.org/officeDocument/2006/math">
                    <m:r>
                      <a:rPr lang="en-US" sz="1600" b="1">
                        <a:solidFill>
                          <a:srgbClr val="C084FC"/>
                        </a:solidFill>
                        <a:latin typeface="Cambria Math" panose="02040503050406030204" pitchFamily="18" charset="0"/>
                      </a:rPr>
                      <m:t>−</m:t>
                    </m:r>
                    <m:f>
                      <m:fPr>
                        <m:type m:val="skw"/>
                        <m:ctrlPr>
                          <a:rPr lang="en-US" sz="1600" b="1" i="1">
                            <a:solidFill>
                              <a:srgbClr val="C084FC"/>
                            </a:solidFill>
                            <a:latin typeface="Cambria Math" panose="02040503050406030204" pitchFamily="18" charset="0"/>
                          </a:rPr>
                        </m:ctrlPr>
                      </m:fPr>
                      <m:num>
                        <m:r>
                          <m:rPr>
                            <m:sty m:val="p"/>
                          </m:rPr>
                          <a:rPr lang="en-US" sz="1600" b="1" i="1" smtClean="0">
                            <a:solidFill>
                              <a:srgbClr val="C084FC"/>
                            </a:solidFill>
                            <a:latin typeface="Cambria Math" panose="02040503050406030204" pitchFamily="18" charset="0"/>
                          </a:rPr>
                          <m:t>C</m:t>
                        </m:r>
                      </m:num>
                      <m:den>
                        <m:rad>
                          <m:radPr>
                            <m:degHide m:val="on"/>
                            <m:ctrlPr>
                              <a:rPr lang="en-US" sz="1600" b="1" i="1">
                                <a:solidFill>
                                  <a:srgbClr val="C084FC"/>
                                </a:solidFill>
                                <a:latin typeface="Cambria Math" panose="02040503050406030204" pitchFamily="18" charset="0"/>
                              </a:rPr>
                            </m:ctrlPr>
                          </m:radPr>
                          <m:deg/>
                          <m:e>
                            <m:d>
                              <m:dPr>
                                <m:begChr m:val="|"/>
                                <m:endChr m:val="|"/>
                                <m:ctrlPr>
                                  <a:rPr lang="en-US" sz="1600" b="1" i="1">
                                    <a:solidFill>
                                      <a:srgbClr val="C084FC"/>
                                    </a:solidFill>
                                    <a:latin typeface="Cambria Math" panose="02040503050406030204" pitchFamily="18" charset="0"/>
                                  </a:rPr>
                                </m:ctrlPr>
                              </m:dPr>
                              <m:e>
                                <m:r>
                                  <a:rPr lang="en-US" sz="1600" b="1" i="1">
                                    <a:solidFill>
                                      <a:srgbClr val="C084FC"/>
                                    </a:solidFill>
                                    <a:latin typeface="Cambria Math" panose="02040503050406030204" pitchFamily="18" charset="0"/>
                                  </a:rPr>
                                  <m:t>𝑶</m:t>
                                </m:r>
                              </m:e>
                            </m:d>
                          </m:e>
                        </m:rad>
                      </m:den>
                    </m:f>
                  </m:oMath>
                </a14:m>
                <a:r>
                  <a:rPr lang="en-US" sz="1600">
                    <a:solidFill>
                      <a:srgbClr val="C084FC"/>
                    </a:solidFill>
                    <a:latin typeface="Lato" panose="020F0502020204030203" pitchFamily="34" charset="0"/>
                    <a:ea typeface="Lato" panose="020F0502020204030203" pitchFamily="34" charset="0"/>
                    <a:cs typeface="Lato" panose="020F0502020204030203" pitchFamily="34" charset="0"/>
                  </a:rPr>
                  <a:t>)  and a steeper alternative (</a:t>
                </a:r>
                <a14:m>
                  <m:oMath xmlns:m="http://schemas.openxmlformats.org/officeDocument/2006/math">
                    <m:r>
                      <a:rPr lang="en-US" sz="1600" b="1" smtClean="0">
                        <a:solidFill>
                          <a:srgbClr val="C084FC"/>
                        </a:solidFill>
                        <a:latin typeface="Cambria Math" panose="02040503050406030204" pitchFamily="18" charset="0"/>
                      </a:rPr>
                      <m:t>−</m:t>
                    </m:r>
                    <m:sSup>
                      <m:sSupPr>
                        <m:ctrlPr>
                          <a:rPr lang="en-US" sz="1600" b="1" i="1">
                            <a:solidFill>
                              <a:srgbClr val="C084FC"/>
                            </a:solidFill>
                            <a:latin typeface="Cambria Math" panose="02040503050406030204" pitchFamily="18" charset="0"/>
                          </a:rPr>
                        </m:ctrlPr>
                      </m:sSupPr>
                      <m:e>
                        <m:r>
                          <m:rPr>
                            <m:sty m:val="p"/>
                          </m:rPr>
                          <a:rPr lang="en-US" sz="1600" b="1" i="1">
                            <a:solidFill>
                              <a:srgbClr val="C084FC"/>
                            </a:solidFill>
                            <a:latin typeface="Cambria Math" panose="02040503050406030204" pitchFamily="18" charset="0"/>
                          </a:rPr>
                          <m:t>C</m:t>
                        </m:r>
                        <m:r>
                          <a:rPr lang="en-US" sz="1600" b="1" i="1">
                            <a:solidFill>
                              <a:srgbClr val="C084FC"/>
                            </a:solidFill>
                            <a:latin typeface="Cambria Math" panose="02040503050406030204" pitchFamily="18" charset="0"/>
                            <a:ea typeface="Cambria Math" panose="02040503050406030204" pitchFamily="18" charset="0"/>
                          </a:rPr>
                          <m:t>∙</m:t>
                        </m:r>
                        <m:r>
                          <a:rPr lang="en-US" sz="1600" b="1" i="1">
                            <a:solidFill>
                              <a:srgbClr val="C084FC"/>
                            </a:solidFill>
                            <a:latin typeface="Cambria Math" panose="02040503050406030204" pitchFamily="18" charset="0"/>
                          </a:rPr>
                          <m:t>𝒆</m:t>
                        </m:r>
                      </m:e>
                      <m:sup>
                        <m:r>
                          <a:rPr lang="en-US" sz="1600" b="1" i="1">
                            <a:solidFill>
                              <a:srgbClr val="C084FC"/>
                            </a:solidFill>
                            <a:latin typeface="Cambria Math" panose="02040503050406030204" pitchFamily="18" charset="0"/>
                          </a:rPr>
                          <m:t>(−</m:t>
                        </m:r>
                        <m:rad>
                          <m:radPr>
                            <m:degHide m:val="on"/>
                            <m:ctrlPr>
                              <a:rPr lang="en-US" sz="1600" b="1" i="1">
                                <a:solidFill>
                                  <a:srgbClr val="C084FC"/>
                                </a:solidFill>
                                <a:latin typeface="Cambria Math" panose="02040503050406030204" pitchFamily="18" charset="0"/>
                              </a:rPr>
                            </m:ctrlPr>
                          </m:radPr>
                          <m:deg/>
                          <m:e>
                            <m:d>
                              <m:dPr>
                                <m:begChr m:val="|"/>
                                <m:endChr m:val="|"/>
                                <m:ctrlPr>
                                  <a:rPr lang="en-US" sz="1600" b="1" i="1">
                                    <a:solidFill>
                                      <a:srgbClr val="C084FC"/>
                                    </a:solidFill>
                                    <a:latin typeface="Cambria Math" panose="02040503050406030204" pitchFamily="18" charset="0"/>
                                  </a:rPr>
                                </m:ctrlPr>
                              </m:dPr>
                              <m:e>
                                <m:r>
                                  <a:rPr lang="en-US" sz="1600" b="1" i="1">
                                    <a:solidFill>
                                      <a:srgbClr val="C084FC"/>
                                    </a:solidFill>
                                    <a:latin typeface="Cambria Math" panose="02040503050406030204" pitchFamily="18" charset="0"/>
                                  </a:rPr>
                                  <m:t>𝑶</m:t>
                                </m:r>
                              </m:e>
                            </m:d>
                          </m:e>
                        </m:rad>
                        <m:r>
                          <a:rPr lang="en-US" sz="1600" b="1" i="1">
                            <a:solidFill>
                              <a:srgbClr val="C084FC"/>
                            </a:solidFill>
                            <a:latin typeface="Cambria Math" panose="02040503050406030204" pitchFamily="18" charset="0"/>
                          </a:rPr>
                          <m:t>)</m:t>
                        </m:r>
                      </m:sup>
                    </m:sSup>
                  </m:oMath>
                </a14:m>
                <a:r>
                  <a:rPr lang="en-US" sz="1600">
                    <a:solidFill>
                      <a:srgbClr val="C084FC"/>
                    </a:solidFill>
                    <a:latin typeface="Lato" panose="020F0502020204030203" pitchFamily="34" charset="0"/>
                    <a:ea typeface="Lato" panose="020F0502020204030203" pitchFamily="34" charset="0"/>
                    <a:cs typeface="Lato" panose="020F0502020204030203" pitchFamily="34" charset="0"/>
                  </a:rPr>
                  <a:t>).</a:t>
                </a:r>
                <a:endParaRPr lang="el-GR" sz="1200">
                  <a:solidFill>
                    <a:srgbClr val="C084FC"/>
                  </a:solidFill>
                  <a:latin typeface="Lato" panose="020F0502020204030203" pitchFamily="34" charset="0"/>
                  <a:ea typeface="Lato" panose="020F0502020204030203" pitchFamily="34" charset="0"/>
                  <a:cs typeface="Lato" panose="020F0502020204030203" pitchFamily="34" charset="0"/>
                </a:endParaRPr>
              </a:p>
            </p:txBody>
          </p:sp>
        </mc:Choice>
        <mc:Fallback xmlns="">
          <p:sp>
            <p:nvSpPr>
              <p:cNvPr id="19" name="TextBox 18">
                <a:extLst>
                  <a:ext uri="{FF2B5EF4-FFF2-40B4-BE49-F238E27FC236}">
                    <a16:creationId xmlns:a16="http://schemas.microsoft.com/office/drawing/2014/main" id="{258A3033-D89A-6B5C-056A-FB0E1F02C0BE}"/>
                  </a:ext>
                </a:extLst>
              </p:cNvPr>
              <p:cNvSpPr txBox="1">
                <a:spLocks noRot="1" noChangeAspect="1" noMove="1" noResize="1" noEditPoints="1" noAdjustHandles="1" noChangeArrowheads="1" noChangeShapeType="1" noTextEdit="1"/>
              </p:cNvSpPr>
              <p:nvPr/>
            </p:nvSpPr>
            <p:spPr>
              <a:xfrm>
                <a:off x="862852" y="2962457"/>
                <a:ext cx="10466294" cy="960712"/>
              </a:xfrm>
              <a:prstGeom prst="rect">
                <a:avLst/>
              </a:prstGeom>
              <a:blipFill>
                <a:blip r:embed="rId3"/>
                <a:stretch>
                  <a:fillRect l="-350" t="-1899" b="-708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B1B6E57-CAB2-DF0D-A48C-763EC6A541D2}"/>
                  </a:ext>
                </a:extLst>
              </p:cNvPr>
              <p:cNvSpPr txBox="1"/>
              <p:nvPr/>
            </p:nvSpPr>
            <p:spPr>
              <a:xfrm>
                <a:off x="588309" y="2112996"/>
                <a:ext cx="11015382" cy="9301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1" i="1" smtClean="0">
                          <a:solidFill>
                            <a:schemeClr val="bg1"/>
                          </a:solidFill>
                          <a:latin typeface="Cambria Math" panose="02040503050406030204" pitchFamily="18" charset="0"/>
                        </a:rPr>
                        <m:t>𝜶</m:t>
                      </m:r>
                      <m:r>
                        <a:rPr lang="en-US" sz="1800" b="1" i="1" smtClean="0">
                          <a:solidFill>
                            <a:schemeClr val="bg1"/>
                          </a:solidFill>
                          <a:latin typeface="Cambria Math" panose="02040503050406030204" pitchFamily="18" charset="0"/>
                        </a:rPr>
                        <m:t>=</m:t>
                      </m:r>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𝜶</m:t>
                          </m:r>
                        </m:e>
                        <m:sub>
                          <m:r>
                            <m:rPr>
                              <m:nor/>
                            </m:rPr>
                            <a:rPr lang="en-US" sz="1800" b="1" i="0">
                              <a:solidFill>
                                <a:schemeClr val="bg1"/>
                              </a:solidFill>
                              <a:latin typeface="Cambria Math" panose="02040503050406030204" pitchFamily="18" charset="0"/>
                            </a:rPr>
                            <m:t>start</m:t>
                          </m:r>
                        </m:sub>
                      </m:sSub>
                      <m:r>
                        <a:rPr lang="en-US" sz="1800" b="1" i="1">
                          <a:solidFill>
                            <a:schemeClr val="bg1"/>
                          </a:solidFill>
                          <a:latin typeface="Cambria Math" panose="02040503050406030204" pitchFamily="18" charset="0"/>
                        </a:rPr>
                        <m:t>+</m:t>
                      </m:r>
                      <m:r>
                        <a:rPr lang="en-US" sz="1800" b="1" i="1">
                          <a:solidFill>
                            <a:schemeClr val="bg1"/>
                          </a:solidFill>
                          <a:latin typeface="Cambria Math" panose="02040503050406030204" pitchFamily="18" charset="0"/>
                        </a:rPr>
                        <m:t>𝒕</m:t>
                      </m:r>
                      <m:r>
                        <a:rPr lang="en-US" sz="1800" b="1" i="1">
                          <a:solidFill>
                            <a:schemeClr val="bg1"/>
                          </a:solidFill>
                          <a:latin typeface="Cambria Math" panose="02040503050406030204" pitchFamily="18" charset="0"/>
                        </a:rPr>
                        <m:t>⋅</m:t>
                      </m:r>
                      <m:d>
                        <m:dPr>
                          <m:ctrlPr>
                            <a:rPr lang="en-US" sz="1800" b="1" i="1">
                              <a:solidFill>
                                <a:schemeClr val="bg1"/>
                              </a:solidFill>
                              <a:latin typeface="Cambria Math" panose="02040503050406030204" pitchFamily="18" charset="0"/>
                            </a:rPr>
                          </m:ctrlPr>
                        </m:dPr>
                        <m:e>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𝜶</m:t>
                              </m:r>
                            </m:e>
                            <m:sub>
                              <m:r>
                                <m:rPr>
                                  <m:nor/>
                                </m:rPr>
                                <a:rPr lang="en-US" sz="1800" b="1" i="0">
                                  <a:solidFill>
                                    <a:schemeClr val="bg1"/>
                                  </a:solidFill>
                                  <a:latin typeface="Cambria Math" panose="02040503050406030204" pitchFamily="18" charset="0"/>
                                </a:rPr>
                                <m:t>end</m:t>
                              </m:r>
                            </m:sub>
                          </m:sSub>
                          <m:r>
                            <a:rPr lang="en-US" sz="1800" b="1" i="1">
                              <a:solidFill>
                                <a:schemeClr val="bg1"/>
                              </a:solidFill>
                              <a:latin typeface="Cambria Math" panose="02040503050406030204" pitchFamily="18" charset="0"/>
                            </a:rPr>
                            <m:t>−</m:t>
                          </m:r>
                          <m:sSub>
                            <m:sSubPr>
                              <m:ctrlPr>
                                <a:rPr lang="en-US" sz="1800" b="1" i="1">
                                  <a:solidFill>
                                    <a:schemeClr val="bg1"/>
                                  </a:solidFill>
                                  <a:latin typeface="Cambria Math" panose="02040503050406030204" pitchFamily="18" charset="0"/>
                                </a:rPr>
                              </m:ctrlPr>
                            </m:sSubPr>
                            <m:e>
                              <m:r>
                                <a:rPr lang="en-US" sz="1800" b="1" i="1">
                                  <a:solidFill>
                                    <a:schemeClr val="bg1"/>
                                  </a:solidFill>
                                  <a:latin typeface="Cambria Math" panose="02040503050406030204" pitchFamily="18" charset="0"/>
                                </a:rPr>
                                <m:t>𝜶</m:t>
                              </m:r>
                            </m:e>
                            <m:sub>
                              <m:r>
                                <m:rPr>
                                  <m:nor/>
                                </m:rPr>
                                <a:rPr lang="en-US" sz="1800" b="1" i="0">
                                  <a:solidFill>
                                    <a:schemeClr val="bg1"/>
                                  </a:solidFill>
                                  <a:latin typeface="Cambria Math" panose="02040503050406030204" pitchFamily="18" charset="0"/>
                                </a:rPr>
                                <m:t>start</m:t>
                              </m:r>
                            </m:sub>
                          </m:sSub>
                        </m:e>
                      </m:d>
                      <m:r>
                        <a:rPr lang="en-US" sz="1800" b="1" i="1" smtClean="0">
                          <a:solidFill>
                            <a:schemeClr val="bg1"/>
                          </a:solidFill>
                          <a:latin typeface="Cambria Math" panose="02040503050406030204" pitchFamily="18" charset="0"/>
                        </a:rPr>
                        <m:t> </m:t>
                      </m:r>
                      <m:r>
                        <m:rPr>
                          <m:nor/>
                        </m:rPr>
                        <a:rPr lang="en-US" sz="1800" b="1" i="0" smtClean="0">
                          <a:solidFill>
                            <a:schemeClr val="bg1"/>
                          </a:solidFill>
                          <a:latin typeface="Cambria Math" panose="02040503050406030204" pitchFamily="18" charset="0"/>
                        </a:rPr>
                        <m:t>where</m:t>
                      </m:r>
                      <m:r>
                        <m:rPr>
                          <m:nor/>
                        </m:rPr>
                        <a:rPr lang="el-GR" sz="1800" b="1" i="0">
                          <a:solidFill>
                            <a:schemeClr val="bg1"/>
                          </a:solidFill>
                          <a:latin typeface="Cambria Math" panose="02040503050406030204" pitchFamily="18" charset="0"/>
                        </a:rPr>
                        <m:t> </m:t>
                      </m:r>
                      <m:r>
                        <a:rPr lang="en-US" sz="1800" b="1" i="1">
                          <a:solidFill>
                            <a:schemeClr val="bg1"/>
                          </a:solidFill>
                          <a:latin typeface="Cambria Math" panose="02040503050406030204" pitchFamily="18" charset="0"/>
                        </a:rPr>
                        <m:t>𝒕</m:t>
                      </m:r>
                      <m:r>
                        <a:rPr lang="en-US" sz="1800" b="1" i="1">
                          <a:solidFill>
                            <a:schemeClr val="bg1"/>
                          </a:solidFill>
                          <a:latin typeface="Cambria Math" panose="02040503050406030204" pitchFamily="18" charset="0"/>
                        </a:rPr>
                        <m:t>=</m:t>
                      </m:r>
                      <m:func>
                        <m:funcPr>
                          <m:ctrlPr>
                            <a:rPr lang="en-US" sz="1800" b="1" i="1">
                              <a:solidFill>
                                <a:schemeClr val="bg1"/>
                              </a:solidFill>
                              <a:latin typeface="Cambria Math" panose="02040503050406030204" pitchFamily="18" charset="0"/>
                            </a:rPr>
                          </m:ctrlPr>
                        </m:funcPr>
                        <m:fName>
                          <m:r>
                            <a:rPr lang="en-US" sz="1800" b="1" i="0">
                              <a:solidFill>
                                <a:schemeClr val="bg1"/>
                              </a:solidFill>
                              <a:latin typeface="Cambria Math" panose="02040503050406030204" pitchFamily="18" charset="0"/>
                            </a:rPr>
                            <m:t>𝐦𝐢𝐧</m:t>
                          </m:r>
                        </m:fName>
                        <m:e>
                          <m:d>
                            <m:dPr>
                              <m:ctrlPr>
                                <a:rPr lang="en-US" sz="1800" b="1" i="1">
                                  <a:solidFill>
                                    <a:schemeClr val="bg1"/>
                                  </a:solidFill>
                                  <a:latin typeface="Cambria Math" panose="02040503050406030204" pitchFamily="18" charset="0"/>
                                </a:rPr>
                              </m:ctrlPr>
                            </m:dPr>
                            <m:e>
                              <m:f>
                                <m:fPr>
                                  <m:ctrlPr>
                                    <a:rPr lang="en-US" sz="1800" b="1" i="1">
                                      <a:solidFill>
                                        <a:schemeClr val="bg1"/>
                                      </a:solidFill>
                                      <a:latin typeface="Cambria Math" panose="02040503050406030204" pitchFamily="18" charset="0"/>
                                    </a:rPr>
                                  </m:ctrlPr>
                                </m:fPr>
                                <m:num>
                                  <m:r>
                                    <m:rPr>
                                      <m:nor/>
                                    </m:rPr>
                                    <a:rPr lang="en-US" sz="1800" b="1" i="0">
                                      <a:solidFill>
                                        <a:schemeClr val="bg1"/>
                                      </a:solidFill>
                                      <a:latin typeface="Cambria Math" panose="02040503050406030204" pitchFamily="18" charset="0"/>
                                    </a:rPr>
                                    <m:t>current</m:t>
                                  </m:r>
                                  <m:r>
                                    <a:rPr lang="en-US" sz="1800" b="1" i="1" smtClean="0">
                                      <a:solidFill>
                                        <a:schemeClr val="bg1"/>
                                      </a:solidFill>
                                      <a:latin typeface="Cambria Math" panose="02040503050406030204" pitchFamily="18" charset="0"/>
                                    </a:rPr>
                                    <m:t>_</m:t>
                                  </m:r>
                                  <m:r>
                                    <m:rPr>
                                      <m:sty m:val="p"/>
                                    </m:rPr>
                                    <a:rPr lang="en-US" sz="1800" b="1" i="1" smtClean="0">
                                      <a:solidFill>
                                        <a:schemeClr val="bg1"/>
                                      </a:solidFill>
                                      <a:latin typeface="Cambria Math" panose="02040503050406030204" pitchFamily="18" charset="0"/>
                                    </a:rPr>
                                    <m:t>training</m:t>
                                  </m:r>
                                  <m:r>
                                    <a:rPr lang="en-US" sz="1800" b="1" i="1" smtClean="0">
                                      <a:solidFill>
                                        <a:schemeClr val="bg1"/>
                                      </a:solidFill>
                                      <a:latin typeface="Cambria Math" panose="02040503050406030204" pitchFamily="18" charset="0"/>
                                    </a:rPr>
                                    <m:t>_</m:t>
                                  </m:r>
                                  <m:r>
                                    <m:rPr>
                                      <m:sty m:val="p"/>
                                    </m:rPr>
                                    <a:rPr lang="en-US" sz="1800" b="1" i="1" smtClean="0">
                                      <a:solidFill>
                                        <a:schemeClr val="bg1"/>
                                      </a:solidFill>
                                      <a:latin typeface="Cambria Math" panose="02040503050406030204" pitchFamily="18" charset="0"/>
                                    </a:rPr>
                                    <m:t>steps</m:t>
                                  </m:r>
                                </m:num>
                                <m:den>
                                  <m:func>
                                    <m:funcPr>
                                      <m:ctrlPr>
                                        <a:rPr lang="en-US" sz="1800" b="1" i="1">
                                          <a:solidFill>
                                            <a:schemeClr val="bg1"/>
                                          </a:solidFill>
                                          <a:latin typeface="Cambria Math" panose="02040503050406030204" pitchFamily="18" charset="0"/>
                                        </a:rPr>
                                      </m:ctrlPr>
                                    </m:funcPr>
                                    <m:fName>
                                      <m:r>
                                        <a:rPr lang="en-US" sz="1800" b="1" i="0">
                                          <a:solidFill>
                                            <a:schemeClr val="bg1"/>
                                          </a:solidFill>
                                          <a:latin typeface="Cambria Math" panose="02040503050406030204" pitchFamily="18" charset="0"/>
                                        </a:rPr>
                                        <m:t>𝐦𝐚𝐱</m:t>
                                      </m:r>
                                    </m:fName>
                                    <m:e>
                                      <m:d>
                                        <m:dPr>
                                          <m:ctrlPr>
                                            <a:rPr lang="en-US" sz="1800" b="1" i="1">
                                              <a:solidFill>
                                                <a:schemeClr val="bg1"/>
                                              </a:solidFill>
                                              <a:latin typeface="Cambria Math" panose="02040503050406030204" pitchFamily="18" charset="0"/>
                                            </a:rPr>
                                          </m:ctrlPr>
                                        </m:dPr>
                                        <m:e>
                                          <m:r>
                                            <m:rPr>
                                              <m:nor/>
                                            </m:rPr>
                                            <a:rPr lang="en-US" sz="1800" b="1" i="0">
                                              <a:solidFill>
                                                <a:schemeClr val="bg1"/>
                                              </a:solidFill>
                                              <a:latin typeface="Cambria Math" panose="02040503050406030204" pitchFamily="18" charset="0"/>
                                            </a:rPr>
                                            <m:t>max</m:t>
                                          </m:r>
                                          <m:r>
                                            <m:rPr>
                                              <m:lit/>
                                              <m:nor/>
                                            </m:rPr>
                                            <a:rPr lang="en-US" sz="1800" b="1" i="0">
                                              <a:solidFill>
                                                <a:schemeClr val="bg1"/>
                                              </a:solidFill>
                                              <a:latin typeface="Cambria Math" panose="02040503050406030204" pitchFamily="18" charset="0"/>
                                            </a:rPr>
                                            <m:t>_</m:t>
                                          </m:r>
                                          <m:r>
                                            <m:rPr>
                                              <m:nor/>
                                            </m:rPr>
                                            <a:rPr lang="en-US" sz="1800" b="1" i="0" smtClean="0">
                                              <a:solidFill>
                                                <a:schemeClr val="bg1"/>
                                              </a:solidFill>
                                              <a:latin typeface="Cambria Math" panose="02040503050406030204" pitchFamily="18" charset="0"/>
                                            </a:rPr>
                                            <m:t>training</m:t>
                                          </m:r>
                                          <m:r>
                                            <m:rPr>
                                              <m:nor/>
                                            </m:rPr>
                                            <a:rPr lang="en-US" sz="1800" b="1" i="0" smtClean="0">
                                              <a:solidFill>
                                                <a:schemeClr val="bg1"/>
                                              </a:solidFill>
                                              <a:latin typeface="Cambria Math" panose="02040503050406030204" pitchFamily="18" charset="0"/>
                                            </a:rPr>
                                            <m:t>_</m:t>
                                          </m:r>
                                          <m:r>
                                            <m:rPr>
                                              <m:nor/>
                                            </m:rPr>
                                            <a:rPr lang="en-US" sz="1800" b="1" i="0" smtClean="0">
                                              <a:solidFill>
                                                <a:schemeClr val="bg1"/>
                                              </a:solidFill>
                                              <a:latin typeface="Cambria Math" panose="02040503050406030204" pitchFamily="18" charset="0"/>
                                            </a:rPr>
                                            <m:t>steps</m:t>
                                          </m:r>
                                          <m:r>
                                            <a:rPr lang="en-US" sz="1800" b="1" i="1">
                                              <a:solidFill>
                                                <a:schemeClr val="bg1"/>
                                              </a:solidFill>
                                              <a:latin typeface="Cambria Math" panose="02040503050406030204" pitchFamily="18" charset="0"/>
                                            </a:rPr>
                                            <m:t>,</m:t>
                                          </m:r>
                                          <m:r>
                                            <a:rPr lang="en-US" sz="1800" b="1" i="1">
                                              <a:solidFill>
                                                <a:schemeClr val="bg1"/>
                                              </a:solidFill>
                                              <a:latin typeface="Cambria Math" panose="02040503050406030204" pitchFamily="18" charset="0"/>
                                            </a:rPr>
                                            <m:t>𝟏</m:t>
                                          </m:r>
                                        </m:e>
                                      </m:d>
                                    </m:e>
                                  </m:func>
                                </m:den>
                              </m:f>
                              <m:r>
                                <a:rPr lang="en-US" sz="1800" b="1" i="1">
                                  <a:solidFill>
                                    <a:schemeClr val="bg1"/>
                                  </a:solidFill>
                                  <a:latin typeface="Cambria Math" panose="02040503050406030204" pitchFamily="18" charset="0"/>
                                </a:rPr>
                                <m:t>,</m:t>
                              </m:r>
                              <m:r>
                                <a:rPr lang="en-US" sz="1800" b="1" i="1">
                                  <a:solidFill>
                                    <a:schemeClr val="bg1"/>
                                  </a:solidFill>
                                  <a:latin typeface="Cambria Math" panose="02040503050406030204" pitchFamily="18" charset="0"/>
                                </a:rPr>
                                <m:t>𝟏</m:t>
                              </m:r>
                              <m:r>
                                <a:rPr lang="en-US" sz="1800" b="1" i="1">
                                  <a:solidFill>
                                    <a:schemeClr val="bg1"/>
                                  </a:solidFill>
                                  <a:latin typeface="Cambria Math" panose="02040503050406030204" pitchFamily="18" charset="0"/>
                                </a:rPr>
                                <m:t>.</m:t>
                              </m:r>
                              <m:r>
                                <a:rPr lang="en-US" sz="1800" b="1" i="1">
                                  <a:solidFill>
                                    <a:schemeClr val="bg1"/>
                                  </a:solidFill>
                                  <a:latin typeface="Cambria Math" panose="02040503050406030204" pitchFamily="18" charset="0"/>
                                </a:rPr>
                                <m:t>𝟎</m:t>
                              </m:r>
                            </m:e>
                          </m:d>
                        </m:e>
                      </m:func>
                    </m:oMath>
                  </m:oMathPara>
                </a14:m>
                <a:endParaRPr lang="en-US" sz="1800" b="1">
                  <a:solidFill>
                    <a:schemeClr val="bg1"/>
                  </a:solidFill>
                </a:endParaRPr>
              </a:p>
              <a:p>
                <a:endParaRPr lang="en-US" sz="1200">
                  <a:solidFill>
                    <a:schemeClr val="bg1"/>
                  </a:solidFill>
                </a:endParaRPr>
              </a:p>
            </p:txBody>
          </p:sp>
        </mc:Choice>
        <mc:Fallback xmlns="">
          <p:sp>
            <p:nvSpPr>
              <p:cNvPr id="26" name="TextBox 25">
                <a:extLst>
                  <a:ext uri="{FF2B5EF4-FFF2-40B4-BE49-F238E27FC236}">
                    <a16:creationId xmlns:a16="http://schemas.microsoft.com/office/drawing/2014/main" id="{8B1B6E57-CAB2-DF0D-A48C-763EC6A541D2}"/>
                  </a:ext>
                </a:extLst>
              </p:cNvPr>
              <p:cNvSpPr txBox="1">
                <a:spLocks noRot="1" noChangeAspect="1" noMove="1" noResize="1" noEditPoints="1" noAdjustHandles="1" noChangeArrowheads="1" noChangeShapeType="1" noTextEdit="1"/>
              </p:cNvSpPr>
              <p:nvPr/>
            </p:nvSpPr>
            <p:spPr>
              <a:xfrm>
                <a:off x="588309" y="2112996"/>
                <a:ext cx="11015382" cy="930126"/>
              </a:xfrm>
              <a:prstGeom prst="rect">
                <a:avLst/>
              </a:prstGeom>
              <a:blipFill>
                <a:blip r:embed="rId4"/>
                <a:stretch>
                  <a:fillRect/>
                </a:stretch>
              </a:blipFill>
            </p:spPr>
            <p:txBody>
              <a:bodyPr/>
              <a:lstStyle/>
              <a:p>
                <a:r>
                  <a:rPr lang="en-US">
                    <a:noFill/>
                  </a:rPr>
                  <a:t> </a:t>
                </a:r>
              </a:p>
            </p:txBody>
          </p:sp>
        </mc:Fallback>
      </mc:AlternateContent>
      <p:pic>
        <p:nvPicPr>
          <p:cNvPr id="36" name="Picture 35">
            <a:extLst>
              <a:ext uri="{FF2B5EF4-FFF2-40B4-BE49-F238E27FC236}">
                <a16:creationId xmlns:a16="http://schemas.microsoft.com/office/drawing/2014/main" id="{C12CC045-740A-232E-82F3-1007E878AAE5}"/>
              </a:ext>
            </a:extLst>
          </p:cNvPr>
          <p:cNvPicPr>
            <a:picLocks noChangeAspect="1"/>
          </p:cNvPicPr>
          <p:nvPr/>
        </p:nvPicPr>
        <p:blipFill>
          <a:blip r:embed="rId5"/>
          <a:stretch>
            <a:fillRect/>
          </a:stretch>
        </p:blipFill>
        <p:spPr>
          <a:xfrm>
            <a:off x="2548520" y="4003593"/>
            <a:ext cx="7027724" cy="2775106"/>
          </a:xfrm>
          <a:prstGeom prst="rect">
            <a:avLst/>
          </a:prstGeom>
        </p:spPr>
      </p:pic>
    </p:spTree>
    <p:extLst>
      <p:ext uri="{BB962C8B-B14F-4D97-AF65-F5344CB8AC3E}">
        <p14:creationId xmlns:p14="http://schemas.microsoft.com/office/powerpoint/2010/main" val="442214176"/>
      </p:ext>
    </p:extLst>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21615670-8851-E1BE-BA26-ABF71EC6A2D3}"/>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121FA2FC-A716-B0A3-4152-DB1A8261D3E3}"/>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r>
              <a:rPr lang="en-US" sz="3000">
                <a:solidFill>
                  <a:schemeClr val="bg1"/>
                </a:solidFill>
                <a:latin typeface="Poppins SemiBold" panose="00000700000000000000" pitchFamily="2" charset="0"/>
                <a:cs typeface="Poppins SemiBold" panose="00000700000000000000" pitchFamily="2" charset="0"/>
              </a:rPr>
              <a:t>Extensions (II) - Roadmap</a:t>
            </a:r>
          </a:p>
        </p:txBody>
      </p:sp>
      <p:sp>
        <p:nvSpPr>
          <p:cNvPr id="255" name="Google Shape;255;p21">
            <a:extLst>
              <a:ext uri="{FF2B5EF4-FFF2-40B4-BE49-F238E27FC236}">
                <a16:creationId xmlns:a16="http://schemas.microsoft.com/office/drawing/2014/main" id="{05C31D02-C424-ACD9-5239-26D4C3C96DB3}"/>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7" name="Group 26">
            <a:extLst>
              <a:ext uri="{FF2B5EF4-FFF2-40B4-BE49-F238E27FC236}">
                <a16:creationId xmlns:a16="http://schemas.microsoft.com/office/drawing/2014/main" id="{C1401303-DE37-D538-F8FE-40D0FDE38CEB}"/>
              </a:ext>
            </a:extLst>
          </p:cNvPr>
          <p:cNvGrpSpPr/>
          <p:nvPr/>
        </p:nvGrpSpPr>
        <p:grpSpPr>
          <a:xfrm>
            <a:off x="1075996" y="1494344"/>
            <a:ext cx="10040004" cy="2415937"/>
            <a:chOff x="939860" y="1107480"/>
            <a:chExt cx="10040004" cy="2415937"/>
          </a:xfrm>
        </p:grpSpPr>
        <p:grpSp>
          <p:nvGrpSpPr>
            <p:cNvPr id="28" name="Group 27">
              <a:extLst>
                <a:ext uri="{FF2B5EF4-FFF2-40B4-BE49-F238E27FC236}">
                  <a16:creationId xmlns:a16="http://schemas.microsoft.com/office/drawing/2014/main" id="{C7191E57-C46E-1C37-DBA2-5A62D0811B53}"/>
                </a:ext>
              </a:extLst>
            </p:cNvPr>
            <p:cNvGrpSpPr/>
            <p:nvPr/>
          </p:nvGrpSpPr>
          <p:grpSpPr>
            <a:xfrm>
              <a:off x="939860" y="1107480"/>
              <a:ext cx="10040004" cy="2415937"/>
              <a:chOff x="949359" y="1304478"/>
              <a:chExt cx="10040004" cy="3121603"/>
            </a:xfrm>
          </p:grpSpPr>
          <p:sp>
            <p:nvSpPr>
              <p:cNvPr id="30" name="Google Shape;231;p20">
                <a:extLst>
                  <a:ext uri="{FF2B5EF4-FFF2-40B4-BE49-F238E27FC236}">
                    <a16:creationId xmlns:a16="http://schemas.microsoft.com/office/drawing/2014/main" id="{185396EC-39D3-A295-2684-23CE6FD71638}"/>
                  </a:ext>
                </a:extLst>
              </p:cNvPr>
              <p:cNvSpPr/>
              <p:nvPr/>
            </p:nvSpPr>
            <p:spPr>
              <a:xfrm>
                <a:off x="3640439" y="3618348"/>
                <a:ext cx="4515502" cy="738131"/>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31" name="Google Shape;231;p20">
                <a:extLst>
                  <a:ext uri="{FF2B5EF4-FFF2-40B4-BE49-F238E27FC236}">
                    <a16:creationId xmlns:a16="http://schemas.microsoft.com/office/drawing/2014/main" id="{3D5DBC9D-E0D0-4507-FC38-3163B3E49ECE}"/>
                  </a:ext>
                </a:extLst>
              </p:cNvPr>
              <p:cNvSpPr/>
              <p:nvPr/>
            </p:nvSpPr>
            <p:spPr>
              <a:xfrm>
                <a:off x="7866043" y="2578645"/>
                <a:ext cx="2987278" cy="472216"/>
              </a:xfrm>
              <a:prstGeom prst="roundRect">
                <a:avLst>
                  <a:gd name="adj" fmla="val 4464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lang="en-US" sz="1138"/>
              </a:p>
            </p:txBody>
          </p:sp>
          <p:sp>
            <p:nvSpPr>
              <p:cNvPr id="32" name="Google Shape;231;p20">
                <a:extLst>
                  <a:ext uri="{FF2B5EF4-FFF2-40B4-BE49-F238E27FC236}">
                    <a16:creationId xmlns:a16="http://schemas.microsoft.com/office/drawing/2014/main" id="{90092BF6-313C-FA37-D497-947495CD5D3A}"/>
                  </a:ext>
                </a:extLst>
              </p:cNvPr>
              <p:cNvSpPr/>
              <p:nvPr/>
            </p:nvSpPr>
            <p:spPr>
              <a:xfrm>
                <a:off x="3314700" y="1304478"/>
                <a:ext cx="5181600" cy="603352"/>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33" name="TextBox 32">
                <a:extLst>
                  <a:ext uri="{FF2B5EF4-FFF2-40B4-BE49-F238E27FC236}">
                    <a16:creationId xmlns:a16="http://schemas.microsoft.com/office/drawing/2014/main" id="{450553D8-4173-F701-907B-D5F8A96B1112}"/>
                  </a:ext>
                </a:extLst>
              </p:cNvPr>
              <p:cNvSpPr txBox="1"/>
              <p:nvPr/>
            </p:nvSpPr>
            <p:spPr>
              <a:xfrm>
                <a:off x="3166311" y="1400908"/>
                <a:ext cx="5463759" cy="516977"/>
              </a:xfrm>
              <a:prstGeom prst="rect">
                <a:avLst/>
              </a:prstGeom>
              <a:noFill/>
            </p:spPr>
            <p:txBody>
              <a:bodyPr wrap="square">
                <a:spAutoFit/>
              </a:bodyPr>
              <a:lstStyle/>
              <a:p>
                <a:pPr algn="ctr"/>
                <a:r>
                  <a:rPr lang="en-US" sz="2000" b="1">
                    <a:solidFill>
                      <a:srgbClr val="C084FC"/>
                    </a:solidFill>
                    <a:latin typeface="Lato"/>
                    <a:ea typeface="Lato"/>
                    <a:cs typeface="Lato"/>
                    <a:sym typeface="Lato"/>
                  </a:rPr>
                  <a:t>Trained Qwen2.5-1.5B-Instruct</a:t>
                </a:r>
              </a:p>
            </p:txBody>
          </p:sp>
          <p:sp>
            <p:nvSpPr>
              <p:cNvPr id="34" name="TextBox 33">
                <a:extLst>
                  <a:ext uri="{FF2B5EF4-FFF2-40B4-BE49-F238E27FC236}">
                    <a16:creationId xmlns:a16="http://schemas.microsoft.com/office/drawing/2014/main" id="{8D590C4B-1052-576A-F2DB-B06A237A168B}"/>
                  </a:ext>
                </a:extLst>
              </p:cNvPr>
              <p:cNvSpPr txBox="1"/>
              <p:nvPr/>
            </p:nvSpPr>
            <p:spPr>
              <a:xfrm>
                <a:off x="949359" y="3909104"/>
                <a:ext cx="10040004" cy="516977"/>
              </a:xfrm>
              <a:prstGeom prst="rect">
                <a:avLst/>
              </a:prstGeom>
              <a:noFill/>
            </p:spPr>
            <p:txBody>
              <a:bodyPr wrap="square">
                <a:spAutoFit/>
              </a:bodyPr>
              <a:lstStyle/>
              <a:p>
                <a:pPr algn="ctr"/>
                <a:r>
                  <a:rPr lang="en-US" sz="2000" b="1">
                    <a:solidFill>
                      <a:srgbClr val="FDE047"/>
                    </a:solidFill>
                    <a:latin typeface="Lato"/>
                    <a:ea typeface="Lato"/>
                    <a:cs typeface="Lato"/>
                    <a:sym typeface="Lato"/>
                  </a:rPr>
                  <a:t>Evaluation Metrics </a:t>
                </a:r>
              </a:p>
            </p:txBody>
          </p:sp>
          <p:sp>
            <p:nvSpPr>
              <p:cNvPr id="35" name="Right Brace 34">
                <a:extLst>
                  <a:ext uri="{FF2B5EF4-FFF2-40B4-BE49-F238E27FC236}">
                    <a16:creationId xmlns:a16="http://schemas.microsoft.com/office/drawing/2014/main" id="{E8BF35D6-64EF-BA88-5A50-BD9D7AE112A1}"/>
                  </a:ext>
                </a:extLst>
              </p:cNvPr>
              <p:cNvSpPr/>
              <p:nvPr/>
            </p:nvSpPr>
            <p:spPr>
              <a:xfrm rot="16200000">
                <a:off x="5709600" y="-1126697"/>
                <a:ext cx="519523" cy="6795609"/>
              </a:xfrm>
              <a:prstGeom prst="rightBrace">
                <a:avLst/>
              </a:prstGeom>
              <a:ln>
                <a:solidFill>
                  <a:srgbClr val="C084FC"/>
                </a:solidFill>
                <a:headEnd type="arrow" w="med" len="med"/>
                <a:tailEnd type="arrow"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6" name="Google Shape;231;p20">
                <a:extLst>
                  <a:ext uri="{FF2B5EF4-FFF2-40B4-BE49-F238E27FC236}">
                    <a16:creationId xmlns:a16="http://schemas.microsoft.com/office/drawing/2014/main" id="{42735762-B5EC-4442-DE78-FA595571E3BB}"/>
                  </a:ext>
                </a:extLst>
              </p:cNvPr>
              <p:cNvSpPr/>
              <p:nvPr/>
            </p:nvSpPr>
            <p:spPr>
              <a:xfrm>
                <a:off x="1621857" y="2553346"/>
                <a:ext cx="2362854" cy="521824"/>
              </a:xfrm>
              <a:prstGeom prst="roundRect">
                <a:avLst>
                  <a:gd name="adj" fmla="val 46119"/>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lang="en-US" sz="1138"/>
              </a:p>
            </p:txBody>
          </p:sp>
          <p:sp>
            <p:nvSpPr>
              <p:cNvPr id="37" name="TextBox 36">
                <a:extLst>
                  <a:ext uri="{FF2B5EF4-FFF2-40B4-BE49-F238E27FC236}">
                    <a16:creationId xmlns:a16="http://schemas.microsoft.com/office/drawing/2014/main" id="{99BC5B27-520F-6236-8BEA-CCEC5C768120}"/>
                  </a:ext>
                </a:extLst>
              </p:cNvPr>
              <p:cNvSpPr txBox="1"/>
              <p:nvPr/>
            </p:nvSpPr>
            <p:spPr>
              <a:xfrm>
                <a:off x="1641328" y="2524014"/>
                <a:ext cx="2328536" cy="516977"/>
              </a:xfrm>
              <a:prstGeom prst="rect">
                <a:avLst/>
              </a:prstGeom>
              <a:noFill/>
            </p:spPr>
            <p:txBody>
              <a:bodyPr wrap="square">
                <a:spAutoFit/>
              </a:bodyPr>
              <a:lstStyle/>
              <a:p>
                <a:pPr algn="ctr"/>
                <a:r>
                  <a:rPr lang="en-US" sz="2000" b="1">
                    <a:solidFill>
                      <a:srgbClr val="FDE047"/>
                    </a:solidFill>
                    <a:latin typeface="Lato"/>
                    <a:ea typeface="Lato"/>
                    <a:cs typeface="Lato"/>
                    <a:sym typeface="Lato"/>
                  </a:rPr>
                  <a:t>Dynamic</a:t>
                </a:r>
                <a:r>
                  <a:rPr lang="el-GR" sz="2000" b="1">
                    <a:solidFill>
                      <a:srgbClr val="FDE047"/>
                    </a:solidFill>
                    <a:latin typeface="Lato"/>
                    <a:ea typeface="Lato"/>
                    <a:cs typeface="Lato"/>
                    <a:sym typeface="Lato"/>
                  </a:rPr>
                  <a:t> α</a:t>
                </a:r>
                <a:endParaRPr lang="en-US">
                  <a:solidFill>
                    <a:srgbClr val="FDE047"/>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C12127B-0B65-D62A-5865-21778DE941F0}"/>
                      </a:ext>
                    </a:extLst>
                  </p:cNvPr>
                  <p:cNvSpPr txBox="1"/>
                  <p:nvPr/>
                </p:nvSpPr>
                <p:spPr>
                  <a:xfrm>
                    <a:off x="7866043" y="2535856"/>
                    <a:ext cx="3123320" cy="636113"/>
                  </a:xfrm>
                  <a:prstGeom prst="rect">
                    <a:avLst/>
                  </a:prstGeom>
                  <a:noFill/>
                </p:spPr>
                <p:txBody>
                  <a:bodyPr wrap="square">
                    <a:spAutoFit/>
                  </a:bodyPr>
                  <a:lstStyle/>
                  <a:p>
                    <a:r>
                      <a:rPr lang="en-US" sz="1800" b="1">
                        <a:solidFill>
                          <a:srgbClr val="FDE047"/>
                        </a:solidFill>
                        <a:latin typeface="Lato" panose="020F0502020204030203" pitchFamily="34" charset="0"/>
                        <a:ea typeface="Lato" panose="020F0502020204030203" pitchFamily="34" charset="0"/>
                        <a:cs typeface="Lato" panose="020F0502020204030203" pitchFamily="34" charset="0"/>
                      </a:rPr>
                      <a:t>Exploration Reward</a:t>
                    </a:r>
                    <a14:m>
                      <m:oMath xmlns:m="http://schemas.openxmlformats.org/officeDocument/2006/math">
                        <m:r>
                          <a:rPr lang="en-US" sz="1800" b="1">
                            <a:solidFill>
                              <a:srgbClr val="FDE047"/>
                            </a:solidFill>
                            <a:latin typeface="Cambria Math" panose="02040503050406030204" pitchFamily="18" charset="0"/>
                          </a:rPr>
                          <m:t>−</m:t>
                        </m:r>
                        <m:f>
                          <m:fPr>
                            <m:type m:val="skw"/>
                            <m:ctrlPr>
                              <a:rPr lang="en-US" sz="1800" b="1" i="1">
                                <a:solidFill>
                                  <a:srgbClr val="FDE047"/>
                                </a:solidFill>
                                <a:latin typeface="Cambria Math" panose="02040503050406030204" pitchFamily="18" charset="0"/>
                              </a:rPr>
                            </m:ctrlPr>
                          </m:fPr>
                          <m:num>
                            <m:r>
                              <m:rPr>
                                <m:sty m:val="p"/>
                              </m:rPr>
                              <a:rPr lang="en-US" sz="1800" b="1" i="1" smtClean="0">
                                <a:solidFill>
                                  <a:srgbClr val="FDE047"/>
                                </a:solidFill>
                                <a:latin typeface="Cambria Math" panose="02040503050406030204" pitchFamily="18" charset="0"/>
                              </a:rPr>
                              <m:t>C</m:t>
                            </m:r>
                          </m:num>
                          <m:den>
                            <m:rad>
                              <m:radPr>
                                <m:degHide m:val="on"/>
                                <m:ctrlPr>
                                  <a:rPr lang="en-US" sz="1800" b="1" i="1">
                                    <a:solidFill>
                                      <a:srgbClr val="FDE047"/>
                                    </a:solidFill>
                                    <a:latin typeface="Cambria Math" panose="02040503050406030204" pitchFamily="18" charset="0"/>
                                  </a:rPr>
                                </m:ctrlPr>
                              </m:radPr>
                              <m:deg/>
                              <m:e>
                                <m:d>
                                  <m:dPr>
                                    <m:begChr m:val="|"/>
                                    <m:endChr m:val="|"/>
                                    <m:ctrlPr>
                                      <a:rPr lang="en-US" sz="1800" b="1" i="1">
                                        <a:solidFill>
                                          <a:srgbClr val="FDE047"/>
                                        </a:solidFill>
                                        <a:latin typeface="Cambria Math" panose="02040503050406030204" pitchFamily="18" charset="0"/>
                                      </a:rPr>
                                    </m:ctrlPr>
                                  </m:dPr>
                                  <m:e>
                                    <m:r>
                                      <a:rPr lang="en-US" sz="1800" b="1" i="1">
                                        <a:solidFill>
                                          <a:srgbClr val="FDE047"/>
                                        </a:solidFill>
                                        <a:latin typeface="Cambria Math" panose="02040503050406030204" pitchFamily="18" charset="0"/>
                                      </a:rPr>
                                      <m:t>𝑶</m:t>
                                    </m:r>
                                  </m:e>
                                </m:d>
                              </m:e>
                            </m:rad>
                          </m:den>
                        </m:f>
                      </m:oMath>
                    </a14:m>
                    <a:endParaRPr lang="en-US">
                      <a:solidFill>
                        <a:srgbClr val="FDE047"/>
                      </a:solidFill>
                    </a:endParaRPr>
                  </a:p>
                </p:txBody>
              </p:sp>
            </mc:Choice>
            <mc:Fallback xmlns="">
              <p:sp>
                <p:nvSpPr>
                  <p:cNvPr id="38" name="TextBox 37">
                    <a:extLst>
                      <a:ext uri="{FF2B5EF4-FFF2-40B4-BE49-F238E27FC236}">
                        <a16:creationId xmlns:a16="http://schemas.microsoft.com/office/drawing/2014/main" id="{EC12127B-0B65-D62A-5865-21778DE941F0}"/>
                      </a:ext>
                    </a:extLst>
                  </p:cNvPr>
                  <p:cNvSpPr txBox="1">
                    <a:spLocks noRot="1" noChangeAspect="1" noMove="1" noResize="1" noEditPoints="1" noAdjustHandles="1" noChangeArrowheads="1" noChangeShapeType="1" noTextEdit="1"/>
                  </p:cNvSpPr>
                  <p:nvPr/>
                </p:nvSpPr>
                <p:spPr>
                  <a:xfrm>
                    <a:off x="7866043" y="2535856"/>
                    <a:ext cx="3123320" cy="636113"/>
                  </a:xfrm>
                  <a:prstGeom prst="rect">
                    <a:avLst/>
                  </a:prstGeom>
                  <a:blipFill>
                    <a:blip r:embed="rId3"/>
                    <a:stretch>
                      <a:fillRect l="-1563" t="-109877" r="-9766" b="-162963"/>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40FBC112-CA1E-16E5-7230-BA2E143D256A}"/>
                  </a:ext>
                </a:extLst>
              </p:cNvPr>
              <p:cNvSpPr txBox="1"/>
              <p:nvPr/>
            </p:nvSpPr>
            <p:spPr>
              <a:xfrm>
                <a:off x="4437891" y="3576121"/>
                <a:ext cx="3062941" cy="400110"/>
              </a:xfrm>
              <a:prstGeom prst="rect">
                <a:avLst/>
              </a:prstGeom>
              <a:noFill/>
            </p:spPr>
            <p:txBody>
              <a:bodyPr wrap="square">
                <a:spAutoFit/>
              </a:bodyPr>
              <a:lstStyle/>
              <a:p>
                <a:r>
                  <a:rPr kumimoji="0" lang="en-US" sz="2000" b="1" i="0" u="none" strike="noStrike" kern="0" cap="none" spc="0" normalizeH="0" baseline="0" noProof="0">
                    <a:ln>
                      <a:noFill/>
                    </a:ln>
                    <a:solidFill>
                      <a:srgbClr val="C084FC"/>
                    </a:solidFill>
                    <a:effectLst/>
                    <a:uLnTx/>
                    <a:uFillTx/>
                    <a:latin typeface="Lato"/>
                    <a:ea typeface="Lato"/>
                    <a:cs typeface="Lato"/>
                    <a:sym typeface="Lato"/>
                  </a:rPr>
                  <a:t>Evaluation on MATH500</a:t>
                </a:r>
                <a:endParaRPr lang="en-US"/>
              </a:p>
            </p:txBody>
          </p:sp>
        </p:grpSp>
        <p:sp>
          <p:nvSpPr>
            <p:cNvPr id="29" name="Right Brace 28">
              <a:extLst>
                <a:ext uri="{FF2B5EF4-FFF2-40B4-BE49-F238E27FC236}">
                  <a16:creationId xmlns:a16="http://schemas.microsoft.com/office/drawing/2014/main" id="{02978B3F-D967-BE39-182F-0813DD1EDF53}"/>
                </a:ext>
              </a:extLst>
            </p:cNvPr>
            <p:cNvSpPr/>
            <p:nvPr/>
          </p:nvSpPr>
          <p:spPr>
            <a:xfrm rot="5400000">
              <a:off x="5779384" y="-702968"/>
              <a:ext cx="360954" cy="6795610"/>
            </a:xfrm>
            <a:prstGeom prst="rightBrace">
              <a:avLst/>
            </a:prstGeom>
            <a:ln>
              <a:solidFill>
                <a:srgbClr val="C084FC"/>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47E3A8B0-476A-4BBF-A993-40DBC661255F}"/>
              </a:ext>
            </a:extLst>
          </p:cNvPr>
          <p:cNvGrpSpPr/>
          <p:nvPr/>
        </p:nvGrpSpPr>
        <p:grpSpPr>
          <a:xfrm>
            <a:off x="993299" y="4309773"/>
            <a:ext cx="10040004" cy="2437008"/>
            <a:chOff x="882684" y="1313063"/>
            <a:chExt cx="10040004" cy="3148828"/>
          </a:xfrm>
        </p:grpSpPr>
        <p:sp>
          <p:nvSpPr>
            <p:cNvPr id="48" name="Google Shape;231;p20">
              <a:extLst>
                <a:ext uri="{FF2B5EF4-FFF2-40B4-BE49-F238E27FC236}">
                  <a16:creationId xmlns:a16="http://schemas.microsoft.com/office/drawing/2014/main" id="{4868B8B9-0A58-2C64-0852-A8DDD4EB1EFF}"/>
                </a:ext>
              </a:extLst>
            </p:cNvPr>
            <p:cNvSpPr/>
            <p:nvPr/>
          </p:nvSpPr>
          <p:spPr>
            <a:xfrm>
              <a:off x="3573764" y="3654158"/>
              <a:ext cx="4515502" cy="738131"/>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49" name="Google Shape;231;p20">
              <a:extLst>
                <a:ext uri="{FF2B5EF4-FFF2-40B4-BE49-F238E27FC236}">
                  <a16:creationId xmlns:a16="http://schemas.microsoft.com/office/drawing/2014/main" id="{35A67805-E1F2-C1C1-BF4E-798960399679}"/>
                </a:ext>
              </a:extLst>
            </p:cNvPr>
            <p:cNvSpPr/>
            <p:nvPr/>
          </p:nvSpPr>
          <p:spPr>
            <a:xfrm>
              <a:off x="3947310" y="2556204"/>
              <a:ext cx="3805399" cy="417408"/>
            </a:xfrm>
            <a:prstGeom prst="roundRect">
              <a:avLst>
                <a:gd name="adj" fmla="val 4464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lang="en-US" sz="1138"/>
            </a:p>
          </p:txBody>
        </p:sp>
        <p:sp>
          <p:nvSpPr>
            <p:cNvPr id="50" name="Google Shape;231;p20">
              <a:extLst>
                <a:ext uri="{FF2B5EF4-FFF2-40B4-BE49-F238E27FC236}">
                  <a16:creationId xmlns:a16="http://schemas.microsoft.com/office/drawing/2014/main" id="{5E1D78B2-7774-C09C-1CC2-2175B8445B77}"/>
                </a:ext>
              </a:extLst>
            </p:cNvPr>
            <p:cNvSpPr/>
            <p:nvPr/>
          </p:nvSpPr>
          <p:spPr>
            <a:xfrm>
              <a:off x="3327907" y="1313063"/>
              <a:ext cx="5181600" cy="603352"/>
            </a:xfrm>
            <a:prstGeom prst="roundRect">
              <a:avLst>
                <a:gd name="adj" fmla="val 6315"/>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51" name="TextBox 50">
              <a:extLst>
                <a:ext uri="{FF2B5EF4-FFF2-40B4-BE49-F238E27FC236}">
                  <a16:creationId xmlns:a16="http://schemas.microsoft.com/office/drawing/2014/main" id="{2BD2CBAE-B284-2E6E-BB97-FB7262252B2E}"/>
                </a:ext>
              </a:extLst>
            </p:cNvPr>
            <p:cNvSpPr txBox="1"/>
            <p:nvPr/>
          </p:nvSpPr>
          <p:spPr>
            <a:xfrm>
              <a:off x="3166311" y="1400908"/>
              <a:ext cx="5463759" cy="516977"/>
            </a:xfrm>
            <a:prstGeom prst="rect">
              <a:avLst/>
            </a:prstGeom>
            <a:noFill/>
          </p:spPr>
          <p:txBody>
            <a:bodyPr wrap="square">
              <a:spAutoFit/>
            </a:bodyPr>
            <a:lstStyle/>
            <a:p>
              <a:pPr algn="ctr"/>
              <a:r>
                <a:rPr lang="en-US" sz="2000" b="1">
                  <a:solidFill>
                    <a:srgbClr val="C084FC"/>
                  </a:solidFill>
                  <a:latin typeface="Lato"/>
                  <a:ea typeface="Lato"/>
                  <a:cs typeface="Lato"/>
                  <a:sym typeface="Lato"/>
                </a:rPr>
                <a:t>Trained Llama-3.2-1B-Instruct </a:t>
              </a:r>
            </a:p>
          </p:txBody>
        </p:sp>
        <p:sp>
          <p:nvSpPr>
            <p:cNvPr id="52" name="TextBox 51">
              <a:extLst>
                <a:ext uri="{FF2B5EF4-FFF2-40B4-BE49-F238E27FC236}">
                  <a16:creationId xmlns:a16="http://schemas.microsoft.com/office/drawing/2014/main" id="{5FB62A69-E810-4CB4-089F-71BBDC2927C5}"/>
                </a:ext>
              </a:extLst>
            </p:cNvPr>
            <p:cNvSpPr txBox="1"/>
            <p:nvPr/>
          </p:nvSpPr>
          <p:spPr>
            <a:xfrm>
              <a:off x="882684" y="3944914"/>
              <a:ext cx="10040004" cy="516977"/>
            </a:xfrm>
            <a:prstGeom prst="rect">
              <a:avLst/>
            </a:prstGeom>
            <a:noFill/>
          </p:spPr>
          <p:txBody>
            <a:bodyPr wrap="square">
              <a:spAutoFit/>
            </a:bodyPr>
            <a:lstStyle/>
            <a:p>
              <a:pPr algn="ctr"/>
              <a:r>
                <a:rPr lang="en-US" sz="2000" b="1">
                  <a:solidFill>
                    <a:srgbClr val="FDE047"/>
                  </a:solidFill>
                  <a:latin typeface="Lato"/>
                  <a:ea typeface="Lato"/>
                  <a:cs typeface="Lato"/>
                  <a:sym typeface="Lato"/>
                </a:rPr>
                <a:t>Evaluation Metrics </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E180012-8830-C261-16D8-379EDC5B2577}"/>
                    </a:ext>
                  </a:extLst>
                </p:cNvPr>
                <p:cNvSpPr txBox="1"/>
                <p:nvPr/>
              </p:nvSpPr>
              <p:spPr>
                <a:xfrm>
                  <a:off x="3947310" y="2458119"/>
                  <a:ext cx="3901759" cy="613579"/>
                </a:xfrm>
                <a:prstGeom prst="rect">
                  <a:avLst/>
                </a:prstGeom>
                <a:noFill/>
              </p:spPr>
              <p:txBody>
                <a:bodyPr wrap="square">
                  <a:spAutoFit/>
                </a:bodyPr>
                <a:lstStyle/>
                <a:p>
                  <a:r>
                    <a:rPr lang="en-US" sz="2000" b="1">
                      <a:solidFill>
                        <a:srgbClr val="FDE047"/>
                      </a:solidFill>
                      <a:latin typeface="Lato" panose="020F0502020204030203" pitchFamily="34" charset="0"/>
                      <a:ea typeface="Lato" panose="020F0502020204030203" pitchFamily="34" charset="0"/>
                      <a:cs typeface="Lato" panose="020F0502020204030203" pitchFamily="34" charset="0"/>
                    </a:rPr>
                    <a:t>Exploration Reward </a:t>
                  </a:r>
                  <a14:m>
                    <m:oMath xmlns:m="http://schemas.openxmlformats.org/officeDocument/2006/math">
                      <m:r>
                        <a:rPr lang="en-US" sz="2000" b="1" i="0" smtClean="0">
                          <a:solidFill>
                            <a:srgbClr val="FDE047"/>
                          </a:solidFill>
                          <a:latin typeface="Cambria Math" panose="02040503050406030204" pitchFamily="18" charset="0"/>
                        </a:rPr>
                        <m:t>−</m:t>
                      </m:r>
                      <m:sSup>
                        <m:sSupPr>
                          <m:ctrlPr>
                            <a:rPr lang="en-US" sz="2000" b="1" i="1">
                              <a:solidFill>
                                <a:srgbClr val="FDE047"/>
                              </a:solidFill>
                              <a:latin typeface="Cambria Math" panose="02040503050406030204" pitchFamily="18" charset="0"/>
                            </a:rPr>
                          </m:ctrlPr>
                        </m:sSupPr>
                        <m:e>
                          <m:r>
                            <m:rPr>
                              <m:sty m:val="p"/>
                            </m:rPr>
                            <a:rPr lang="en-US" sz="2000" b="1" i="1" smtClean="0">
                              <a:solidFill>
                                <a:srgbClr val="FDE047"/>
                              </a:solidFill>
                              <a:latin typeface="Cambria Math" panose="02040503050406030204" pitchFamily="18" charset="0"/>
                            </a:rPr>
                            <m:t>C</m:t>
                          </m:r>
                          <m:r>
                            <a:rPr lang="en-US" sz="2000" b="1" i="1" smtClean="0">
                              <a:solidFill>
                                <a:srgbClr val="FDE047"/>
                              </a:solidFill>
                              <a:latin typeface="Cambria Math" panose="02040503050406030204" pitchFamily="18" charset="0"/>
                              <a:ea typeface="Cambria Math" panose="02040503050406030204" pitchFamily="18" charset="0"/>
                            </a:rPr>
                            <m:t>∙</m:t>
                          </m:r>
                          <m:r>
                            <a:rPr lang="en-US" sz="2000" b="1" i="1">
                              <a:solidFill>
                                <a:srgbClr val="FDE047"/>
                              </a:solidFill>
                              <a:latin typeface="Cambria Math" panose="02040503050406030204" pitchFamily="18" charset="0"/>
                            </a:rPr>
                            <m:t>𝒆</m:t>
                          </m:r>
                        </m:e>
                        <m:sup>
                          <m:r>
                            <a:rPr lang="en-US" sz="2000" b="1" i="1">
                              <a:solidFill>
                                <a:srgbClr val="FDE047"/>
                              </a:solidFill>
                              <a:latin typeface="Cambria Math" panose="02040503050406030204" pitchFamily="18" charset="0"/>
                            </a:rPr>
                            <m:t>(−</m:t>
                          </m:r>
                          <m:rad>
                            <m:radPr>
                              <m:degHide m:val="on"/>
                              <m:ctrlPr>
                                <a:rPr lang="en-US" sz="2000" b="1" i="1">
                                  <a:solidFill>
                                    <a:srgbClr val="FDE047"/>
                                  </a:solidFill>
                                  <a:latin typeface="Cambria Math" panose="02040503050406030204" pitchFamily="18" charset="0"/>
                                </a:rPr>
                              </m:ctrlPr>
                            </m:radPr>
                            <m:deg/>
                            <m:e>
                              <m:d>
                                <m:dPr>
                                  <m:begChr m:val="|"/>
                                  <m:endChr m:val="|"/>
                                  <m:ctrlPr>
                                    <a:rPr lang="en-US" sz="2000" b="1" i="1">
                                      <a:solidFill>
                                        <a:srgbClr val="FDE047"/>
                                      </a:solidFill>
                                      <a:latin typeface="Cambria Math" panose="02040503050406030204" pitchFamily="18" charset="0"/>
                                    </a:rPr>
                                  </m:ctrlPr>
                                </m:dPr>
                                <m:e>
                                  <m:r>
                                    <a:rPr lang="en-US" sz="2000" b="1" i="1">
                                      <a:solidFill>
                                        <a:srgbClr val="FDE047"/>
                                      </a:solidFill>
                                      <a:latin typeface="Cambria Math" panose="02040503050406030204" pitchFamily="18" charset="0"/>
                                    </a:rPr>
                                    <m:t>𝑶</m:t>
                                  </m:r>
                                </m:e>
                              </m:d>
                            </m:e>
                          </m:rad>
                          <m:r>
                            <a:rPr lang="en-US" sz="2000" b="1" i="1">
                              <a:solidFill>
                                <a:srgbClr val="FDE047"/>
                              </a:solidFill>
                              <a:latin typeface="Cambria Math" panose="02040503050406030204" pitchFamily="18" charset="0"/>
                            </a:rPr>
                            <m:t>)</m:t>
                          </m:r>
                        </m:sup>
                      </m:sSup>
                    </m:oMath>
                  </a14:m>
                  <a:endParaRPr lang="en-US" sz="2000">
                    <a:solidFill>
                      <a:srgbClr val="FDE047"/>
                    </a:solidFill>
                  </a:endParaRPr>
                </a:p>
              </p:txBody>
            </p:sp>
          </mc:Choice>
          <mc:Fallback xmlns="">
            <p:sp>
              <p:nvSpPr>
                <p:cNvPr id="56" name="TextBox 55">
                  <a:extLst>
                    <a:ext uri="{FF2B5EF4-FFF2-40B4-BE49-F238E27FC236}">
                      <a16:creationId xmlns:a16="http://schemas.microsoft.com/office/drawing/2014/main" id="{FE180012-8830-C261-16D8-379EDC5B2577}"/>
                    </a:ext>
                  </a:extLst>
                </p:cNvPr>
                <p:cNvSpPr txBox="1">
                  <a:spLocks noRot="1" noChangeAspect="1" noMove="1" noResize="1" noEditPoints="1" noAdjustHandles="1" noChangeArrowheads="1" noChangeShapeType="1" noTextEdit="1"/>
                </p:cNvSpPr>
                <p:nvPr/>
              </p:nvSpPr>
              <p:spPr>
                <a:xfrm>
                  <a:off x="3947310" y="2458119"/>
                  <a:ext cx="3901759" cy="613579"/>
                </a:xfrm>
                <a:prstGeom prst="rect">
                  <a:avLst/>
                </a:prstGeom>
                <a:blipFill>
                  <a:blip r:embed="rId4"/>
                  <a:stretch>
                    <a:fillRect l="-1719" b="-21795"/>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AD164DBC-EFA9-C02D-8C1D-B000C9A04FF3}"/>
                </a:ext>
              </a:extLst>
            </p:cNvPr>
            <p:cNvSpPr txBox="1"/>
            <p:nvPr/>
          </p:nvSpPr>
          <p:spPr>
            <a:xfrm>
              <a:off x="4371216" y="3611931"/>
              <a:ext cx="3062941" cy="400110"/>
            </a:xfrm>
            <a:prstGeom prst="rect">
              <a:avLst/>
            </a:prstGeom>
            <a:noFill/>
          </p:spPr>
          <p:txBody>
            <a:bodyPr wrap="square">
              <a:spAutoFit/>
            </a:bodyPr>
            <a:lstStyle/>
            <a:p>
              <a:r>
                <a:rPr kumimoji="0" lang="en-US" sz="2000" b="1" i="0" u="none" strike="noStrike" kern="0" cap="none" spc="0" normalizeH="0" baseline="0" noProof="0">
                  <a:ln>
                    <a:noFill/>
                  </a:ln>
                  <a:solidFill>
                    <a:srgbClr val="C084FC"/>
                  </a:solidFill>
                  <a:effectLst/>
                  <a:uLnTx/>
                  <a:uFillTx/>
                  <a:latin typeface="Lato"/>
                  <a:ea typeface="Lato"/>
                  <a:cs typeface="Lato"/>
                  <a:sym typeface="Lato"/>
                </a:rPr>
                <a:t>Evaluation on MATH500</a:t>
              </a:r>
              <a:endParaRPr lang="en-US"/>
            </a:p>
          </p:txBody>
        </p:sp>
      </p:grpSp>
      <p:sp>
        <p:nvSpPr>
          <p:cNvPr id="59" name="Google Shape;255;p21">
            <a:extLst>
              <a:ext uri="{FF2B5EF4-FFF2-40B4-BE49-F238E27FC236}">
                <a16:creationId xmlns:a16="http://schemas.microsoft.com/office/drawing/2014/main" id="{2355869E-7128-60D7-91F0-F5564A73391A}"/>
              </a:ext>
            </a:extLst>
          </p:cNvPr>
          <p:cNvSpPr/>
          <p:nvPr/>
        </p:nvSpPr>
        <p:spPr>
          <a:xfrm>
            <a:off x="1530296" y="4074008"/>
            <a:ext cx="9131405" cy="11526"/>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Straight Arrow Connector 1">
            <a:extLst>
              <a:ext uri="{FF2B5EF4-FFF2-40B4-BE49-F238E27FC236}">
                <a16:creationId xmlns:a16="http://schemas.microsoft.com/office/drawing/2014/main" id="{E1EB716D-FF25-CA38-8726-127EE1975931}"/>
              </a:ext>
            </a:extLst>
          </p:cNvPr>
          <p:cNvCxnSpPr>
            <a:cxnSpLocks/>
            <a:stCxn id="51" idx="2"/>
            <a:endCxn id="56" idx="0"/>
          </p:cNvCxnSpPr>
          <p:nvPr/>
        </p:nvCxnSpPr>
        <p:spPr>
          <a:xfrm flipH="1">
            <a:off x="6008805" y="4777870"/>
            <a:ext cx="1" cy="418109"/>
          </a:xfrm>
          <a:prstGeom prst="straightConnector1">
            <a:avLst/>
          </a:prstGeom>
          <a:ln>
            <a:solidFill>
              <a:srgbClr val="C084FC"/>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6BC9F803-7B09-1E16-D8D0-E11FAB778315}"/>
              </a:ext>
            </a:extLst>
          </p:cNvPr>
          <p:cNvCxnSpPr>
            <a:cxnSpLocks/>
            <a:stCxn id="56" idx="2"/>
            <a:endCxn id="57" idx="0"/>
          </p:cNvCxnSpPr>
          <p:nvPr/>
        </p:nvCxnSpPr>
        <p:spPr>
          <a:xfrm>
            <a:off x="6008805" y="5670853"/>
            <a:ext cx="4497" cy="418109"/>
          </a:xfrm>
          <a:prstGeom prst="straightConnector1">
            <a:avLst/>
          </a:prstGeom>
          <a:ln>
            <a:solidFill>
              <a:srgbClr val="C084FC"/>
            </a:solidFill>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16363784"/>
      </p:ext>
    </p:extLst>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C07A27DD-7148-EEE1-DD87-6803BF0FAC69}"/>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72D42A79-B58E-C410-0AA4-E7E8B2451E75}"/>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Extensions (III) - Metrics</a:t>
            </a:r>
          </a:p>
        </p:txBody>
      </p:sp>
      <p:sp>
        <p:nvSpPr>
          <p:cNvPr id="255" name="Google Shape;255;p21">
            <a:extLst>
              <a:ext uri="{FF2B5EF4-FFF2-40B4-BE49-F238E27FC236}">
                <a16:creationId xmlns:a16="http://schemas.microsoft.com/office/drawing/2014/main" id="{02B97C1E-BCBB-7487-3225-D1D8007CD189}"/>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210;p20">
            <a:extLst>
              <a:ext uri="{FF2B5EF4-FFF2-40B4-BE49-F238E27FC236}">
                <a16:creationId xmlns:a16="http://schemas.microsoft.com/office/drawing/2014/main" id="{EF1A1A34-0067-C212-4FA4-34644647CB34}"/>
              </a:ext>
            </a:extLst>
          </p:cNvPr>
          <p:cNvSpPr/>
          <p:nvPr/>
        </p:nvSpPr>
        <p:spPr>
          <a:xfrm>
            <a:off x="1220825" y="2045352"/>
            <a:ext cx="9750350" cy="1770464"/>
          </a:xfrm>
          <a:prstGeom prst="roundRect">
            <a:avLst>
              <a:gd name="adj" fmla="val 11032"/>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 name="Google Shape;211;p20">
            <a:extLst>
              <a:ext uri="{FF2B5EF4-FFF2-40B4-BE49-F238E27FC236}">
                <a16:creationId xmlns:a16="http://schemas.microsoft.com/office/drawing/2014/main" id="{CA4AC269-AFA0-BEDB-8963-123492E939EF}"/>
              </a:ext>
            </a:extLst>
          </p:cNvPr>
          <p:cNvSpPr txBox="1"/>
          <p:nvPr/>
        </p:nvSpPr>
        <p:spPr>
          <a:xfrm>
            <a:off x="1414468" y="2161536"/>
            <a:ext cx="6597954" cy="232494"/>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64" b="0" i="0">
                <a:solidFill>
                  <a:srgbClr val="E2E8F0"/>
                </a:solidFill>
                <a:latin typeface="Poppins SemiBold"/>
                <a:ea typeface="Poppins SemiBold"/>
                <a:cs typeface="Poppins SemiBold"/>
                <a:sym typeface="Poppins SemiBold"/>
              </a:rPr>
              <a:t>meta-llama/Llama-3.2-1B-Instruct on MATH-500 Dataset</a:t>
            </a:r>
            <a:endParaRPr sz="1464" b="0" i="0">
              <a:solidFill>
                <a:srgbClr val="E2E8F0"/>
              </a:solidFill>
              <a:latin typeface="Poppins SemiBold"/>
              <a:ea typeface="Poppins SemiBold"/>
              <a:cs typeface="Poppins SemiBold"/>
              <a:sym typeface="Poppins SemiBold"/>
            </a:endParaRPr>
          </a:p>
        </p:txBody>
      </p:sp>
      <p:grpSp>
        <p:nvGrpSpPr>
          <p:cNvPr id="10" name="Group 9">
            <a:extLst>
              <a:ext uri="{FF2B5EF4-FFF2-40B4-BE49-F238E27FC236}">
                <a16:creationId xmlns:a16="http://schemas.microsoft.com/office/drawing/2014/main" id="{2AA0D6C9-20F1-1890-B85B-125B016768EE}"/>
              </a:ext>
            </a:extLst>
          </p:cNvPr>
          <p:cNvGrpSpPr/>
          <p:nvPr/>
        </p:nvGrpSpPr>
        <p:grpSpPr>
          <a:xfrm>
            <a:off x="1193804" y="4122223"/>
            <a:ext cx="9750350" cy="1907101"/>
            <a:chOff x="1327225" y="2845448"/>
            <a:chExt cx="8985047" cy="1907101"/>
          </a:xfrm>
        </p:grpSpPr>
        <p:sp>
          <p:nvSpPr>
            <p:cNvPr id="11" name="Google Shape;222;p20">
              <a:extLst>
                <a:ext uri="{FF2B5EF4-FFF2-40B4-BE49-F238E27FC236}">
                  <a16:creationId xmlns:a16="http://schemas.microsoft.com/office/drawing/2014/main" id="{1D549C0E-3BBA-1BE2-11CF-589BA128067E}"/>
                </a:ext>
              </a:extLst>
            </p:cNvPr>
            <p:cNvSpPr/>
            <p:nvPr/>
          </p:nvSpPr>
          <p:spPr>
            <a:xfrm>
              <a:off x="1327225" y="2845448"/>
              <a:ext cx="8985047" cy="1907101"/>
            </a:xfrm>
            <a:prstGeom prst="roundRect">
              <a:avLst>
                <a:gd name="adj" fmla="val 12534"/>
              </a:avLst>
            </a:prstGeom>
            <a:solidFill>
              <a:srgbClr val="111A33"/>
            </a:solidFill>
            <a:ln w="7750" cap="flat" cmpd="sng">
              <a:solidFill>
                <a:srgbClr val="2A3A5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12" name="Google Shape;223;p20">
              <a:extLst>
                <a:ext uri="{FF2B5EF4-FFF2-40B4-BE49-F238E27FC236}">
                  <a16:creationId xmlns:a16="http://schemas.microsoft.com/office/drawing/2014/main" id="{64D55FD4-FB98-8992-5835-5CD112293A0D}"/>
                </a:ext>
              </a:extLst>
            </p:cNvPr>
            <p:cNvSpPr txBox="1"/>
            <p:nvPr/>
          </p:nvSpPr>
          <p:spPr>
            <a:xfrm>
              <a:off x="1520880" y="2944972"/>
              <a:ext cx="5649891" cy="232494"/>
            </a:xfrm>
            <a:prstGeom prst="rect">
              <a:avLst/>
            </a:prstGeom>
            <a:solidFill>
              <a:srgbClr val="000000">
                <a:alpha val="0"/>
              </a:srgbClr>
            </a:solidFill>
            <a:ln>
              <a:noFill/>
            </a:ln>
          </p:spPr>
          <p:txBody>
            <a:bodyPr spcFirstLastPara="1" wrap="square" lIns="0" tIns="0" rIns="0" bIns="0" anchor="ctr" anchorCtr="0">
              <a:noAutofit/>
            </a:bodyPr>
            <a:lstStyle/>
            <a:p>
              <a:pPr lvl="0"/>
              <a:r>
                <a:rPr lang="en-US" sz="1464" b="0" i="0">
                  <a:solidFill>
                    <a:srgbClr val="E2E8F0"/>
                  </a:solidFill>
                  <a:latin typeface="Poppins SemiBold"/>
                  <a:ea typeface="Poppins SemiBold"/>
                  <a:cs typeface="Poppins SemiBold"/>
                  <a:sym typeface="Poppins SemiBold"/>
                </a:rPr>
                <a:t>Qwen</a:t>
              </a:r>
              <a:r>
                <a:rPr lang="en-US" sz="1464">
                  <a:solidFill>
                    <a:srgbClr val="E2E8F0"/>
                  </a:solidFill>
                  <a:latin typeface="Poppins SemiBold"/>
                  <a:ea typeface="Poppins SemiBold"/>
                  <a:cs typeface="Poppins SemiBold"/>
                  <a:sym typeface="Poppins SemiBold"/>
                </a:rPr>
                <a:t>/Qwen2.5-1.5B-Instruct on MATH-500 Dataset </a:t>
              </a:r>
              <a:endParaRPr sz="1464" b="0" i="0">
                <a:solidFill>
                  <a:srgbClr val="E2E8F0"/>
                </a:solidFill>
                <a:latin typeface="Poppins SemiBold"/>
                <a:ea typeface="Poppins SemiBold"/>
                <a:cs typeface="Poppins SemiBold"/>
                <a:sym typeface="Poppins SemiBold"/>
              </a:endParaRPr>
            </a:p>
          </p:txBody>
        </p:sp>
        <p:sp>
          <p:nvSpPr>
            <p:cNvPr id="13" name="Google Shape;224;p20">
              <a:extLst>
                <a:ext uri="{FF2B5EF4-FFF2-40B4-BE49-F238E27FC236}">
                  <a16:creationId xmlns:a16="http://schemas.microsoft.com/office/drawing/2014/main" id="{A68DF04F-0B34-5A82-35F8-F27FBFCE2698}"/>
                </a:ext>
              </a:extLst>
            </p:cNvPr>
            <p:cNvSpPr/>
            <p:nvPr/>
          </p:nvSpPr>
          <p:spPr>
            <a:xfrm>
              <a:off x="1520867" y="3631674"/>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 name="Google Shape;225;p20">
              <a:extLst>
                <a:ext uri="{FF2B5EF4-FFF2-40B4-BE49-F238E27FC236}">
                  <a16:creationId xmlns:a16="http://schemas.microsoft.com/office/drawing/2014/main" id="{AC7B5B54-5308-DFEC-6081-6ABBC4F803A4}"/>
                </a:ext>
              </a:extLst>
            </p:cNvPr>
            <p:cNvSpPr/>
            <p:nvPr/>
          </p:nvSpPr>
          <p:spPr>
            <a:xfrm>
              <a:off x="1520867" y="3631674"/>
              <a:ext cx="4160829" cy="271040"/>
            </a:xfrm>
            <a:prstGeom prst="roundRect">
              <a:avLst>
                <a:gd name="adj" fmla="val 50000"/>
              </a:avLst>
            </a:prstGeom>
            <a:solidFill>
              <a:srgbClr val="FDE04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 name="Google Shape;226;p20">
              <a:extLst>
                <a:ext uri="{FF2B5EF4-FFF2-40B4-BE49-F238E27FC236}">
                  <a16:creationId xmlns:a16="http://schemas.microsoft.com/office/drawing/2014/main" id="{B1D3D5B5-DB42-90AB-4A48-6C492B4329BF}"/>
                </a:ext>
              </a:extLst>
            </p:cNvPr>
            <p:cNvSpPr txBox="1"/>
            <p:nvPr/>
          </p:nvSpPr>
          <p:spPr>
            <a:xfrm>
              <a:off x="1675782" y="3631674"/>
              <a:ext cx="4199556" cy="271040"/>
            </a:xfrm>
            <a:prstGeom prst="rect">
              <a:avLst/>
            </a:prstGeom>
            <a:solidFill>
              <a:srgbClr val="000000">
                <a:alpha val="0"/>
              </a:srgbClr>
            </a:solidFill>
            <a:ln>
              <a:noFill/>
            </a:ln>
          </p:spPr>
          <p:txBody>
            <a:bodyPr spcFirstLastPara="1" wrap="square" lIns="0" tIns="0" rIns="0" bIns="0" anchor="ctr" anchorCtr="0">
              <a:noAutofit/>
            </a:bodyPr>
            <a:lstStyle/>
            <a:p>
              <a:pPr lvl="0"/>
              <a:r>
                <a:rPr lang="en-US" b="1" i="0">
                  <a:solidFill>
                    <a:schemeClr val="tx1"/>
                  </a:solidFill>
                  <a:latin typeface="Lato"/>
                  <a:ea typeface="Lato"/>
                  <a:cs typeface="Lato"/>
                  <a:sym typeface="Lato"/>
                </a:rPr>
                <a:t>Qwen-1.5B (Dynamic </a:t>
              </a:r>
              <a:r>
                <a:rPr lang="en-US">
                  <a:solidFill>
                    <a:schemeClr val="tx1"/>
                  </a:solidFill>
                  <a:latin typeface="Lato Black"/>
                  <a:ea typeface="Lato Black"/>
                  <a:cs typeface="Lato Black"/>
                  <a:sym typeface="Lato Black"/>
                </a:rPr>
                <a:t>RLSP on Math Dataset</a:t>
              </a:r>
              <a:r>
                <a:rPr lang="en-US" b="1" i="0">
                  <a:solidFill>
                    <a:schemeClr val="tx1"/>
                  </a:solidFill>
                  <a:latin typeface="Lato"/>
                  <a:ea typeface="Lato"/>
                  <a:cs typeface="Lato"/>
                  <a:sym typeface="Lato"/>
                </a:rPr>
                <a:t>): 44.4%</a:t>
              </a:r>
              <a:endParaRPr b="1" i="0">
                <a:solidFill>
                  <a:schemeClr val="tx1"/>
                </a:solidFill>
                <a:latin typeface="Lato"/>
                <a:ea typeface="Lato"/>
                <a:cs typeface="Lato"/>
                <a:sym typeface="Lato"/>
              </a:endParaRPr>
            </a:p>
          </p:txBody>
        </p:sp>
        <p:sp>
          <p:nvSpPr>
            <p:cNvPr id="16" name="Google Shape;227;p20">
              <a:extLst>
                <a:ext uri="{FF2B5EF4-FFF2-40B4-BE49-F238E27FC236}">
                  <a16:creationId xmlns:a16="http://schemas.microsoft.com/office/drawing/2014/main" id="{3A14F98A-FFED-A1E8-4722-07A785C4CD51}"/>
                </a:ext>
              </a:extLst>
            </p:cNvPr>
            <p:cNvSpPr/>
            <p:nvPr/>
          </p:nvSpPr>
          <p:spPr>
            <a:xfrm>
              <a:off x="1520880" y="3279509"/>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17" name="Google Shape;228;p20">
              <a:extLst>
                <a:ext uri="{FF2B5EF4-FFF2-40B4-BE49-F238E27FC236}">
                  <a16:creationId xmlns:a16="http://schemas.microsoft.com/office/drawing/2014/main" id="{9775995F-0DB3-58D1-A8BD-DB61E30DE29C}"/>
                </a:ext>
              </a:extLst>
            </p:cNvPr>
            <p:cNvSpPr/>
            <p:nvPr/>
          </p:nvSpPr>
          <p:spPr>
            <a:xfrm>
              <a:off x="1520880" y="3279509"/>
              <a:ext cx="3963966" cy="27104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rgbClr val="4A7DBA"/>
                </a:solidFill>
              </a:endParaRPr>
            </a:p>
          </p:txBody>
        </p:sp>
        <p:sp>
          <p:nvSpPr>
            <p:cNvPr id="18" name="Google Shape;229;p20">
              <a:extLst>
                <a:ext uri="{FF2B5EF4-FFF2-40B4-BE49-F238E27FC236}">
                  <a16:creationId xmlns:a16="http://schemas.microsoft.com/office/drawing/2014/main" id="{B91FF695-872A-1A49-9B70-5BEBCF14F1A2}"/>
                </a:ext>
              </a:extLst>
            </p:cNvPr>
            <p:cNvSpPr txBox="1"/>
            <p:nvPr/>
          </p:nvSpPr>
          <p:spPr>
            <a:xfrm>
              <a:off x="1675794" y="3279509"/>
              <a:ext cx="4420205"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0" i="0">
                  <a:solidFill>
                    <a:schemeClr val="bg1"/>
                  </a:solidFill>
                  <a:latin typeface="Lato Black"/>
                  <a:ea typeface="Lato Black"/>
                  <a:cs typeface="Lato Black"/>
                  <a:sym typeface="Lato Black"/>
                </a:rPr>
                <a:t>Qwen-1.5B (RLSP on Math Dataset): 43.6%</a:t>
              </a:r>
              <a:endParaRPr b="0" i="0">
                <a:solidFill>
                  <a:schemeClr val="bg1"/>
                </a:solidFill>
                <a:latin typeface="Lato Black"/>
                <a:ea typeface="Lato Black"/>
                <a:cs typeface="Lato Black"/>
                <a:sym typeface="Lato Black"/>
              </a:endParaRPr>
            </a:p>
          </p:txBody>
        </p:sp>
        <p:sp>
          <p:nvSpPr>
            <p:cNvPr id="19" name="Google Shape;234;p20">
              <a:extLst>
                <a:ext uri="{FF2B5EF4-FFF2-40B4-BE49-F238E27FC236}">
                  <a16:creationId xmlns:a16="http://schemas.microsoft.com/office/drawing/2014/main" id="{B322F073-220D-394E-6E96-43F4A4F53E42}"/>
                </a:ext>
              </a:extLst>
            </p:cNvPr>
            <p:cNvSpPr/>
            <p:nvPr/>
          </p:nvSpPr>
          <p:spPr>
            <a:xfrm>
              <a:off x="1520874" y="3956481"/>
              <a:ext cx="7745730" cy="352164"/>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20" name="Google Shape;237;p20">
              <a:extLst>
                <a:ext uri="{FF2B5EF4-FFF2-40B4-BE49-F238E27FC236}">
                  <a16:creationId xmlns:a16="http://schemas.microsoft.com/office/drawing/2014/main" id="{9D6E173B-24C6-D268-06F4-D1A548335A9C}"/>
                </a:ext>
              </a:extLst>
            </p:cNvPr>
            <p:cNvSpPr/>
            <p:nvPr/>
          </p:nvSpPr>
          <p:spPr>
            <a:xfrm>
              <a:off x="1520866" y="3970918"/>
              <a:ext cx="4090979" cy="337727"/>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21" name="Google Shape;238;p20">
                  <a:extLst>
                    <a:ext uri="{FF2B5EF4-FFF2-40B4-BE49-F238E27FC236}">
                      <a16:creationId xmlns:a16="http://schemas.microsoft.com/office/drawing/2014/main" id="{E1FE92E6-7547-82FA-5F63-7E2263089AFC}"/>
                    </a:ext>
                  </a:extLst>
                </p:cNvPr>
                <p:cNvSpPr txBox="1"/>
                <p:nvPr/>
              </p:nvSpPr>
              <p:spPr>
                <a:xfrm>
                  <a:off x="1648430" y="4010230"/>
                  <a:ext cx="6289546" cy="271040"/>
                </a:xfrm>
                <a:prstGeom prst="rect">
                  <a:avLst/>
                </a:prstGeom>
                <a:solidFill>
                  <a:srgbClr val="000000">
                    <a:alpha val="0"/>
                  </a:srgbClr>
                </a:solidFill>
                <a:ln>
                  <a:noFill/>
                </a:ln>
              </p:spPr>
              <p:txBody>
                <a:bodyPr spcFirstLastPara="1" wrap="square" lIns="0" tIns="0" rIns="0" bIns="0" anchor="ctr" anchorCtr="0">
                  <a:noAutofit/>
                </a:bodyPr>
                <a:lstStyle/>
                <a:p>
                  <a:pPr lvl="0">
                    <a:buClr>
                      <a:schemeClr val="dk1"/>
                    </a:buClr>
                    <a:buSzPts val="1100"/>
                  </a:pPr>
                  <a:r>
                    <a:rPr lang="en-US">
                      <a:solidFill>
                        <a:schemeClr val="bg1"/>
                      </a:solidFill>
                      <a:latin typeface="Lato Black"/>
                      <a:ea typeface="Lato Black"/>
                      <a:cs typeface="Lato Black"/>
                      <a:sym typeface="Lato Black"/>
                    </a:rPr>
                    <a:t>Qwen-1.5B (RLSP with </a:t>
                  </a:r>
                  <a14:m>
                    <m:oMath xmlns:m="http://schemas.openxmlformats.org/officeDocument/2006/math">
                      <m:r>
                        <a:rPr lang="en-US" b="1" smtClean="0">
                          <a:solidFill>
                            <a:schemeClr val="bg1"/>
                          </a:solidFill>
                          <a:latin typeface="Cambria Math" panose="02040503050406030204" pitchFamily="18" charset="0"/>
                        </a:rPr>
                        <m:t>−</m:t>
                      </m:r>
                      <m:f>
                        <m:fPr>
                          <m:type m:val="skw"/>
                          <m:ctrlPr>
                            <a:rPr lang="en-US" b="1" i="1">
                              <a:solidFill>
                                <a:schemeClr val="bg1"/>
                              </a:solidFill>
                              <a:latin typeface="Cambria Math" panose="02040503050406030204" pitchFamily="18" charset="0"/>
                            </a:rPr>
                          </m:ctrlPr>
                        </m:fPr>
                        <m:num>
                          <m:r>
                            <m:rPr>
                              <m:sty m:val="p"/>
                            </m:rPr>
                            <a:rPr lang="en-US" b="1" i="1" smtClean="0">
                              <a:solidFill>
                                <a:schemeClr val="bg1"/>
                              </a:solidFill>
                              <a:latin typeface="Cambria Math" panose="02040503050406030204" pitchFamily="18" charset="0"/>
                            </a:rPr>
                            <m:t>C</m:t>
                          </m:r>
                        </m:num>
                        <m:den>
                          <m:rad>
                            <m:radPr>
                              <m:degHide m:val="on"/>
                              <m:ctrlPr>
                                <a:rPr lang="en-US" b="1" i="1">
                                  <a:solidFill>
                                    <a:schemeClr val="bg1"/>
                                  </a:solidFill>
                                  <a:latin typeface="Cambria Math" panose="02040503050406030204" pitchFamily="18" charset="0"/>
                                </a:rPr>
                              </m:ctrlPr>
                            </m:radPr>
                            <m:deg/>
                            <m:e>
                              <m:d>
                                <m:dPr>
                                  <m:begChr m:val="|"/>
                                  <m:endChr m:val="|"/>
                                  <m:ctrlPr>
                                    <a:rPr lang="en-US" b="1" i="1">
                                      <a:solidFill>
                                        <a:schemeClr val="bg1"/>
                                      </a:solidFill>
                                      <a:latin typeface="Cambria Math" panose="02040503050406030204" pitchFamily="18" charset="0"/>
                                    </a:rPr>
                                  </m:ctrlPr>
                                </m:dPr>
                                <m:e>
                                  <m:r>
                                    <a:rPr lang="en-US" b="1" i="1">
                                      <a:solidFill>
                                        <a:schemeClr val="bg1"/>
                                      </a:solidFill>
                                      <a:latin typeface="Cambria Math" panose="02040503050406030204" pitchFamily="18" charset="0"/>
                                    </a:rPr>
                                    <m:t>𝑶</m:t>
                                  </m:r>
                                </m:e>
                              </m:d>
                            </m:e>
                          </m:rad>
                        </m:den>
                      </m:f>
                      <m:r>
                        <a:rPr lang="en-US" b="1" i="1">
                          <a:solidFill>
                            <a:srgbClr val="C084FC"/>
                          </a:solidFill>
                          <a:latin typeface="Cambria Math" panose="02040503050406030204" pitchFamily="18" charset="0"/>
                        </a:rPr>
                        <m:t> </m:t>
                      </m:r>
                    </m:oMath>
                  </a14:m>
                  <a:r>
                    <a:rPr lang="en-US">
                      <a:solidFill>
                        <a:schemeClr val="bg1"/>
                      </a:solidFill>
                      <a:latin typeface="Lato Black"/>
                      <a:ea typeface="Lato Black"/>
                      <a:cs typeface="Lato Black"/>
                      <a:sym typeface="Lato Black"/>
                    </a:rPr>
                    <a:t>on Math Dataset): 44.2%</a:t>
                  </a:r>
                  <a:endParaRPr lang="en-US" b="0" i="0">
                    <a:solidFill>
                      <a:schemeClr val="bg1"/>
                    </a:solidFill>
                    <a:latin typeface="Lato Black"/>
                    <a:ea typeface="Lato Black"/>
                    <a:cs typeface="Lato Black"/>
                    <a:sym typeface="Lato Black"/>
                  </a:endParaRPr>
                </a:p>
              </p:txBody>
            </p:sp>
          </mc:Choice>
          <mc:Fallback xmlns="">
            <p:sp>
              <p:nvSpPr>
                <p:cNvPr id="21" name="Google Shape;238;p20">
                  <a:extLst>
                    <a:ext uri="{FF2B5EF4-FFF2-40B4-BE49-F238E27FC236}">
                      <a16:creationId xmlns:a16="http://schemas.microsoft.com/office/drawing/2014/main" id="{E1FE92E6-7547-82FA-5F63-7E2263089AFC}"/>
                    </a:ext>
                  </a:extLst>
                </p:cNvPr>
                <p:cNvSpPr txBox="1">
                  <a:spLocks noRot="1" noChangeAspect="1" noMove="1" noResize="1" noEditPoints="1" noAdjustHandles="1" noChangeArrowheads="1" noChangeShapeType="1" noTextEdit="1"/>
                </p:cNvSpPr>
                <p:nvPr/>
              </p:nvSpPr>
              <p:spPr>
                <a:xfrm>
                  <a:off x="1648430" y="4010230"/>
                  <a:ext cx="6289546" cy="271040"/>
                </a:xfrm>
                <a:prstGeom prst="rect">
                  <a:avLst/>
                </a:prstGeom>
                <a:blipFill>
                  <a:blip r:embed="rId3"/>
                  <a:stretch>
                    <a:fillRect l="-1607" t="-166667" b="-248889"/>
                  </a:stretch>
                </a:blipFill>
                <a:ln>
                  <a:noFill/>
                </a:ln>
              </p:spPr>
              <p:txBody>
                <a:bodyPr/>
                <a:lstStyle/>
                <a:p>
                  <a:r>
                    <a:rPr lang="en-US">
                      <a:noFill/>
                    </a:rPr>
                    <a:t> </a:t>
                  </a:r>
                </a:p>
              </p:txBody>
            </p:sp>
          </mc:Fallback>
        </mc:AlternateContent>
      </p:grpSp>
      <p:sp>
        <p:nvSpPr>
          <p:cNvPr id="22" name="Google Shape;234;p20">
            <a:extLst>
              <a:ext uri="{FF2B5EF4-FFF2-40B4-BE49-F238E27FC236}">
                <a16:creationId xmlns:a16="http://schemas.microsoft.com/office/drawing/2014/main" id="{2F6BC5EF-73CC-8538-624C-4E35C7B62081}"/>
              </a:ext>
            </a:extLst>
          </p:cNvPr>
          <p:cNvSpPr/>
          <p:nvPr/>
        </p:nvSpPr>
        <p:spPr>
          <a:xfrm>
            <a:off x="1387442" y="2956508"/>
            <a:ext cx="8405474"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23" name="Google Shape;237;p20">
            <a:extLst>
              <a:ext uri="{FF2B5EF4-FFF2-40B4-BE49-F238E27FC236}">
                <a16:creationId xmlns:a16="http://schemas.microsoft.com/office/drawing/2014/main" id="{CE8F3A93-FF8C-DEEC-0782-22F0DE923C40}"/>
              </a:ext>
            </a:extLst>
          </p:cNvPr>
          <p:cNvSpPr/>
          <p:nvPr/>
        </p:nvSpPr>
        <p:spPr>
          <a:xfrm>
            <a:off x="1387435" y="2955957"/>
            <a:ext cx="2336840" cy="269400"/>
          </a:xfrm>
          <a:prstGeom prst="roundRect">
            <a:avLst>
              <a:gd name="adj" fmla="val 50000"/>
            </a:avLst>
          </a:prstGeom>
          <a:solidFill>
            <a:srgbClr val="C084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mc:AlternateContent xmlns:mc="http://schemas.openxmlformats.org/markup-compatibility/2006" xmlns:a14="http://schemas.microsoft.com/office/drawing/2010/main">
        <mc:Choice Requires="a14">
          <p:sp>
            <p:nvSpPr>
              <p:cNvPr id="24" name="Google Shape;238;p20">
                <a:extLst>
                  <a:ext uri="{FF2B5EF4-FFF2-40B4-BE49-F238E27FC236}">
                    <a16:creationId xmlns:a16="http://schemas.microsoft.com/office/drawing/2014/main" id="{50D1A5EA-16BC-F1E0-09E0-E634484205A4}"/>
                  </a:ext>
                </a:extLst>
              </p:cNvPr>
              <p:cNvSpPr txBox="1"/>
              <p:nvPr/>
            </p:nvSpPr>
            <p:spPr>
              <a:xfrm>
                <a:off x="1515342" y="2937186"/>
                <a:ext cx="5479118" cy="271040"/>
              </a:xfrm>
              <a:prstGeom prst="rect">
                <a:avLst/>
              </a:prstGeom>
              <a:solidFill>
                <a:srgbClr val="000000">
                  <a:alpha val="0"/>
                </a:srgbClr>
              </a:solidFill>
              <a:ln>
                <a:noFill/>
              </a:ln>
            </p:spPr>
            <p:txBody>
              <a:bodyPr spcFirstLastPara="1" wrap="square" lIns="0" tIns="0" rIns="0" bIns="0" anchor="ctr" anchorCtr="0">
                <a:noAutofit/>
              </a:bodyPr>
              <a:lstStyle/>
              <a:p>
                <a:pPr lvl="0">
                  <a:buClr>
                    <a:schemeClr val="dk1"/>
                  </a:buClr>
                  <a:buSzPts val="1100"/>
                </a:pPr>
                <a:r>
                  <a:rPr lang="en-US">
                    <a:solidFill>
                      <a:schemeClr val="bg1"/>
                    </a:solidFill>
                    <a:latin typeface="Lato Black"/>
                    <a:ea typeface="Lato Black"/>
                    <a:cs typeface="Lato Black"/>
                    <a:sym typeface="Lato Black"/>
                  </a:rPr>
                  <a:t>Llama-1B (RLSP with </a:t>
                </a:r>
                <a14:m>
                  <m:oMath xmlns:m="http://schemas.openxmlformats.org/officeDocument/2006/math">
                    <m:sSup>
                      <m:sSupPr>
                        <m:ctrlPr>
                          <a:rPr lang="ar-AE" b="1" i="1" smtClean="0">
                            <a:solidFill>
                              <a:schemeClr val="bg1"/>
                            </a:solidFill>
                            <a:latin typeface="Cambria Math" panose="02040503050406030204" pitchFamily="18" charset="0"/>
                          </a:rPr>
                        </m:ctrlPr>
                      </m:sSupPr>
                      <m:e>
                        <m:r>
                          <m:rPr>
                            <m:sty m:val="p"/>
                          </m:rPr>
                          <a:rPr lang="en-US" b="1" i="1">
                            <a:solidFill>
                              <a:schemeClr val="bg1"/>
                            </a:solidFill>
                            <a:latin typeface="Cambria Math" panose="02040503050406030204" pitchFamily="18" charset="0"/>
                          </a:rPr>
                          <m:t>C</m:t>
                        </m:r>
                        <m:r>
                          <a:rPr lang="en-US" b="1" i="1">
                            <a:solidFill>
                              <a:schemeClr val="bg1"/>
                            </a:solidFill>
                            <a:latin typeface="Cambria Math" panose="02040503050406030204" pitchFamily="18" charset="0"/>
                            <a:ea typeface="Cambria Math" panose="02040503050406030204" pitchFamily="18" charset="0"/>
                          </a:rPr>
                          <m:t>∙</m:t>
                        </m:r>
                        <m:r>
                          <a:rPr lang="en-US" b="1" i="1">
                            <a:solidFill>
                              <a:schemeClr val="bg1"/>
                            </a:solidFill>
                            <a:latin typeface="Cambria Math" panose="02040503050406030204" pitchFamily="18" charset="0"/>
                          </a:rPr>
                          <m:t>𝒆</m:t>
                        </m:r>
                      </m:e>
                      <m:sup>
                        <m:r>
                          <a:rPr lang="ar-AE" b="1" i="1">
                            <a:solidFill>
                              <a:schemeClr val="bg1"/>
                            </a:solidFill>
                            <a:latin typeface="Cambria Math" panose="02040503050406030204" pitchFamily="18" charset="0"/>
                          </a:rPr>
                          <m:t>(−</m:t>
                        </m:r>
                        <m:rad>
                          <m:radPr>
                            <m:degHide m:val="on"/>
                            <m:ctrlPr>
                              <a:rPr lang="ar-AE" b="1" i="1">
                                <a:solidFill>
                                  <a:schemeClr val="bg1"/>
                                </a:solidFill>
                                <a:latin typeface="Cambria Math" panose="02040503050406030204" pitchFamily="18" charset="0"/>
                              </a:rPr>
                            </m:ctrlPr>
                          </m:radPr>
                          <m:deg/>
                          <m:e>
                            <m:d>
                              <m:dPr>
                                <m:begChr m:val="|"/>
                                <m:endChr m:val="|"/>
                                <m:ctrlPr>
                                  <a:rPr lang="ar-AE" b="1" i="1">
                                    <a:solidFill>
                                      <a:schemeClr val="bg1"/>
                                    </a:solidFill>
                                    <a:latin typeface="Cambria Math" panose="02040503050406030204" pitchFamily="18" charset="0"/>
                                  </a:rPr>
                                </m:ctrlPr>
                              </m:dPr>
                              <m:e>
                                <m:r>
                                  <a:rPr lang="ar-AE" b="1" i="1">
                                    <a:solidFill>
                                      <a:schemeClr val="bg1"/>
                                    </a:solidFill>
                                    <a:latin typeface="Cambria Math" panose="02040503050406030204" pitchFamily="18" charset="0"/>
                                  </a:rPr>
                                  <m:t>𝑶</m:t>
                                </m:r>
                              </m:e>
                            </m:d>
                          </m:e>
                        </m:rad>
                        <m:r>
                          <a:rPr lang="ar-AE" b="1" i="1">
                            <a:solidFill>
                              <a:schemeClr val="bg1"/>
                            </a:solidFill>
                            <a:latin typeface="Cambria Math" panose="02040503050406030204" pitchFamily="18" charset="0"/>
                          </a:rPr>
                          <m:t>)</m:t>
                        </m:r>
                      </m:sup>
                    </m:sSup>
                  </m:oMath>
                </a14:m>
                <a:r>
                  <a:rPr lang="ar-AE">
                    <a:solidFill>
                      <a:schemeClr val="bg1"/>
                    </a:solidFill>
                    <a:latin typeface="Lato Black"/>
                    <a:ea typeface="Lato Black"/>
                    <a:cs typeface="Lato Black"/>
                    <a:sym typeface="Lato Black"/>
                  </a:rPr>
                  <a:t> </a:t>
                </a:r>
                <a:r>
                  <a:rPr lang="en-US">
                    <a:solidFill>
                      <a:schemeClr val="bg1"/>
                    </a:solidFill>
                    <a:latin typeface="Lato Black"/>
                    <a:ea typeface="Lato Black"/>
                    <a:cs typeface="Lato Black"/>
                    <a:sym typeface="Lato Black"/>
                  </a:rPr>
                  <a:t>on Math Dataset): 25.6%</a:t>
                </a:r>
                <a:endParaRPr lang="en-US" b="0" i="0">
                  <a:solidFill>
                    <a:schemeClr val="bg1"/>
                  </a:solidFill>
                  <a:latin typeface="Lato Black"/>
                  <a:ea typeface="Lato Black"/>
                  <a:cs typeface="Lato Black"/>
                  <a:sym typeface="Lato Black"/>
                </a:endParaRPr>
              </a:p>
            </p:txBody>
          </p:sp>
        </mc:Choice>
        <mc:Fallback xmlns="">
          <p:sp>
            <p:nvSpPr>
              <p:cNvPr id="24" name="Google Shape;238;p20">
                <a:extLst>
                  <a:ext uri="{FF2B5EF4-FFF2-40B4-BE49-F238E27FC236}">
                    <a16:creationId xmlns:a16="http://schemas.microsoft.com/office/drawing/2014/main" id="{50D1A5EA-16BC-F1E0-09E0-E634484205A4}"/>
                  </a:ext>
                </a:extLst>
              </p:cNvPr>
              <p:cNvSpPr txBox="1">
                <a:spLocks noRot="1" noChangeAspect="1" noMove="1" noResize="1" noEditPoints="1" noAdjustHandles="1" noChangeArrowheads="1" noChangeShapeType="1" noTextEdit="1"/>
              </p:cNvSpPr>
              <p:nvPr/>
            </p:nvSpPr>
            <p:spPr>
              <a:xfrm>
                <a:off x="1515342" y="2937186"/>
                <a:ext cx="5479118" cy="271040"/>
              </a:xfrm>
              <a:prstGeom prst="rect">
                <a:avLst/>
              </a:prstGeom>
              <a:blipFill>
                <a:blip r:embed="rId4"/>
                <a:stretch>
                  <a:fillRect l="-2004" t="-2273" b="-38636"/>
                </a:stretch>
              </a:blipFill>
              <a:ln>
                <a:noFill/>
              </a:ln>
            </p:spPr>
            <p:txBody>
              <a:bodyPr/>
              <a:lstStyle/>
              <a:p>
                <a:r>
                  <a:rPr lang="en-US">
                    <a:noFill/>
                  </a:rPr>
                  <a:t> </a:t>
                </a:r>
              </a:p>
            </p:txBody>
          </p:sp>
        </mc:Fallback>
      </mc:AlternateContent>
      <p:sp>
        <p:nvSpPr>
          <p:cNvPr id="25" name="Google Shape;215;p20">
            <a:extLst>
              <a:ext uri="{FF2B5EF4-FFF2-40B4-BE49-F238E27FC236}">
                <a16:creationId xmlns:a16="http://schemas.microsoft.com/office/drawing/2014/main" id="{E516249C-CAA6-6E9B-945D-2FE310D1BAF4}"/>
              </a:ext>
            </a:extLst>
          </p:cNvPr>
          <p:cNvSpPr/>
          <p:nvPr/>
        </p:nvSpPr>
        <p:spPr>
          <a:xfrm>
            <a:off x="1387453" y="2530088"/>
            <a:ext cx="8405474"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 name="Google Shape;219;p20">
            <a:extLst>
              <a:ext uri="{FF2B5EF4-FFF2-40B4-BE49-F238E27FC236}">
                <a16:creationId xmlns:a16="http://schemas.microsoft.com/office/drawing/2014/main" id="{A94AD149-A1A7-C99E-3779-BF14D0DE46B5}"/>
              </a:ext>
            </a:extLst>
          </p:cNvPr>
          <p:cNvSpPr/>
          <p:nvPr/>
        </p:nvSpPr>
        <p:spPr>
          <a:xfrm>
            <a:off x="1389835" y="2526820"/>
            <a:ext cx="2409170" cy="27104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sz="1319"/>
          </a:p>
        </p:txBody>
      </p:sp>
      <p:sp>
        <p:nvSpPr>
          <p:cNvPr id="27" name="Google Shape;217;p20">
            <a:extLst>
              <a:ext uri="{FF2B5EF4-FFF2-40B4-BE49-F238E27FC236}">
                <a16:creationId xmlns:a16="http://schemas.microsoft.com/office/drawing/2014/main" id="{6AC96A8A-93F2-5AAB-7D9F-06C6B031EAF8}"/>
              </a:ext>
            </a:extLst>
          </p:cNvPr>
          <p:cNvSpPr txBox="1"/>
          <p:nvPr/>
        </p:nvSpPr>
        <p:spPr>
          <a:xfrm>
            <a:off x="1542368" y="2535281"/>
            <a:ext cx="5715723"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66" b="0" i="0">
                <a:solidFill>
                  <a:schemeClr val="bg1"/>
                </a:solidFill>
                <a:latin typeface="Lato Black"/>
                <a:ea typeface="Lato Black"/>
                <a:cs typeface="Lato Black"/>
                <a:sym typeface="Lato Black"/>
              </a:rPr>
              <a:t>Llama-1B (RLSP on Math Dataset): </a:t>
            </a:r>
            <a:r>
              <a:rPr lang="en-US" sz="1366">
                <a:solidFill>
                  <a:schemeClr val="bg1"/>
                </a:solidFill>
                <a:latin typeface="Lato Black"/>
                <a:ea typeface="Lato Black"/>
                <a:cs typeface="Lato Black"/>
                <a:sym typeface="Lato Black"/>
              </a:rPr>
              <a:t>25.8</a:t>
            </a:r>
            <a:r>
              <a:rPr lang="en-US" sz="1366" b="0" i="0">
                <a:solidFill>
                  <a:schemeClr val="bg1"/>
                </a:solidFill>
                <a:latin typeface="Lato Black"/>
                <a:ea typeface="Lato Black"/>
                <a:cs typeface="Lato Black"/>
                <a:sym typeface="Lato Black"/>
              </a:rPr>
              <a:t>%</a:t>
            </a:r>
            <a:endParaRPr sz="1366" b="0" i="0">
              <a:solidFill>
                <a:schemeClr val="bg1"/>
              </a:solidFill>
              <a:latin typeface="Lato Black"/>
              <a:ea typeface="Lato Black"/>
              <a:cs typeface="Lato Black"/>
              <a:sym typeface="Lato Black"/>
            </a:endParaRPr>
          </a:p>
        </p:txBody>
      </p:sp>
      <p:sp>
        <p:nvSpPr>
          <p:cNvPr id="41" name="Google Shape;212;p20">
            <a:extLst>
              <a:ext uri="{FF2B5EF4-FFF2-40B4-BE49-F238E27FC236}">
                <a16:creationId xmlns:a16="http://schemas.microsoft.com/office/drawing/2014/main" id="{C6ED5C75-EDEB-91E6-3427-41096016A194}"/>
              </a:ext>
            </a:extLst>
          </p:cNvPr>
          <p:cNvSpPr/>
          <p:nvPr/>
        </p:nvSpPr>
        <p:spPr>
          <a:xfrm>
            <a:off x="1387435" y="3357543"/>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 name="Google Shape;213;p20">
            <a:extLst>
              <a:ext uri="{FF2B5EF4-FFF2-40B4-BE49-F238E27FC236}">
                <a16:creationId xmlns:a16="http://schemas.microsoft.com/office/drawing/2014/main" id="{0F9777EA-A4FB-009B-50CC-DB4C1BBD7FE4}"/>
              </a:ext>
            </a:extLst>
          </p:cNvPr>
          <p:cNvSpPr/>
          <p:nvPr/>
        </p:nvSpPr>
        <p:spPr>
          <a:xfrm>
            <a:off x="1387435" y="3357543"/>
            <a:ext cx="1984332" cy="271040"/>
          </a:xfrm>
          <a:prstGeom prst="roundRect">
            <a:avLst>
              <a:gd name="adj" fmla="val 50000"/>
            </a:avLst>
          </a:prstGeom>
          <a:solidFill>
            <a:srgbClr val="4A7DBA"/>
          </a:solidFill>
          <a:ln>
            <a:noFill/>
          </a:ln>
          <a:effectLst>
            <a:glow>
              <a:schemeClr val="accent1">
                <a:alpha val="40000"/>
              </a:schemeClr>
            </a:glow>
            <a:reflection endPos="0" dir="5400000" sy="-100000" algn="bl" rotWithShape="0"/>
            <a:softEdge rad="0"/>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214;p20">
            <a:extLst>
              <a:ext uri="{FF2B5EF4-FFF2-40B4-BE49-F238E27FC236}">
                <a16:creationId xmlns:a16="http://schemas.microsoft.com/office/drawing/2014/main" id="{785F3E8E-3AED-3846-CF6A-30581B9F1C06}"/>
              </a:ext>
            </a:extLst>
          </p:cNvPr>
          <p:cNvSpPr txBox="1"/>
          <p:nvPr/>
        </p:nvSpPr>
        <p:spPr>
          <a:xfrm>
            <a:off x="1542359" y="3357555"/>
            <a:ext cx="3653301"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1" i="0">
                <a:solidFill>
                  <a:srgbClr val="FFFFFF"/>
                </a:solidFill>
                <a:latin typeface="Lato"/>
                <a:ea typeface="Lato"/>
                <a:cs typeface="Lato"/>
                <a:sym typeface="Lato"/>
              </a:rPr>
              <a:t>Llama-1B (Base): 23.8%</a:t>
            </a:r>
            <a:endParaRPr b="1" i="0">
              <a:solidFill>
                <a:srgbClr val="FFFFFF"/>
              </a:solidFill>
              <a:latin typeface="Lato"/>
              <a:ea typeface="Lato"/>
              <a:cs typeface="Lato"/>
              <a:sym typeface="Lato"/>
            </a:endParaRPr>
          </a:p>
        </p:txBody>
      </p:sp>
      <p:sp>
        <p:nvSpPr>
          <p:cNvPr id="51" name="Google Shape;224;p20">
            <a:extLst>
              <a:ext uri="{FF2B5EF4-FFF2-40B4-BE49-F238E27FC236}">
                <a16:creationId xmlns:a16="http://schemas.microsoft.com/office/drawing/2014/main" id="{D36FA36F-D167-CA9A-52A8-2D9211A027B6}"/>
              </a:ext>
            </a:extLst>
          </p:cNvPr>
          <p:cNvSpPr/>
          <p:nvPr/>
        </p:nvSpPr>
        <p:spPr>
          <a:xfrm>
            <a:off x="1414468" y="5673786"/>
            <a:ext cx="7745730" cy="271040"/>
          </a:xfrm>
          <a:prstGeom prst="roundRect">
            <a:avLst>
              <a:gd name="adj" fmla="val 5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 name="Google Shape;225;p20">
            <a:extLst>
              <a:ext uri="{FF2B5EF4-FFF2-40B4-BE49-F238E27FC236}">
                <a16:creationId xmlns:a16="http://schemas.microsoft.com/office/drawing/2014/main" id="{7A7041E3-C421-28E6-F08E-782B7F3F4A50}"/>
              </a:ext>
            </a:extLst>
          </p:cNvPr>
          <p:cNvSpPr/>
          <p:nvPr/>
        </p:nvSpPr>
        <p:spPr>
          <a:xfrm>
            <a:off x="1414468" y="5673786"/>
            <a:ext cx="3563037" cy="271040"/>
          </a:xfrm>
          <a:prstGeom prst="roundRect">
            <a:avLst>
              <a:gd name="adj" fmla="val 50000"/>
            </a:avLst>
          </a:prstGeom>
          <a:solidFill>
            <a:srgbClr val="4A7DB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 name="Google Shape;226;p20">
            <a:extLst>
              <a:ext uri="{FF2B5EF4-FFF2-40B4-BE49-F238E27FC236}">
                <a16:creationId xmlns:a16="http://schemas.microsoft.com/office/drawing/2014/main" id="{012185A7-ED66-CC71-A165-A0873147D7AA}"/>
              </a:ext>
            </a:extLst>
          </p:cNvPr>
          <p:cNvSpPr txBox="1"/>
          <p:nvPr/>
        </p:nvSpPr>
        <p:spPr>
          <a:xfrm>
            <a:off x="1569383" y="5673786"/>
            <a:ext cx="3563036" cy="27104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b="1" i="0">
                <a:solidFill>
                  <a:srgbClr val="FFFFFF"/>
                </a:solidFill>
                <a:latin typeface="Lato"/>
                <a:ea typeface="Lato"/>
                <a:cs typeface="Lato"/>
                <a:sym typeface="Lato"/>
              </a:rPr>
              <a:t>Qwen-1.5B (Base): 40%</a:t>
            </a:r>
            <a:endParaRPr b="1" i="0">
              <a:solidFill>
                <a:srgbClr val="FFFFFF"/>
              </a:solidFill>
              <a:latin typeface="Lato"/>
              <a:ea typeface="Lato"/>
              <a:cs typeface="Lato"/>
              <a:sym typeface="Lato"/>
            </a:endParaRPr>
          </a:p>
        </p:txBody>
      </p:sp>
    </p:spTree>
    <p:extLst>
      <p:ext uri="{BB962C8B-B14F-4D97-AF65-F5344CB8AC3E}">
        <p14:creationId xmlns:p14="http://schemas.microsoft.com/office/powerpoint/2010/main" val="2202975907"/>
      </p:ext>
    </p:extLst>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CEEE6181-525B-2F50-EB42-4637D49DEAEB}"/>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632CE96B-F35C-7B63-5008-EB039E58D0F1}"/>
              </a:ext>
            </a:extLst>
          </p:cNvPr>
          <p:cNvSpPr txBox="1"/>
          <p:nvPr/>
        </p:nvSpPr>
        <p:spPr>
          <a:xfrm>
            <a:off x="571501" y="533995"/>
            <a:ext cx="1104900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a:cs typeface="Poppins SemiBold"/>
              </a:rPr>
              <a:t>Emergent Behaviors</a:t>
            </a:r>
            <a:endParaRPr lang="en-US" sz="3000">
              <a:solidFill>
                <a:schemeClr val="bg1"/>
              </a:solidFill>
              <a:latin typeface="Poppins SemiBold" panose="00000700000000000000" pitchFamily="2" charset="0"/>
              <a:cs typeface="Poppins SemiBold" panose="00000700000000000000" pitchFamily="2" charset="0"/>
            </a:endParaRPr>
          </a:p>
        </p:txBody>
      </p:sp>
      <p:sp>
        <p:nvSpPr>
          <p:cNvPr id="255" name="Google Shape;255;p21">
            <a:extLst>
              <a:ext uri="{FF2B5EF4-FFF2-40B4-BE49-F238E27FC236}">
                <a16:creationId xmlns:a16="http://schemas.microsoft.com/office/drawing/2014/main" id="{D2F2BFC7-5DA2-3B91-F669-048B3B81DC4C}"/>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A math equations on a white background&#10;&#10;AI-generated content may be incorrect.">
            <a:extLst>
              <a:ext uri="{FF2B5EF4-FFF2-40B4-BE49-F238E27FC236}">
                <a16:creationId xmlns:a16="http://schemas.microsoft.com/office/drawing/2014/main" id="{97479633-0A82-25EB-754B-BED90281C7D7}"/>
              </a:ext>
            </a:extLst>
          </p:cNvPr>
          <p:cNvPicPr>
            <a:picLocks noChangeAspect="1"/>
          </p:cNvPicPr>
          <p:nvPr/>
        </p:nvPicPr>
        <p:blipFill>
          <a:blip r:embed="rId3"/>
          <a:stretch>
            <a:fillRect/>
          </a:stretch>
        </p:blipFill>
        <p:spPr>
          <a:xfrm>
            <a:off x="6606781" y="1384237"/>
            <a:ext cx="5241207" cy="2141157"/>
          </a:xfrm>
          <a:prstGeom prst="rect">
            <a:avLst/>
          </a:prstGeom>
        </p:spPr>
      </p:pic>
      <p:pic>
        <p:nvPicPr>
          <p:cNvPr id="4" name="Picture 3" descr="A math equations on a white background&#10;&#10;AI-generated content may be incorrect.">
            <a:extLst>
              <a:ext uri="{FF2B5EF4-FFF2-40B4-BE49-F238E27FC236}">
                <a16:creationId xmlns:a16="http://schemas.microsoft.com/office/drawing/2014/main" id="{829EF3CF-D20D-835C-A9D3-E5BFBE472673}"/>
              </a:ext>
            </a:extLst>
          </p:cNvPr>
          <p:cNvPicPr>
            <a:picLocks noChangeAspect="1"/>
          </p:cNvPicPr>
          <p:nvPr/>
        </p:nvPicPr>
        <p:blipFill>
          <a:blip r:embed="rId4"/>
          <a:stretch>
            <a:fillRect/>
          </a:stretch>
        </p:blipFill>
        <p:spPr>
          <a:xfrm>
            <a:off x="121966" y="1841112"/>
            <a:ext cx="6222845" cy="3739453"/>
          </a:xfrm>
          <a:prstGeom prst="rect">
            <a:avLst/>
          </a:prstGeom>
        </p:spPr>
      </p:pic>
      <p:pic>
        <p:nvPicPr>
          <p:cNvPr id="5" name="Picture 4" descr="A screenshot of a math problem&#10;&#10;AI-generated content may be incorrect.">
            <a:extLst>
              <a:ext uri="{FF2B5EF4-FFF2-40B4-BE49-F238E27FC236}">
                <a16:creationId xmlns:a16="http://schemas.microsoft.com/office/drawing/2014/main" id="{87429C84-2637-EFD9-51DC-1E982A7C7F53}"/>
              </a:ext>
            </a:extLst>
          </p:cNvPr>
          <p:cNvPicPr>
            <a:picLocks noChangeAspect="1"/>
          </p:cNvPicPr>
          <p:nvPr/>
        </p:nvPicPr>
        <p:blipFill>
          <a:blip r:embed="rId5"/>
          <a:stretch>
            <a:fillRect/>
          </a:stretch>
        </p:blipFill>
        <p:spPr>
          <a:xfrm>
            <a:off x="6605858" y="3729889"/>
            <a:ext cx="5231161" cy="2860365"/>
          </a:xfrm>
          <a:prstGeom prst="rect">
            <a:avLst/>
          </a:prstGeom>
        </p:spPr>
      </p:pic>
    </p:spTree>
    <p:extLst>
      <p:ext uri="{BB962C8B-B14F-4D97-AF65-F5344CB8AC3E}">
        <p14:creationId xmlns:p14="http://schemas.microsoft.com/office/powerpoint/2010/main" val="3631929361"/>
      </p:ext>
    </p:extLst>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7E8C7D75-FB11-238F-0168-0DB56A7B697F}"/>
            </a:ext>
          </a:extLst>
        </p:cNvPr>
        <p:cNvGrpSpPr/>
        <p:nvPr/>
      </p:nvGrpSpPr>
      <p:grpSpPr>
        <a:xfrm>
          <a:off x="0" y="0"/>
          <a:ext cx="0" cy="0"/>
          <a:chOff x="0" y="0"/>
          <a:chExt cx="0" cy="0"/>
        </a:xfrm>
      </p:grpSpPr>
      <p:sp>
        <p:nvSpPr>
          <p:cNvPr id="255" name="Google Shape;255;p21">
            <a:extLst>
              <a:ext uri="{FF2B5EF4-FFF2-40B4-BE49-F238E27FC236}">
                <a16:creationId xmlns:a16="http://schemas.microsoft.com/office/drawing/2014/main" id="{A7B3C87C-C32C-0489-1FE5-2339944E064A}"/>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05878F36-3959-B0EE-8732-F20F16294404}"/>
              </a:ext>
            </a:extLst>
          </p:cNvPr>
          <p:cNvSpPr txBox="1"/>
          <p:nvPr/>
        </p:nvSpPr>
        <p:spPr>
          <a:xfrm>
            <a:off x="12700" y="968933"/>
            <a:ext cx="12157073" cy="6801862"/>
          </a:xfrm>
          <a:prstGeom prst="rect">
            <a:avLst/>
          </a:prstGeom>
          <a:noFill/>
        </p:spPr>
        <p:txBody>
          <a:bodyPr wrap="square" lIns="91440" tIns="45720" rIns="91440" bIns="45720" anchor="t">
            <a:spAutoFit/>
          </a:bodyPr>
          <a:lstStyle/>
          <a:p>
            <a:pPr>
              <a:buClr>
                <a:schemeClr val="bg1"/>
              </a:buClr>
            </a:pPr>
            <a:r>
              <a:rPr lang="el-GR" sz="2000" b="1">
                <a:solidFill>
                  <a:srgbClr val="C084FC"/>
                </a:solidFill>
              </a:rPr>
              <a:t>Technical </a:t>
            </a:r>
            <a:r>
              <a:rPr lang="el-GR" sz="2000" b="1" err="1">
                <a:solidFill>
                  <a:srgbClr val="C084FC"/>
                </a:solidFill>
              </a:rPr>
              <a:t>Evaluation</a:t>
            </a:r>
            <a:r>
              <a:rPr lang="el-GR" sz="2000" b="1">
                <a:solidFill>
                  <a:srgbClr val="C084FC"/>
                </a:solidFill>
              </a:rPr>
              <a:t> &amp; Project </a:t>
            </a:r>
            <a:r>
              <a:rPr lang="el-GR" sz="2000" b="1" err="1">
                <a:solidFill>
                  <a:srgbClr val="C084FC"/>
                </a:solidFill>
              </a:rPr>
              <a:t>Outcome</a:t>
            </a:r>
            <a:endParaRPr lang="el-GR" sz="2000">
              <a:solidFill>
                <a:srgbClr val="C084FC"/>
              </a:solidFill>
            </a:endParaRPr>
          </a:p>
          <a:p>
            <a:pPr marL="285750" indent="-285750">
              <a:buClr>
                <a:schemeClr val="bg1"/>
              </a:buClr>
              <a:buFont typeface="Arial" panose="020B0604020202020204" pitchFamily="34" charset="0"/>
              <a:buChar char="•"/>
            </a:pPr>
            <a:r>
              <a:rPr lang="el-GR" b="1" err="1">
                <a:solidFill>
                  <a:schemeClr val="bg1"/>
                </a:solidFill>
              </a:rPr>
              <a:t>Resource</a:t>
            </a:r>
            <a:r>
              <a:rPr lang="el-GR" b="1">
                <a:solidFill>
                  <a:schemeClr val="bg1"/>
                </a:solidFill>
              </a:rPr>
              <a:t> </a:t>
            </a:r>
            <a:r>
              <a:rPr lang="el-GR" b="1" err="1">
                <a:solidFill>
                  <a:schemeClr val="bg1"/>
                </a:solidFill>
              </a:rPr>
              <a:t>Constraints</a:t>
            </a:r>
            <a:r>
              <a:rPr lang="el-GR" b="1">
                <a:solidFill>
                  <a:schemeClr val="bg1"/>
                </a:solidFill>
              </a:rPr>
              <a:t> &amp; </a:t>
            </a:r>
            <a:r>
              <a:rPr lang="el-GR" b="1" err="1">
                <a:solidFill>
                  <a:schemeClr val="bg1"/>
                </a:solidFill>
              </a:rPr>
              <a:t>Methodology</a:t>
            </a:r>
            <a:r>
              <a:rPr lang="el-GR" b="1">
                <a:solidFill>
                  <a:schemeClr val="bg1"/>
                </a:solidFill>
              </a:rPr>
              <a:t>:</a:t>
            </a:r>
            <a:r>
              <a:rPr lang="el-GR">
                <a:solidFill>
                  <a:schemeClr val="bg1"/>
                </a:solidFill>
              </a:rPr>
              <a:t> The </a:t>
            </a:r>
            <a:r>
              <a:rPr lang="el-GR" err="1">
                <a:solidFill>
                  <a:schemeClr val="bg1"/>
                </a:solidFill>
              </a:rPr>
              <a:t>verification</a:t>
            </a:r>
            <a:r>
              <a:rPr lang="el-GR">
                <a:solidFill>
                  <a:schemeClr val="bg1"/>
                </a:solidFill>
              </a:rPr>
              <a:t> of the </a:t>
            </a:r>
            <a:r>
              <a:rPr lang="el-GR" err="1">
                <a:solidFill>
                  <a:schemeClr val="bg1"/>
                </a:solidFill>
              </a:rPr>
              <a:t>paper</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conducted</a:t>
            </a:r>
            <a:r>
              <a:rPr lang="el-GR">
                <a:solidFill>
                  <a:schemeClr val="bg1"/>
                </a:solidFill>
              </a:rPr>
              <a:t> on a </a:t>
            </a:r>
            <a:r>
              <a:rPr lang="el-GR" err="1">
                <a:solidFill>
                  <a:schemeClr val="bg1"/>
                </a:solidFill>
              </a:rPr>
              <a:t>qualitative</a:t>
            </a:r>
            <a:r>
              <a:rPr lang="el-GR">
                <a:solidFill>
                  <a:schemeClr val="bg1"/>
                </a:solidFill>
              </a:rPr>
              <a:t> </a:t>
            </a:r>
            <a:r>
              <a:rPr lang="el-GR" err="1">
                <a:solidFill>
                  <a:schemeClr val="bg1"/>
                </a:solidFill>
              </a:rPr>
              <a:t>level</a:t>
            </a:r>
            <a:r>
              <a:rPr lang="el-GR">
                <a:solidFill>
                  <a:schemeClr val="bg1"/>
                </a:solidFill>
              </a:rPr>
              <a:t>. </a:t>
            </a:r>
            <a:r>
              <a:rPr lang="el-GR" err="1">
                <a:solidFill>
                  <a:schemeClr val="bg1"/>
                </a:solidFill>
              </a:rPr>
              <a:t>Due</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limited</a:t>
            </a:r>
            <a:r>
              <a:rPr lang="el-GR">
                <a:solidFill>
                  <a:schemeClr val="bg1"/>
                </a:solidFill>
              </a:rPr>
              <a:t> </a:t>
            </a:r>
            <a:r>
              <a:rPr lang="el-GR" err="1">
                <a:solidFill>
                  <a:schemeClr val="bg1"/>
                </a:solidFill>
              </a:rPr>
              <a:t>computational</a:t>
            </a:r>
            <a:r>
              <a:rPr lang="el-GR">
                <a:solidFill>
                  <a:schemeClr val="bg1"/>
                </a:solidFill>
              </a:rPr>
              <a:t> </a:t>
            </a:r>
            <a:r>
              <a:rPr lang="el-GR" err="1">
                <a:solidFill>
                  <a:schemeClr val="bg1"/>
                </a:solidFill>
              </a:rPr>
              <a:t>resources</a:t>
            </a:r>
            <a:r>
              <a:rPr lang="el-GR">
                <a:solidFill>
                  <a:schemeClr val="bg1"/>
                </a:solidFill>
              </a:rPr>
              <a:t>, </a:t>
            </a:r>
            <a:r>
              <a:rPr lang="el-GR" err="1">
                <a:solidFill>
                  <a:schemeClr val="bg1"/>
                </a:solidFill>
              </a:rPr>
              <a:t>we</a:t>
            </a:r>
            <a:r>
              <a:rPr lang="el-GR">
                <a:solidFill>
                  <a:schemeClr val="bg1"/>
                </a:solidFill>
              </a:rPr>
              <a:t> </a:t>
            </a:r>
            <a:r>
              <a:rPr lang="el-GR" err="1">
                <a:solidFill>
                  <a:schemeClr val="bg1"/>
                </a:solidFill>
              </a:rPr>
              <a:t>were</a:t>
            </a:r>
            <a:r>
              <a:rPr lang="el-GR">
                <a:solidFill>
                  <a:schemeClr val="bg1"/>
                </a:solidFill>
              </a:rPr>
              <a:t> </a:t>
            </a:r>
            <a:r>
              <a:rPr lang="el-GR" err="1">
                <a:solidFill>
                  <a:schemeClr val="bg1"/>
                </a:solidFill>
              </a:rPr>
              <a:t>required</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scale</a:t>
            </a:r>
            <a:r>
              <a:rPr lang="el-GR">
                <a:solidFill>
                  <a:schemeClr val="bg1"/>
                </a:solidFill>
              </a:rPr>
              <a:t> </a:t>
            </a:r>
            <a:r>
              <a:rPr lang="el-GR" err="1">
                <a:solidFill>
                  <a:schemeClr val="bg1"/>
                </a:solidFill>
              </a:rPr>
              <a:t>down</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smaller</a:t>
            </a:r>
            <a:r>
              <a:rPr lang="el-GR">
                <a:solidFill>
                  <a:schemeClr val="bg1"/>
                </a:solidFill>
              </a:rPr>
              <a:t> </a:t>
            </a:r>
            <a:r>
              <a:rPr lang="el-GR" err="1">
                <a:solidFill>
                  <a:schemeClr val="bg1"/>
                </a:solidFill>
              </a:rPr>
              <a:t>models</a:t>
            </a:r>
            <a:r>
              <a:rPr lang="el-GR">
                <a:solidFill>
                  <a:schemeClr val="bg1"/>
                </a:solidFill>
              </a:rPr>
              <a:t> and </a:t>
            </a:r>
            <a:r>
              <a:rPr lang="el-GR" err="1">
                <a:solidFill>
                  <a:schemeClr val="bg1"/>
                </a:solidFill>
              </a:rPr>
              <a:t>restrict</a:t>
            </a:r>
            <a:r>
              <a:rPr lang="el-GR">
                <a:solidFill>
                  <a:schemeClr val="bg1"/>
                </a:solidFill>
              </a:rPr>
              <a:t> the </a:t>
            </a:r>
            <a:r>
              <a:rPr lang="el-GR" err="1">
                <a:solidFill>
                  <a:schemeClr val="bg1"/>
                </a:solidFill>
              </a:rPr>
              <a:t>token</a:t>
            </a:r>
            <a:r>
              <a:rPr lang="el-GR">
                <a:solidFill>
                  <a:schemeClr val="bg1"/>
                </a:solidFill>
              </a:rPr>
              <a:t> </a:t>
            </a:r>
            <a:r>
              <a:rPr lang="el-GR" err="1">
                <a:solidFill>
                  <a:schemeClr val="bg1"/>
                </a:solidFill>
              </a:rPr>
              <a:t>generation</a:t>
            </a:r>
            <a:r>
              <a:rPr lang="el-GR">
                <a:solidFill>
                  <a:schemeClr val="bg1"/>
                </a:solidFill>
              </a:rPr>
              <a:t> </a:t>
            </a:r>
            <a:r>
              <a:rPr lang="el-GR" err="1">
                <a:solidFill>
                  <a:schemeClr val="bg1"/>
                </a:solidFill>
              </a:rPr>
              <a:t>during</a:t>
            </a:r>
            <a:r>
              <a:rPr lang="el-GR">
                <a:solidFill>
                  <a:schemeClr val="bg1"/>
                </a:solidFill>
              </a:rPr>
              <a:t> the PPO (</a:t>
            </a:r>
            <a:r>
              <a:rPr lang="el-GR" err="1">
                <a:solidFill>
                  <a:schemeClr val="bg1"/>
                </a:solidFill>
              </a:rPr>
              <a:t>Proximal</a:t>
            </a:r>
            <a:r>
              <a:rPr lang="el-GR">
                <a:solidFill>
                  <a:schemeClr val="bg1"/>
                </a:solidFill>
              </a:rPr>
              <a:t> Policy </a:t>
            </a:r>
            <a:r>
              <a:rPr lang="el-GR" err="1">
                <a:solidFill>
                  <a:schemeClr val="bg1"/>
                </a:solidFill>
              </a:rPr>
              <a:t>Optimization</a:t>
            </a:r>
            <a:r>
              <a:rPr lang="el-GR">
                <a:solidFill>
                  <a:schemeClr val="bg1"/>
                </a:solidFill>
              </a:rPr>
              <a:t>) </a:t>
            </a:r>
            <a:r>
              <a:rPr lang="el-GR" err="1">
                <a:solidFill>
                  <a:schemeClr val="bg1"/>
                </a:solidFill>
              </a:rPr>
              <a:t>phase</a:t>
            </a:r>
            <a:r>
              <a:rPr lang="el-GR">
                <a:solidFill>
                  <a:schemeClr val="bg1"/>
                </a:solidFill>
              </a:rPr>
              <a:t>.</a:t>
            </a:r>
          </a:p>
          <a:p>
            <a:pPr marL="285750" indent="-285750">
              <a:buClr>
                <a:schemeClr val="bg1"/>
              </a:buClr>
              <a:buFont typeface="Arial" panose="020B0604020202020204" pitchFamily="34" charset="0"/>
              <a:buChar char="•"/>
            </a:pPr>
            <a:endParaRPr lang="el-GR" b="1">
              <a:solidFill>
                <a:schemeClr val="bg1"/>
              </a:solidFill>
            </a:endParaRPr>
          </a:p>
          <a:p>
            <a:pPr marL="285750" indent="-285750">
              <a:buClr>
                <a:schemeClr val="bg1"/>
              </a:buClr>
              <a:buFont typeface="Arial" panose="020B0604020202020204" pitchFamily="34" charset="0"/>
              <a:buChar char="•"/>
            </a:pPr>
            <a:r>
              <a:rPr lang="el-GR" b="1" err="1">
                <a:solidFill>
                  <a:schemeClr val="bg1"/>
                </a:solidFill>
              </a:rPr>
              <a:t>Dataset</a:t>
            </a:r>
            <a:r>
              <a:rPr lang="el-GR" b="1">
                <a:solidFill>
                  <a:schemeClr val="bg1"/>
                </a:solidFill>
              </a:rPr>
              <a:t> </a:t>
            </a:r>
            <a:r>
              <a:rPr lang="el-GR" b="1" err="1">
                <a:solidFill>
                  <a:schemeClr val="bg1"/>
                </a:solidFill>
              </a:rPr>
              <a:t>Limitations</a:t>
            </a:r>
            <a:r>
              <a:rPr lang="el-GR" b="1">
                <a:solidFill>
                  <a:schemeClr val="bg1"/>
                </a:solidFill>
              </a:rPr>
              <a:t>:</a:t>
            </a:r>
            <a:r>
              <a:rPr lang="el-GR">
                <a:solidFill>
                  <a:schemeClr val="bg1"/>
                </a:solidFill>
              </a:rPr>
              <a:t> </a:t>
            </a:r>
            <a:r>
              <a:rPr lang="el-GR" err="1">
                <a:solidFill>
                  <a:schemeClr val="bg1"/>
                </a:solidFill>
              </a:rPr>
              <a:t>Testing</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exclusively</a:t>
            </a:r>
            <a:r>
              <a:rPr lang="el-GR">
                <a:solidFill>
                  <a:schemeClr val="bg1"/>
                </a:solidFill>
              </a:rPr>
              <a:t> </a:t>
            </a:r>
            <a:r>
              <a:rPr lang="el-GR" err="1">
                <a:solidFill>
                  <a:schemeClr val="bg1"/>
                </a:solidFill>
              </a:rPr>
              <a:t>limited</a:t>
            </a:r>
            <a:r>
              <a:rPr lang="el-GR">
                <a:solidFill>
                  <a:schemeClr val="bg1"/>
                </a:solidFill>
              </a:rPr>
              <a:t> </a:t>
            </a:r>
            <a:r>
              <a:rPr lang="el-GR" err="1">
                <a:solidFill>
                  <a:schemeClr val="bg1"/>
                </a:solidFill>
              </a:rPr>
              <a:t>to</a:t>
            </a:r>
            <a:r>
              <a:rPr lang="el-GR">
                <a:solidFill>
                  <a:schemeClr val="bg1"/>
                </a:solidFill>
              </a:rPr>
              <a:t> the MATH500 </a:t>
            </a:r>
            <a:r>
              <a:rPr lang="el-GR" err="1">
                <a:solidFill>
                  <a:schemeClr val="bg1"/>
                </a:solidFill>
              </a:rPr>
              <a:t>dataset</a:t>
            </a:r>
            <a:r>
              <a:rPr lang="el-GR">
                <a:solidFill>
                  <a:schemeClr val="bg1"/>
                </a:solidFill>
              </a:rPr>
              <a:t>. The AIME24 </a:t>
            </a:r>
            <a:r>
              <a:rPr lang="el-GR" err="1">
                <a:solidFill>
                  <a:schemeClr val="bg1"/>
                </a:solidFill>
              </a:rPr>
              <a:t>dataset</a:t>
            </a:r>
            <a:r>
              <a:rPr lang="el-GR">
                <a:solidFill>
                  <a:schemeClr val="bg1"/>
                </a:solidFill>
              </a:rPr>
              <a:t> </a:t>
            </a:r>
            <a:r>
              <a:rPr lang="el-GR" err="1">
                <a:solidFill>
                  <a:schemeClr val="bg1"/>
                </a:solidFill>
              </a:rPr>
              <a:t>consistently</a:t>
            </a:r>
            <a:r>
              <a:rPr lang="el-GR">
                <a:solidFill>
                  <a:schemeClr val="bg1"/>
                </a:solidFill>
              </a:rPr>
              <a:t> </a:t>
            </a:r>
            <a:r>
              <a:rPr lang="el-GR" err="1">
                <a:solidFill>
                  <a:schemeClr val="bg1"/>
                </a:solidFill>
              </a:rPr>
              <a:t>yielded</a:t>
            </a:r>
            <a:r>
              <a:rPr lang="el-GR">
                <a:solidFill>
                  <a:schemeClr val="bg1"/>
                </a:solidFill>
              </a:rPr>
              <a:t> </a:t>
            </a:r>
            <a:r>
              <a:rPr lang="el-GR" err="1">
                <a:solidFill>
                  <a:schemeClr val="bg1"/>
                </a:solidFill>
              </a:rPr>
              <a:t>zero</a:t>
            </a:r>
            <a:r>
              <a:rPr lang="el-GR">
                <a:solidFill>
                  <a:schemeClr val="bg1"/>
                </a:solidFill>
              </a:rPr>
              <a:t> </a:t>
            </a:r>
            <a:r>
              <a:rPr lang="el-GR" err="1">
                <a:solidFill>
                  <a:schemeClr val="bg1"/>
                </a:solidFill>
              </a:rPr>
              <a:t>scores</a:t>
            </a:r>
            <a:r>
              <a:rPr lang="el-GR">
                <a:solidFill>
                  <a:schemeClr val="bg1"/>
                </a:solidFill>
              </a:rPr>
              <a:t>; </a:t>
            </a:r>
            <a:r>
              <a:rPr lang="el-GR" err="1">
                <a:solidFill>
                  <a:schemeClr val="bg1"/>
                </a:solidFill>
              </a:rPr>
              <a:t>therefore</a:t>
            </a:r>
            <a:r>
              <a:rPr lang="el-GR">
                <a:solidFill>
                  <a:schemeClr val="bg1"/>
                </a:solidFill>
              </a:rPr>
              <a:t>, </a:t>
            </a:r>
            <a:r>
              <a:rPr lang="el-GR" err="1">
                <a:solidFill>
                  <a:schemeClr val="bg1"/>
                </a:solidFill>
              </a:rPr>
              <a:t>conducting</a:t>
            </a:r>
            <a:r>
              <a:rPr lang="el-GR">
                <a:solidFill>
                  <a:schemeClr val="bg1"/>
                </a:solidFill>
              </a:rPr>
              <a:t> </a:t>
            </a:r>
            <a:r>
              <a:rPr lang="el-GR" err="1">
                <a:solidFill>
                  <a:schemeClr val="bg1"/>
                </a:solidFill>
              </a:rPr>
              <a:t>an</a:t>
            </a:r>
            <a:r>
              <a:rPr lang="el-GR">
                <a:solidFill>
                  <a:schemeClr val="bg1"/>
                </a:solidFill>
              </a:rPr>
              <a:t> </a:t>
            </a:r>
            <a:r>
              <a:rPr lang="el-GR" err="1">
                <a:solidFill>
                  <a:schemeClr val="bg1"/>
                </a:solidFill>
              </a:rPr>
              <a:t>evaluation</a:t>
            </a:r>
            <a:r>
              <a:rPr lang="el-GR">
                <a:solidFill>
                  <a:schemeClr val="bg1"/>
                </a:solidFill>
              </a:rPr>
              <a:t> on </a:t>
            </a:r>
            <a:r>
              <a:rPr lang="el-GR" err="1">
                <a:solidFill>
                  <a:schemeClr val="bg1"/>
                </a:solidFill>
              </a:rPr>
              <a:t>it</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deemed</a:t>
            </a:r>
            <a:r>
              <a:rPr lang="el-GR">
                <a:solidFill>
                  <a:schemeClr val="bg1"/>
                </a:solidFill>
              </a:rPr>
              <a:t> </a:t>
            </a:r>
            <a:r>
              <a:rPr lang="el-GR" err="1">
                <a:solidFill>
                  <a:schemeClr val="bg1"/>
                </a:solidFill>
              </a:rPr>
              <a:t>uninformative</a:t>
            </a:r>
            <a:r>
              <a:rPr lang="el-GR">
                <a:solidFill>
                  <a:schemeClr val="bg1"/>
                </a:solidFill>
              </a:rPr>
              <a:t> and </a:t>
            </a:r>
            <a:r>
              <a:rPr lang="el-GR" err="1">
                <a:solidFill>
                  <a:schemeClr val="bg1"/>
                </a:solidFill>
              </a:rPr>
              <a:t>subsequently</a:t>
            </a:r>
            <a:r>
              <a:rPr lang="el-GR">
                <a:solidFill>
                  <a:schemeClr val="bg1"/>
                </a:solidFill>
              </a:rPr>
              <a:t> </a:t>
            </a:r>
            <a:r>
              <a:rPr lang="el-GR" err="1">
                <a:solidFill>
                  <a:schemeClr val="bg1"/>
                </a:solidFill>
              </a:rPr>
              <a:t>omitted</a:t>
            </a:r>
            <a:r>
              <a:rPr lang="el-GR">
                <a:solidFill>
                  <a:schemeClr val="bg1"/>
                </a:solidFill>
              </a:rPr>
              <a:t>.</a:t>
            </a:r>
          </a:p>
          <a:p>
            <a:pPr marL="285750" indent="-285750">
              <a:buClr>
                <a:schemeClr val="bg1"/>
              </a:buClr>
              <a:buFont typeface="Arial" panose="020B0604020202020204" pitchFamily="34" charset="0"/>
              <a:buChar char="•"/>
            </a:pPr>
            <a:endParaRPr lang="el-GR" b="1">
              <a:solidFill>
                <a:schemeClr val="bg1"/>
              </a:solidFill>
            </a:endParaRPr>
          </a:p>
          <a:p>
            <a:pPr marL="285750" indent="-285750">
              <a:buClr>
                <a:schemeClr val="bg1"/>
              </a:buClr>
              <a:buFont typeface="Arial" panose="020B0604020202020204" pitchFamily="34" charset="0"/>
              <a:buChar char="•"/>
            </a:pPr>
            <a:r>
              <a:rPr lang="el-GR" b="1" err="1">
                <a:solidFill>
                  <a:schemeClr val="bg1"/>
                </a:solidFill>
              </a:rPr>
              <a:t>Model</a:t>
            </a:r>
            <a:r>
              <a:rPr lang="el-GR" b="1">
                <a:solidFill>
                  <a:schemeClr val="bg1"/>
                </a:solidFill>
              </a:rPr>
              <a:t> </a:t>
            </a:r>
            <a:r>
              <a:rPr lang="el-GR" b="1" err="1">
                <a:solidFill>
                  <a:schemeClr val="bg1"/>
                </a:solidFill>
              </a:rPr>
              <a:t>Limitations</a:t>
            </a:r>
            <a:r>
              <a:rPr lang="el-GR" b="1">
                <a:solidFill>
                  <a:schemeClr val="bg1"/>
                </a:solidFill>
              </a:rPr>
              <a:t>:</a:t>
            </a:r>
            <a:r>
              <a:rPr lang="el-GR">
                <a:solidFill>
                  <a:schemeClr val="bg1"/>
                </a:solidFill>
              </a:rPr>
              <a:t> The </a:t>
            </a:r>
            <a:r>
              <a:rPr lang="el-GR" err="1">
                <a:solidFill>
                  <a:schemeClr val="bg1"/>
                </a:solidFill>
              </a:rPr>
              <a:t>scaled-down</a:t>
            </a:r>
            <a:r>
              <a:rPr lang="el-GR">
                <a:solidFill>
                  <a:schemeClr val="bg1"/>
                </a:solidFill>
              </a:rPr>
              <a:t> </a:t>
            </a:r>
            <a:r>
              <a:rPr lang="el-GR" err="1">
                <a:solidFill>
                  <a:schemeClr val="bg1"/>
                </a:solidFill>
              </a:rPr>
              <a:t>models</a:t>
            </a:r>
            <a:r>
              <a:rPr lang="el-GR">
                <a:solidFill>
                  <a:schemeClr val="bg1"/>
                </a:solidFill>
              </a:rPr>
              <a:t> </a:t>
            </a:r>
            <a:r>
              <a:rPr lang="el-GR" err="1">
                <a:solidFill>
                  <a:schemeClr val="bg1"/>
                </a:solidFill>
              </a:rPr>
              <a:t>exhibited</a:t>
            </a:r>
            <a:r>
              <a:rPr lang="el-GR">
                <a:solidFill>
                  <a:schemeClr val="bg1"/>
                </a:solidFill>
              </a:rPr>
              <a:t> </a:t>
            </a:r>
            <a:r>
              <a:rPr lang="el-GR" err="1">
                <a:solidFill>
                  <a:schemeClr val="bg1"/>
                </a:solidFill>
              </a:rPr>
              <a:t>an</a:t>
            </a:r>
            <a:r>
              <a:rPr lang="el-GR">
                <a:solidFill>
                  <a:schemeClr val="bg1"/>
                </a:solidFill>
              </a:rPr>
              <a:t> </a:t>
            </a:r>
            <a:r>
              <a:rPr lang="el-GR" err="1">
                <a:solidFill>
                  <a:schemeClr val="bg1"/>
                </a:solidFill>
              </a:rPr>
              <a:t>inherent</a:t>
            </a:r>
            <a:r>
              <a:rPr lang="el-GR">
                <a:solidFill>
                  <a:schemeClr val="bg1"/>
                </a:solidFill>
              </a:rPr>
              <a:t> </a:t>
            </a:r>
            <a:r>
              <a:rPr lang="el-GR" err="1">
                <a:solidFill>
                  <a:schemeClr val="bg1"/>
                </a:solidFill>
              </a:rPr>
              <a:t>lack</a:t>
            </a:r>
            <a:r>
              <a:rPr lang="el-GR">
                <a:solidFill>
                  <a:schemeClr val="bg1"/>
                </a:solidFill>
              </a:rPr>
              <a:t> of </a:t>
            </a:r>
            <a:r>
              <a:rPr lang="el-GR" err="1">
                <a:solidFill>
                  <a:schemeClr val="bg1"/>
                </a:solidFill>
              </a:rPr>
              <a:t>reasoning</a:t>
            </a:r>
            <a:r>
              <a:rPr lang="el-GR">
                <a:solidFill>
                  <a:schemeClr val="bg1"/>
                </a:solidFill>
              </a:rPr>
              <a:t> </a:t>
            </a:r>
            <a:r>
              <a:rPr lang="el-GR" err="1">
                <a:solidFill>
                  <a:schemeClr val="bg1"/>
                </a:solidFill>
              </a:rPr>
              <a:t>capabilities</a:t>
            </a:r>
            <a:r>
              <a:rPr lang="el-GR">
                <a:solidFill>
                  <a:schemeClr val="bg1"/>
                </a:solidFill>
              </a:rPr>
              <a:t>. </a:t>
            </a:r>
            <a:r>
              <a:rPr lang="el-GR" err="1">
                <a:solidFill>
                  <a:schemeClr val="bg1"/>
                </a:solidFill>
              </a:rPr>
              <a:t>This</a:t>
            </a:r>
            <a:r>
              <a:rPr lang="el-GR">
                <a:solidFill>
                  <a:schemeClr val="bg1"/>
                </a:solidFill>
              </a:rPr>
              <a:t> </a:t>
            </a:r>
            <a:r>
              <a:rPr lang="el-GR" err="1">
                <a:solidFill>
                  <a:schemeClr val="bg1"/>
                </a:solidFill>
              </a:rPr>
              <a:t>limitation</a:t>
            </a:r>
            <a:r>
              <a:rPr lang="el-GR">
                <a:solidFill>
                  <a:schemeClr val="bg1"/>
                </a:solidFill>
              </a:rPr>
              <a:t> </a:t>
            </a:r>
            <a:r>
              <a:rPr lang="el-GR" err="1">
                <a:solidFill>
                  <a:schemeClr val="bg1"/>
                </a:solidFill>
              </a:rPr>
              <a:t>directly</a:t>
            </a:r>
            <a:r>
              <a:rPr lang="el-GR">
                <a:solidFill>
                  <a:schemeClr val="bg1"/>
                </a:solidFill>
              </a:rPr>
              <a:t> </a:t>
            </a:r>
            <a:r>
              <a:rPr lang="el-GR" err="1">
                <a:solidFill>
                  <a:schemeClr val="bg1"/>
                </a:solidFill>
              </a:rPr>
              <a:t>resulted</a:t>
            </a:r>
            <a:r>
              <a:rPr lang="el-GR">
                <a:solidFill>
                  <a:schemeClr val="bg1"/>
                </a:solidFill>
              </a:rPr>
              <a:t> in </a:t>
            </a:r>
            <a:r>
              <a:rPr lang="el-GR" err="1">
                <a:solidFill>
                  <a:schemeClr val="bg1"/>
                </a:solidFill>
              </a:rPr>
              <a:t>performance</a:t>
            </a:r>
            <a:r>
              <a:rPr lang="el-GR">
                <a:solidFill>
                  <a:schemeClr val="bg1"/>
                </a:solidFill>
              </a:rPr>
              <a:t> </a:t>
            </a:r>
            <a:r>
              <a:rPr lang="el-GR" err="1">
                <a:solidFill>
                  <a:schemeClr val="bg1"/>
                </a:solidFill>
              </a:rPr>
              <a:t>issues</a:t>
            </a:r>
            <a:r>
              <a:rPr lang="el-GR">
                <a:solidFill>
                  <a:schemeClr val="bg1"/>
                </a:solidFill>
              </a:rPr>
              <a:t>, </a:t>
            </a:r>
            <a:r>
              <a:rPr lang="el-GR" err="1">
                <a:solidFill>
                  <a:schemeClr val="bg1"/>
                </a:solidFill>
              </a:rPr>
              <a:t>specifically</a:t>
            </a:r>
            <a:r>
              <a:rPr lang="el-GR">
                <a:solidFill>
                  <a:schemeClr val="bg1"/>
                </a:solidFill>
              </a:rPr>
              <a:t> </a:t>
            </a:r>
            <a:r>
              <a:rPr lang="el-GR" err="1">
                <a:solidFill>
                  <a:schemeClr val="bg1"/>
                </a:solidFill>
              </a:rPr>
              <a:t>manifesting</a:t>
            </a:r>
            <a:r>
              <a:rPr lang="el-GR">
                <a:solidFill>
                  <a:schemeClr val="bg1"/>
                </a:solidFill>
              </a:rPr>
              <a:t> </a:t>
            </a:r>
            <a:r>
              <a:rPr lang="el-GR" err="1">
                <a:solidFill>
                  <a:schemeClr val="bg1"/>
                </a:solidFill>
              </a:rPr>
              <a:t>as</a:t>
            </a:r>
            <a:r>
              <a:rPr lang="el-GR">
                <a:solidFill>
                  <a:schemeClr val="bg1"/>
                </a:solidFill>
              </a:rPr>
              <a:t> a </a:t>
            </a:r>
            <a:r>
              <a:rPr lang="el-GR" err="1">
                <a:solidFill>
                  <a:schemeClr val="bg1"/>
                </a:solidFill>
              </a:rPr>
              <a:t>low</a:t>
            </a:r>
            <a:r>
              <a:rPr lang="el-GR">
                <a:solidFill>
                  <a:schemeClr val="bg1"/>
                </a:solidFill>
              </a:rPr>
              <a:t> </a:t>
            </a:r>
            <a:r>
              <a:rPr lang="el-GR" err="1">
                <a:solidFill>
                  <a:schemeClr val="bg1"/>
                </a:solidFill>
              </a:rPr>
              <a:t>Effective</a:t>
            </a:r>
            <a:r>
              <a:rPr lang="el-GR">
                <a:solidFill>
                  <a:schemeClr val="bg1"/>
                </a:solidFill>
              </a:rPr>
              <a:t> </a:t>
            </a:r>
            <a:r>
              <a:rPr lang="el-GR" err="1">
                <a:solidFill>
                  <a:schemeClr val="bg1"/>
                </a:solidFill>
              </a:rPr>
              <a:t>Context</a:t>
            </a:r>
            <a:r>
              <a:rPr lang="el-GR">
                <a:solidFill>
                  <a:schemeClr val="bg1"/>
                </a:solidFill>
              </a:rPr>
              <a:t> </a:t>
            </a:r>
            <a:r>
              <a:rPr lang="el-GR" err="1">
                <a:solidFill>
                  <a:schemeClr val="bg1"/>
                </a:solidFill>
              </a:rPr>
              <a:t>Reward</a:t>
            </a:r>
            <a:r>
              <a:rPr lang="el-GR">
                <a:solidFill>
                  <a:schemeClr val="bg1"/>
                </a:solidFill>
              </a:rPr>
              <a:t>.</a:t>
            </a:r>
          </a:p>
          <a:p>
            <a:pPr marL="285750" indent="-285750">
              <a:buClr>
                <a:schemeClr val="bg1"/>
              </a:buClr>
              <a:buFont typeface="Arial" panose="020B0604020202020204" pitchFamily="34" charset="0"/>
              <a:buChar char="•"/>
            </a:pPr>
            <a:r>
              <a:rPr lang="el-GR" b="1">
                <a:solidFill>
                  <a:schemeClr val="bg1"/>
                </a:solidFill>
              </a:rPr>
              <a:t> </a:t>
            </a:r>
            <a:endParaRPr lang="el-GR">
              <a:solidFill>
                <a:schemeClr val="bg1"/>
              </a:solidFill>
            </a:endParaRPr>
          </a:p>
          <a:p>
            <a:pPr marL="285750" indent="-285750">
              <a:buClr>
                <a:schemeClr val="bg1"/>
              </a:buClr>
              <a:buFont typeface="Arial" panose="020B0604020202020204" pitchFamily="34" charset="0"/>
              <a:buChar char="•"/>
            </a:pPr>
            <a:r>
              <a:rPr lang="el-GR" b="1" err="1">
                <a:solidFill>
                  <a:schemeClr val="bg1"/>
                </a:solidFill>
              </a:rPr>
              <a:t>Corroboration</a:t>
            </a:r>
            <a:r>
              <a:rPr lang="el-GR" b="1">
                <a:solidFill>
                  <a:schemeClr val="bg1"/>
                </a:solidFill>
              </a:rPr>
              <a:t> of </a:t>
            </a:r>
            <a:r>
              <a:rPr lang="el-GR" b="1" err="1">
                <a:solidFill>
                  <a:schemeClr val="bg1"/>
                </a:solidFill>
              </a:rPr>
              <a:t>Findings</a:t>
            </a:r>
            <a:r>
              <a:rPr lang="el-GR" b="1">
                <a:solidFill>
                  <a:schemeClr val="bg1"/>
                </a:solidFill>
              </a:rPr>
              <a:t>:</a:t>
            </a:r>
            <a:r>
              <a:rPr lang="el-GR">
                <a:solidFill>
                  <a:schemeClr val="bg1"/>
                </a:solidFill>
              </a:rPr>
              <a:t> </a:t>
            </a:r>
            <a:r>
              <a:rPr lang="el-GR" err="1">
                <a:solidFill>
                  <a:schemeClr val="bg1"/>
                </a:solidFill>
              </a:rPr>
              <a:t>Despite</a:t>
            </a:r>
            <a:r>
              <a:rPr lang="el-GR">
                <a:solidFill>
                  <a:schemeClr val="bg1"/>
                </a:solidFill>
              </a:rPr>
              <a:t> the </a:t>
            </a:r>
            <a:r>
              <a:rPr lang="el-GR" err="1">
                <a:solidFill>
                  <a:schemeClr val="bg1"/>
                </a:solidFill>
              </a:rPr>
              <a:t>hardware</a:t>
            </a:r>
            <a:r>
              <a:rPr lang="el-GR">
                <a:solidFill>
                  <a:schemeClr val="bg1"/>
                </a:solidFill>
              </a:rPr>
              <a:t> </a:t>
            </a:r>
            <a:r>
              <a:rPr lang="el-GR" err="1">
                <a:solidFill>
                  <a:schemeClr val="bg1"/>
                </a:solidFill>
              </a:rPr>
              <a:t>constraints</a:t>
            </a:r>
            <a:r>
              <a:rPr lang="el-GR">
                <a:solidFill>
                  <a:schemeClr val="bg1"/>
                </a:solidFill>
              </a:rPr>
              <a:t>, </a:t>
            </a:r>
            <a:r>
              <a:rPr lang="el-GR" err="1">
                <a:solidFill>
                  <a:schemeClr val="bg1"/>
                </a:solidFill>
              </a:rPr>
              <a:t>our</a:t>
            </a:r>
            <a:r>
              <a:rPr lang="el-GR">
                <a:solidFill>
                  <a:schemeClr val="bg1"/>
                </a:solidFill>
              </a:rPr>
              <a:t> </a:t>
            </a:r>
            <a:r>
              <a:rPr lang="el-GR" err="1">
                <a:solidFill>
                  <a:schemeClr val="bg1"/>
                </a:solidFill>
              </a:rPr>
              <a:t>results</a:t>
            </a:r>
            <a:r>
              <a:rPr lang="el-GR">
                <a:solidFill>
                  <a:schemeClr val="bg1"/>
                </a:solidFill>
              </a:rPr>
              <a:t> </a:t>
            </a:r>
            <a:r>
              <a:rPr lang="el-GR" err="1">
                <a:solidFill>
                  <a:schemeClr val="bg1"/>
                </a:solidFill>
              </a:rPr>
              <a:t>successfully</a:t>
            </a:r>
            <a:r>
              <a:rPr lang="el-GR">
                <a:solidFill>
                  <a:schemeClr val="bg1"/>
                </a:solidFill>
              </a:rPr>
              <a:t> </a:t>
            </a:r>
            <a:r>
              <a:rPr lang="el-GR" err="1">
                <a:solidFill>
                  <a:schemeClr val="bg1"/>
                </a:solidFill>
              </a:rPr>
              <a:t>corroborate</a:t>
            </a:r>
            <a:r>
              <a:rPr lang="el-GR">
                <a:solidFill>
                  <a:schemeClr val="bg1"/>
                </a:solidFill>
              </a:rPr>
              <a:t> the </a:t>
            </a:r>
            <a:r>
              <a:rPr lang="el-GR" err="1">
                <a:solidFill>
                  <a:schemeClr val="bg1"/>
                </a:solidFill>
              </a:rPr>
              <a:t>paper's</a:t>
            </a:r>
            <a:r>
              <a:rPr lang="el-GR">
                <a:solidFill>
                  <a:schemeClr val="bg1"/>
                </a:solidFill>
              </a:rPr>
              <a:t> </a:t>
            </a:r>
            <a:r>
              <a:rPr lang="el-GR" err="1">
                <a:solidFill>
                  <a:schemeClr val="bg1"/>
                </a:solidFill>
              </a:rPr>
              <a:t>central</a:t>
            </a:r>
            <a:r>
              <a:rPr lang="el-GR">
                <a:solidFill>
                  <a:schemeClr val="bg1"/>
                </a:solidFill>
              </a:rPr>
              <a:t> </a:t>
            </a:r>
            <a:r>
              <a:rPr lang="el-GR" err="1">
                <a:solidFill>
                  <a:schemeClr val="bg1"/>
                </a:solidFill>
              </a:rPr>
              <a:t>claim</a:t>
            </a:r>
            <a:r>
              <a:rPr lang="el-GR">
                <a:solidFill>
                  <a:schemeClr val="bg1"/>
                </a:solidFill>
              </a:rPr>
              <a:t>: the </a:t>
            </a:r>
            <a:r>
              <a:rPr lang="el-GR" err="1">
                <a:solidFill>
                  <a:schemeClr val="bg1"/>
                </a:solidFill>
              </a:rPr>
              <a:t>implementation</a:t>
            </a:r>
            <a:r>
              <a:rPr lang="el-GR">
                <a:solidFill>
                  <a:schemeClr val="bg1"/>
                </a:solidFill>
              </a:rPr>
              <a:t> of </a:t>
            </a:r>
            <a:r>
              <a:rPr lang="el-GR" err="1">
                <a:solidFill>
                  <a:schemeClr val="bg1"/>
                </a:solidFill>
              </a:rPr>
              <a:t>an</a:t>
            </a:r>
            <a:r>
              <a:rPr lang="el-GR">
                <a:solidFill>
                  <a:schemeClr val="bg1"/>
                </a:solidFill>
              </a:rPr>
              <a:t> </a:t>
            </a:r>
            <a:r>
              <a:rPr lang="el-GR" err="1">
                <a:solidFill>
                  <a:schemeClr val="bg1"/>
                </a:solidFill>
              </a:rPr>
              <a:t>Exploration</a:t>
            </a:r>
            <a:r>
              <a:rPr lang="el-GR">
                <a:solidFill>
                  <a:schemeClr val="bg1"/>
                </a:solidFill>
              </a:rPr>
              <a:t> </a:t>
            </a:r>
            <a:r>
              <a:rPr lang="el-GR" err="1">
                <a:solidFill>
                  <a:schemeClr val="bg1"/>
                </a:solidFill>
              </a:rPr>
              <a:t>Reward</a:t>
            </a:r>
            <a:r>
              <a:rPr lang="el-GR">
                <a:solidFill>
                  <a:schemeClr val="bg1"/>
                </a:solidFill>
              </a:rPr>
              <a:t> </a:t>
            </a:r>
            <a:r>
              <a:rPr lang="el-GR" err="1">
                <a:solidFill>
                  <a:schemeClr val="bg1"/>
                </a:solidFill>
              </a:rPr>
              <a:t>generally</a:t>
            </a:r>
            <a:r>
              <a:rPr lang="el-GR">
                <a:solidFill>
                  <a:schemeClr val="bg1"/>
                </a:solidFill>
              </a:rPr>
              <a:t> </a:t>
            </a:r>
            <a:r>
              <a:rPr lang="el-GR" err="1">
                <a:solidFill>
                  <a:schemeClr val="bg1"/>
                </a:solidFill>
              </a:rPr>
              <a:t>leads</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improved</a:t>
            </a:r>
            <a:r>
              <a:rPr lang="el-GR">
                <a:solidFill>
                  <a:schemeClr val="bg1"/>
                </a:solidFill>
              </a:rPr>
              <a:t> </a:t>
            </a:r>
            <a:r>
              <a:rPr lang="el-GR" err="1">
                <a:solidFill>
                  <a:schemeClr val="bg1"/>
                </a:solidFill>
              </a:rPr>
              <a:t>outcomes</a:t>
            </a:r>
            <a:r>
              <a:rPr lang="el-GR">
                <a:solidFill>
                  <a:schemeClr val="bg1"/>
                </a:solidFill>
              </a:rPr>
              <a:t>. </a:t>
            </a:r>
            <a:r>
              <a:rPr lang="el-GR" err="1">
                <a:solidFill>
                  <a:schemeClr val="bg1"/>
                </a:solidFill>
              </a:rPr>
              <a:t>However</a:t>
            </a:r>
            <a:r>
              <a:rPr lang="el-GR">
                <a:solidFill>
                  <a:schemeClr val="bg1"/>
                </a:solidFill>
              </a:rPr>
              <a:t>, </a:t>
            </a:r>
            <a:r>
              <a:rPr lang="el-GR" err="1">
                <a:solidFill>
                  <a:schemeClr val="bg1"/>
                </a:solidFill>
              </a:rPr>
              <a:t>due</a:t>
            </a:r>
            <a:r>
              <a:rPr lang="el-GR">
                <a:solidFill>
                  <a:schemeClr val="bg1"/>
                </a:solidFill>
              </a:rPr>
              <a:t> </a:t>
            </a:r>
            <a:r>
              <a:rPr lang="el-GR" err="1">
                <a:solidFill>
                  <a:schemeClr val="bg1"/>
                </a:solidFill>
              </a:rPr>
              <a:t>to</a:t>
            </a:r>
            <a:r>
              <a:rPr lang="el-GR">
                <a:solidFill>
                  <a:schemeClr val="bg1"/>
                </a:solidFill>
              </a:rPr>
              <a:t> the </a:t>
            </a:r>
            <a:r>
              <a:rPr lang="el-GR" err="1">
                <a:solidFill>
                  <a:schemeClr val="bg1"/>
                </a:solidFill>
              </a:rPr>
              <a:t>small</a:t>
            </a:r>
            <a:r>
              <a:rPr lang="el-GR">
                <a:solidFill>
                  <a:schemeClr val="bg1"/>
                </a:solidFill>
              </a:rPr>
              <a:t> </a:t>
            </a:r>
            <a:r>
              <a:rPr lang="el-GR" err="1">
                <a:solidFill>
                  <a:schemeClr val="bg1"/>
                </a:solidFill>
              </a:rPr>
              <a:t>size</a:t>
            </a:r>
            <a:r>
              <a:rPr lang="el-GR">
                <a:solidFill>
                  <a:schemeClr val="bg1"/>
                </a:solidFill>
              </a:rPr>
              <a:t> of the </a:t>
            </a:r>
            <a:r>
              <a:rPr lang="el-GR" err="1">
                <a:solidFill>
                  <a:schemeClr val="bg1"/>
                </a:solidFill>
              </a:rPr>
              <a:t>models</a:t>
            </a:r>
            <a:r>
              <a:rPr lang="el-GR">
                <a:solidFill>
                  <a:schemeClr val="bg1"/>
                </a:solidFill>
              </a:rPr>
              <a:t> </a:t>
            </a:r>
            <a:r>
              <a:rPr lang="el-GR" err="1">
                <a:solidFill>
                  <a:schemeClr val="bg1"/>
                </a:solidFill>
              </a:rPr>
              <a:t>used</a:t>
            </a:r>
            <a:r>
              <a:rPr lang="el-GR">
                <a:solidFill>
                  <a:schemeClr val="bg1"/>
                </a:solidFill>
              </a:rPr>
              <a:t>, </a:t>
            </a:r>
            <a:r>
              <a:rPr lang="el-GR" err="1">
                <a:solidFill>
                  <a:schemeClr val="bg1"/>
                </a:solidFill>
              </a:rPr>
              <a:t>this</a:t>
            </a:r>
            <a:r>
              <a:rPr lang="el-GR">
                <a:solidFill>
                  <a:schemeClr val="bg1"/>
                </a:solidFill>
              </a:rPr>
              <a:t> </a:t>
            </a:r>
            <a:r>
              <a:rPr lang="el-GR" err="1">
                <a:solidFill>
                  <a:schemeClr val="bg1"/>
                </a:solidFill>
              </a:rPr>
              <a:t>effect</a:t>
            </a:r>
            <a:r>
              <a:rPr lang="el-GR">
                <a:solidFill>
                  <a:schemeClr val="bg1"/>
                </a:solidFill>
              </a:rPr>
              <a:t>—</a:t>
            </a:r>
            <a:r>
              <a:rPr lang="el-GR" err="1">
                <a:solidFill>
                  <a:schemeClr val="bg1"/>
                </a:solidFill>
              </a:rPr>
              <a:t>along</a:t>
            </a:r>
            <a:r>
              <a:rPr lang="el-GR">
                <a:solidFill>
                  <a:schemeClr val="bg1"/>
                </a:solidFill>
              </a:rPr>
              <a:t> </a:t>
            </a:r>
            <a:r>
              <a:rPr lang="el-GR" err="1">
                <a:solidFill>
                  <a:schemeClr val="bg1"/>
                </a:solidFill>
              </a:rPr>
              <a:t>with</a:t>
            </a:r>
            <a:r>
              <a:rPr lang="el-GR">
                <a:solidFill>
                  <a:schemeClr val="bg1"/>
                </a:solidFill>
              </a:rPr>
              <a:t> the </a:t>
            </a:r>
            <a:r>
              <a:rPr lang="el-GR" err="1">
                <a:solidFill>
                  <a:schemeClr val="bg1"/>
                </a:solidFill>
              </a:rPr>
              <a:t>phenomena</a:t>
            </a:r>
            <a:r>
              <a:rPr lang="el-GR">
                <a:solidFill>
                  <a:schemeClr val="bg1"/>
                </a:solidFill>
              </a:rPr>
              <a:t> of </a:t>
            </a:r>
            <a:r>
              <a:rPr lang="el-GR" err="1">
                <a:solidFill>
                  <a:schemeClr val="bg1"/>
                </a:solidFill>
              </a:rPr>
              <a:t>backtracking</a:t>
            </a:r>
            <a:r>
              <a:rPr lang="el-GR">
                <a:solidFill>
                  <a:schemeClr val="bg1"/>
                </a:solidFill>
              </a:rPr>
              <a:t> and </a:t>
            </a:r>
            <a:r>
              <a:rPr lang="el-GR" err="1">
                <a:solidFill>
                  <a:schemeClr val="bg1"/>
                </a:solidFill>
              </a:rPr>
              <a:t>self-verification</a:t>
            </a:r>
            <a:r>
              <a:rPr lang="el-GR">
                <a:solidFill>
                  <a:schemeClr val="bg1"/>
                </a:solidFill>
              </a:rPr>
              <a:t>—</a:t>
            </a:r>
            <a:r>
              <a:rPr lang="el-GR" err="1">
                <a:solidFill>
                  <a:schemeClr val="bg1"/>
                </a:solidFill>
              </a:rPr>
              <a:t>was</a:t>
            </a:r>
            <a:r>
              <a:rPr lang="el-GR">
                <a:solidFill>
                  <a:schemeClr val="bg1"/>
                </a:solidFill>
              </a:rPr>
              <a:t> </a:t>
            </a:r>
            <a:r>
              <a:rPr lang="el-GR" err="1">
                <a:solidFill>
                  <a:schemeClr val="bg1"/>
                </a:solidFill>
              </a:rPr>
              <a:t>less</a:t>
            </a:r>
            <a:r>
              <a:rPr lang="el-GR">
                <a:solidFill>
                  <a:schemeClr val="bg1"/>
                </a:solidFill>
              </a:rPr>
              <a:t> </a:t>
            </a:r>
            <a:r>
              <a:rPr lang="el-GR" err="1">
                <a:solidFill>
                  <a:schemeClr val="bg1"/>
                </a:solidFill>
              </a:rPr>
              <a:t>pronounced</a:t>
            </a:r>
            <a:r>
              <a:rPr lang="el-GR">
                <a:solidFill>
                  <a:schemeClr val="bg1"/>
                </a:solidFill>
              </a:rPr>
              <a:t> </a:t>
            </a:r>
            <a:r>
              <a:rPr lang="el-GR" err="1">
                <a:solidFill>
                  <a:schemeClr val="bg1"/>
                </a:solidFill>
              </a:rPr>
              <a:t>than</a:t>
            </a:r>
            <a:r>
              <a:rPr lang="el-GR">
                <a:solidFill>
                  <a:schemeClr val="bg1"/>
                </a:solidFill>
              </a:rPr>
              <a:t> </a:t>
            </a:r>
            <a:r>
              <a:rPr lang="el-GR" err="1">
                <a:solidFill>
                  <a:schemeClr val="bg1"/>
                </a:solidFill>
              </a:rPr>
              <a:t>it</a:t>
            </a:r>
            <a:r>
              <a:rPr lang="el-GR">
                <a:solidFill>
                  <a:schemeClr val="bg1"/>
                </a:solidFill>
              </a:rPr>
              <a:t> </a:t>
            </a:r>
            <a:r>
              <a:rPr lang="el-GR" err="1">
                <a:solidFill>
                  <a:schemeClr val="bg1"/>
                </a:solidFill>
              </a:rPr>
              <a:t>would</a:t>
            </a:r>
            <a:r>
              <a:rPr lang="el-GR">
                <a:solidFill>
                  <a:schemeClr val="bg1"/>
                </a:solidFill>
              </a:rPr>
              <a:t> </a:t>
            </a:r>
            <a:r>
              <a:rPr lang="el-GR" err="1">
                <a:solidFill>
                  <a:schemeClr val="bg1"/>
                </a:solidFill>
              </a:rPr>
              <a:t>be</a:t>
            </a:r>
            <a:r>
              <a:rPr lang="el-GR">
                <a:solidFill>
                  <a:schemeClr val="bg1"/>
                </a:solidFill>
              </a:rPr>
              <a:t> in </a:t>
            </a:r>
            <a:r>
              <a:rPr lang="el-GR" err="1">
                <a:solidFill>
                  <a:schemeClr val="bg1"/>
                </a:solidFill>
              </a:rPr>
              <a:t>larger</a:t>
            </a:r>
            <a:r>
              <a:rPr lang="el-GR">
                <a:solidFill>
                  <a:schemeClr val="bg1"/>
                </a:solidFill>
              </a:rPr>
              <a:t> </a:t>
            </a:r>
            <a:r>
              <a:rPr lang="el-GR" err="1">
                <a:solidFill>
                  <a:schemeClr val="bg1"/>
                </a:solidFill>
              </a:rPr>
              <a:t>models</a:t>
            </a:r>
            <a:r>
              <a:rPr lang="el-GR">
                <a:solidFill>
                  <a:schemeClr val="bg1"/>
                </a:solidFill>
              </a:rPr>
              <a:t>.</a:t>
            </a:r>
          </a:p>
          <a:p>
            <a:pPr>
              <a:buFont typeface="Arial" panose="020B0604020202020204" pitchFamily="34" charset="0"/>
              <a:buChar char="•"/>
            </a:pPr>
            <a:endParaRPr lang="el-GR" sz="1600">
              <a:solidFill>
                <a:schemeClr val="bg1"/>
              </a:solidFill>
            </a:endParaRPr>
          </a:p>
          <a:p>
            <a:r>
              <a:rPr lang="el-GR" sz="2000" b="1">
                <a:solidFill>
                  <a:srgbClr val="C084FC"/>
                </a:solidFill>
              </a:rPr>
              <a:t>Project </a:t>
            </a:r>
            <a:r>
              <a:rPr lang="el-GR" sz="2000" b="1" err="1">
                <a:solidFill>
                  <a:srgbClr val="C084FC"/>
                </a:solidFill>
              </a:rPr>
              <a:t>Management</a:t>
            </a:r>
            <a:r>
              <a:rPr lang="el-GR" sz="2000" b="1">
                <a:solidFill>
                  <a:srgbClr val="C084FC"/>
                </a:solidFill>
              </a:rPr>
              <a:t> &amp; </a:t>
            </a:r>
            <a:r>
              <a:rPr lang="el-GR" sz="2000" b="1" err="1">
                <a:solidFill>
                  <a:srgbClr val="C084FC"/>
                </a:solidFill>
              </a:rPr>
              <a:t>Team</a:t>
            </a:r>
            <a:r>
              <a:rPr lang="el-GR" sz="2000" b="1">
                <a:solidFill>
                  <a:srgbClr val="C084FC"/>
                </a:solidFill>
              </a:rPr>
              <a:t> </a:t>
            </a:r>
            <a:r>
              <a:rPr lang="el-GR" sz="2000" b="1" err="1">
                <a:solidFill>
                  <a:srgbClr val="C084FC"/>
                </a:solidFill>
              </a:rPr>
              <a:t>Collaboration</a:t>
            </a:r>
            <a:endParaRPr lang="el-GR" sz="2000">
              <a:solidFill>
                <a:srgbClr val="C084FC"/>
              </a:solidFill>
            </a:endParaRPr>
          </a:p>
          <a:p>
            <a:endParaRPr lang="el-GR" sz="2000" b="1">
              <a:solidFill>
                <a:srgbClr val="7030A0"/>
              </a:solidFill>
            </a:endParaRPr>
          </a:p>
          <a:p>
            <a:pPr marL="285750" indent="-285750">
              <a:buClr>
                <a:schemeClr val="bg1"/>
              </a:buClr>
              <a:buFont typeface="Arial" panose="020B0604020202020204" pitchFamily="34" charset="0"/>
              <a:buChar char="•"/>
            </a:pPr>
            <a:r>
              <a:rPr lang="el-GR" b="1" err="1">
                <a:solidFill>
                  <a:schemeClr val="bg1"/>
                </a:solidFill>
              </a:rPr>
              <a:t>Timeline</a:t>
            </a:r>
            <a:r>
              <a:rPr lang="el-GR" b="1">
                <a:solidFill>
                  <a:schemeClr val="bg1"/>
                </a:solidFill>
              </a:rPr>
              <a:t> </a:t>
            </a:r>
            <a:r>
              <a:rPr lang="el-GR" b="1" err="1">
                <a:solidFill>
                  <a:schemeClr val="bg1"/>
                </a:solidFill>
              </a:rPr>
              <a:t>Adherence</a:t>
            </a:r>
            <a:r>
              <a:rPr lang="el-GR" b="1">
                <a:solidFill>
                  <a:schemeClr val="bg1"/>
                </a:solidFill>
              </a:rPr>
              <a:t>:</a:t>
            </a:r>
            <a:r>
              <a:rPr lang="el-GR">
                <a:solidFill>
                  <a:schemeClr val="bg1"/>
                </a:solidFill>
              </a:rPr>
              <a:t> The </a:t>
            </a:r>
            <a:r>
              <a:rPr lang="el-GR" err="1">
                <a:solidFill>
                  <a:schemeClr val="bg1"/>
                </a:solidFill>
              </a:rPr>
              <a:t>project</a:t>
            </a:r>
            <a:r>
              <a:rPr lang="el-GR">
                <a:solidFill>
                  <a:schemeClr val="bg1"/>
                </a:solidFill>
              </a:rPr>
              <a:t> </a:t>
            </a:r>
            <a:r>
              <a:rPr lang="el-GR" err="1">
                <a:solidFill>
                  <a:schemeClr val="bg1"/>
                </a:solidFill>
              </a:rPr>
              <a:t>schedule</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largely</a:t>
            </a:r>
            <a:r>
              <a:rPr lang="el-GR">
                <a:solidFill>
                  <a:schemeClr val="bg1"/>
                </a:solidFill>
              </a:rPr>
              <a:t> </a:t>
            </a:r>
            <a:r>
              <a:rPr lang="el-GR" err="1">
                <a:solidFill>
                  <a:schemeClr val="bg1"/>
                </a:solidFill>
              </a:rPr>
              <a:t>adhered</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Minor</a:t>
            </a:r>
            <a:r>
              <a:rPr lang="el-GR">
                <a:solidFill>
                  <a:schemeClr val="bg1"/>
                </a:solidFill>
              </a:rPr>
              <a:t> </a:t>
            </a:r>
            <a:r>
              <a:rPr lang="el-GR" err="1">
                <a:solidFill>
                  <a:schemeClr val="bg1"/>
                </a:solidFill>
              </a:rPr>
              <a:t>deviations</a:t>
            </a:r>
            <a:r>
              <a:rPr lang="el-GR">
                <a:solidFill>
                  <a:schemeClr val="bg1"/>
                </a:solidFill>
              </a:rPr>
              <a:t> </a:t>
            </a:r>
            <a:r>
              <a:rPr lang="el-GR" err="1">
                <a:solidFill>
                  <a:schemeClr val="bg1"/>
                </a:solidFill>
              </a:rPr>
              <a:t>occurred</a:t>
            </a:r>
            <a:r>
              <a:rPr lang="el-GR">
                <a:solidFill>
                  <a:schemeClr val="bg1"/>
                </a:solidFill>
              </a:rPr>
              <a:t> </a:t>
            </a:r>
            <a:r>
              <a:rPr lang="el-GR" err="1">
                <a:solidFill>
                  <a:schemeClr val="bg1"/>
                </a:solidFill>
              </a:rPr>
              <a:t>due</a:t>
            </a:r>
            <a:r>
              <a:rPr lang="el-GR">
                <a:solidFill>
                  <a:schemeClr val="bg1"/>
                </a:solidFill>
              </a:rPr>
              <a:t> </a:t>
            </a:r>
            <a:r>
              <a:rPr lang="el-GR" err="1">
                <a:solidFill>
                  <a:schemeClr val="bg1"/>
                </a:solidFill>
              </a:rPr>
              <a:t>to</a:t>
            </a:r>
            <a:r>
              <a:rPr lang="el-GR">
                <a:solidFill>
                  <a:schemeClr val="bg1"/>
                </a:solidFill>
              </a:rPr>
              <a:t> the </a:t>
            </a:r>
            <a:r>
              <a:rPr lang="el-GR" err="1">
                <a:solidFill>
                  <a:schemeClr val="bg1"/>
                </a:solidFill>
              </a:rPr>
              <a:t>team</a:t>
            </a:r>
            <a:r>
              <a:rPr lang="el-GR">
                <a:solidFill>
                  <a:schemeClr val="bg1"/>
                </a:solidFill>
              </a:rPr>
              <a:t> </a:t>
            </a:r>
            <a:r>
              <a:rPr lang="el-GR" err="1">
                <a:solidFill>
                  <a:schemeClr val="bg1"/>
                </a:solidFill>
              </a:rPr>
              <a:t>members</a:t>
            </a:r>
            <a:r>
              <a:rPr lang="el-GR">
                <a:solidFill>
                  <a:schemeClr val="bg1"/>
                </a:solidFill>
              </a:rPr>
              <a:t>' </a:t>
            </a:r>
            <a:r>
              <a:rPr lang="el-GR" err="1">
                <a:solidFill>
                  <a:schemeClr val="bg1"/>
                </a:solidFill>
              </a:rPr>
              <a:t>external</a:t>
            </a:r>
            <a:r>
              <a:rPr lang="el-GR">
                <a:solidFill>
                  <a:schemeClr val="bg1"/>
                </a:solidFill>
              </a:rPr>
              <a:t> </a:t>
            </a:r>
            <a:r>
              <a:rPr lang="el-GR" err="1">
                <a:solidFill>
                  <a:schemeClr val="bg1"/>
                </a:solidFill>
              </a:rPr>
              <a:t>obligations</a:t>
            </a:r>
            <a:r>
              <a:rPr lang="el-GR">
                <a:solidFill>
                  <a:schemeClr val="bg1"/>
                </a:solidFill>
              </a:rPr>
              <a:t> and </a:t>
            </a:r>
            <a:r>
              <a:rPr lang="el-GR" err="1">
                <a:solidFill>
                  <a:schemeClr val="bg1"/>
                </a:solidFill>
              </a:rPr>
              <a:t>unforeseen</a:t>
            </a:r>
            <a:r>
              <a:rPr lang="el-GR">
                <a:solidFill>
                  <a:schemeClr val="bg1"/>
                </a:solidFill>
              </a:rPr>
              <a:t> </a:t>
            </a:r>
            <a:r>
              <a:rPr lang="el-GR" err="1">
                <a:solidFill>
                  <a:schemeClr val="bg1"/>
                </a:solidFill>
              </a:rPr>
              <a:t>technical</a:t>
            </a:r>
            <a:r>
              <a:rPr lang="el-GR">
                <a:solidFill>
                  <a:schemeClr val="bg1"/>
                </a:solidFill>
              </a:rPr>
              <a:t> </a:t>
            </a:r>
            <a:r>
              <a:rPr lang="el-GR" err="1">
                <a:solidFill>
                  <a:schemeClr val="bg1"/>
                </a:solidFill>
              </a:rPr>
              <a:t>challenges</a:t>
            </a:r>
            <a:r>
              <a:rPr lang="el-GR">
                <a:solidFill>
                  <a:schemeClr val="bg1"/>
                </a:solidFill>
              </a:rPr>
              <a:t> </a:t>
            </a:r>
            <a:r>
              <a:rPr lang="el-GR" err="1">
                <a:solidFill>
                  <a:schemeClr val="bg1"/>
                </a:solidFill>
              </a:rPr>
              <a:t>that</a:t>
            </a:r>
            <a:r>
              <a:rPr lang="el-GR">
                <a:solidFill>
                  <a:schemeClr val="bg1"/>
                </a:solidFill>
              </a:rPr>
              <a:t> </a:t>
            </a:r>
            <a:r>
              <a:rPr lang="el-GR" err="1">
                <a:solidFill>
                  <a:schemeClr val="bg1"/>
                </a:solidFill>
              </a:rPr>
              <a:t>arose</a:t>
            </a:r>
            <a:r>
              <a:rPr lang="el-GR">
                <a:solidFill>
                  <a:schemeClr val="bg1"/>
                </a:solidFill>
              </a:rPr>
              <a:t> </a:t>
            </a:r>
            <a:r>
              <a:rPr lang="el-GR" err="1">
                <a:solidFill>
                  <a:schemeClr val="bg1"/>
                </a:solidFill>
              </a:rPr>
              <a:t>during</a:t>
            </a:r>
            <a:r>
              <a:rPr lang="el-GR">
                <a:solidFill>
                  <a:schemeClr val="bg1"/>
                </a:solidFill>
              </a:rPr>
              <a:t> the </a:t>
            </a:r>
            <a:r>
              <a:rPr lang="el-GR" err="1">
                <a:solidFill>
                  <a:schemeClr val="bg1"/>
                </a:solidFill>
              </a:rPr>
              <a:t>implementation</a:t>
            </a:r>
            <a:r>
              <a:rPr lang="el-GR">
                <a:solidFill>
                  <a:schemeClr val="bg1"/>
                </a:solidFill>
              </a:rPr>
              <a:t> </a:t>
            </a:r>
            <a:r>
              <a:rPr lang="el-GR" err="1">
                <a:solidFill>
                  <a:schemeClr val="bg1"/>
                </a:solidFill>
              </a:rPr>
              <a:t>phase</a:t>
            </a:r>
            <a:r>
              <a:rPr lang="el-GR">
                <a:solidFill>
                  <a:schemeClr val="bg1"/>
                </a:solidFill>
              </a:rPr>
              <a:t>.</a:t>
            </a:r>
          </a:p>
          <a:p>
            <a:pPr marL="285750" indent="-285750">
              <a:buClr>
                <a:schemeClr val="bg1"/>
              </a:buClr>
              <a:buFont typeface="Arial" panose="020B0604020202020204" pitchFamily="34" charset="0"/>
              <a:buChar char="•"/>
            </a:pPr>
            <a:endParaRPr lang="el-GR">
              <a:solidFill>
                <a:schemeClr val="bg1"/>
              </a:solidFill>
            </a:endParaRPr>
          </a:p>
          <a:p>
            <a:pPr marL="285750" indent="-285750">
              <a:buClr>
                <a:schemeClr val="bg1"/>
              </a:buClr>
              <a:buFont typeface="Arial" panose="020B0604020202020204" pitchFamily="34" charset="0"/>
              <a:buChar char="•"/>
            </a:pPr>
            <a:r>
              <a:rPr lang="el-GR" b="1">
                <a:solidFill>
                  <a:schemeClr val="bg1"/>
                </a:solidFill>
              </a:rPr>
              <a:t>Communication </a:t>
            </a:r>
            <a:r>
              <a:rPr lang="el-GR" b="1" err="1">
                <a:solidFill>
                  <a:schemeClr val="bg1"/>
                </a:solidFill>
              </a:rPr>
              <a:t>Strategy</a:t>
            </a:r>
            <a:r>
              <a:rPr lang="el-GR" b="1">
                <a:solidFill>
                  <a:schemeClr val="bg1"/>
                </a:solidFill>
              </a:rPr>
              <a:t>:</a:t>
            </a:r>
            <a:r>
              <a:rPr lang="el-GR">
                <a:solidFill>
                  <a:schemeClr val="bg1"/>
                </a:solidFill>
              </a:rPr>
              <a:t> </a:t>
            </a:r>
            <a:r>
              <a:rPr lang="el-GR" err="1">
                <a:solidFill>
                  <a:schemeClr val="bg1"/>
                </a:solidFill>
              </a:rPr>
              <a:t>Team</a:t>
            </a:r>
            <a:r>
              <a:rPr lang="el-GR">
                <a:solidFill>
                  <a:schemeClr val="bg1"/>
                </a:solidFill>
              </a:rPr>
              <a:t> </a:t>
            </a:r>
            <a:r>
              <a:rPr lang="el-GR" err="1">
                <a:solidFill>
                  <a:schemeClr val="bg1"/>
                </a:solidFill>
              </a:rPr>
              <a:t>communication</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smooth</a:t>
            </a:r>
            <a:r>
              <a:rPr lang="el-GR">
                <a:solidFill>
                  <a:schemeClr val="bg1"/>
                </a:solidFill>
              </a:rPr>
              <a:t> and </a:t>
            </a:r>
            <a:r>
              <a:rPr lang="el-GR" err="1">
                <a:solidFill>
                  <a:schemeClr val="bg1"/>
                </a:solidFill>
              </a:rPr>
              <a:t>highly</a:t>
            </a:r>
            <a:r>
              <a:rPr lang="el-GR">
                <a:solidFill>
                  <a:schemeClr val="bg1"/>
                </a:solidFill>
              </a:rPr>
              <a:t> </a:t>
            </a:r>
            <a:r>
              <a:rPr lang="el-GR" err="1">
                <a:solidFill>
                  <a:schemeClr val="bg1"/>
                </a:solidFill>
              </a:rPr>
              <a:t>organized</a:t>
            </a:r>
            <a:r>
              <a:rPr lang="el-GR">
                <a:solidFill>
                  <a:schemeClr val="bg1"/>
                </a:solidFill>
              </a:rPr>
              <a:t>, </a:t>
            </a:r>
            <a:r>
              <a:rPr lang="el-GR" err="1">
                <a:solidFill>
                  <a:schemeClr val="bg1"/>
                </a:solidFill>
              </a:rPr>
              <a:t>facilitated</a:t>
            </a:r>
            <a:r>
              <a:rPr lang="el-GR">
                <a:solidFill>
                  <a:schemeClr val="bg1"/>
                </a:solidFill>
              </a:rPr>
              <a:t> </a:t>
            </a:r>
            <a:r>
              <a:rPr lang="el-GR" err="1">
                <a:solidFill>
                  <a:schemeClr val="bg1"/>
                </a:solidFill>
              </a:rPr>
              <a:t>by</a:t>
            </a:r>
            <a:r>
              <a:rPr lang="el-GR">
                <a:solidFill>
                  <a:schemeClr val="bg1"/>
                </a:solidFill>
              </a:rPr>
              <a:t> a </a:t>
            </a:r>
            <a:r>
              <a:rPr lang="el-GR" err="1">
                <a:solidFill>
                  <a:schemeClr val="bg1"/>
                </a:solidFill>
              </a:rPr>
              <a:t>dedicated</a:t>
            </a:r>
            <a:r>
              <a:rPr lang="el-GR">
                <a:solidFill>
                  <a:schemeClr val="bg1"/>
                </a:solidFill>
              </a:rPr>
              <a:t> </a:t>
            </a:r>
            <a:r>
              <a:rPr lang="el-GR" err="1">
                <a:solidFill>
                  <a:schemeClr val="bg1"/>
                </a:solidFill>
              </a:rPr>
              <a:t>GitHub</a:t>
            </a:r>
            <a:r>
              <a:rPr lang="el-GR">
                <a:solidFill>
                  <a:schemeClr val="bg1"/>
                </a:solidFill>
              </a:rPr>
              <a:t> </a:t>
            </a:r>
            <a:r>
              <a:rPr lang="el-GR" err="1">
                <a:solidFill>
                  <a:schemeClr val="bg1"/>
                </a:solidFill>
              </a:rPr>
              <a:t>Repo</a:t>
            </a:r>
            <a:r>
              <a:rPr lang="el-GR">
                <a:solidFill>
                  <a:schemeClr val="bg1"/>
                </a:solidFill>
              </a:rPr>
              <a:t>. </a:t>
            </a:r>
            <a:r>
              <a:rPr lang="el-GR" err="1">
                <a:solidFill>
                  <a:schemeClr val="bg1"/>
                </a:solidFill>
              </a:rPr>
              <a:t>We</a:t>
            </a:r>
            <a:r>
              <a:rPr lang="el-GR">
                <a:solidFill>
                  <a:schemeClr val="bg1"/>
                </a:solidFill>
              </a:rPr>
              <a:t> </a:t>
            </a:r>
            <a:r>
              <a:rPr lang="el-GR" err="1">
                <a:solidFill>
                  <a:schemeClr val="bg1"/>
                </a:solidFill>
              </a:rPr>
              <a:t>established</a:t>
            </a:r>
            <a:r>
              <a:rPr lang="el-GR">
                <a:solidFill>
                  <a:schemeClr val="bg1"/>
                </a:solidFill>
              </a:rPr>
              <a:t> </a:t>
            </a:r>
            <a:r>
              <a:rPr lang="el-GR" err="1">
                <a:solidFill>
                  <a:schemeClr val="bg1"/>
                </a:solidFill>
              </a:rPr>
              <a:t>specialized</a:t>
            </a:r>
            <a:r>
              <a:rPr lang="el-GR">
                <a:solidFill>
                  <a:schemeClr val="bg1"/>
                </a:solidFill>
              </a:rPr>
              <a:t> </a:t>
            </a:r>
            <a:r>
              <a:rPr lang="el-GR" err="1">
                <a:solidFill>
                  <a:schemeClr val="bg1"/>
                </a:solidFill>
              </a:rPr>
              <a:t>channels</a:t>
            </a:r>
            <a:r>
              <a:rPr lang="el-GR">
                <a:solidFill>
                  <a:schemeClr val="bg1"/>
                </a:solidFill>
              </a:rPr>
              <a:t> </a:t>
            </a:r>
            <a:r>
              <a:rPr lang="el-GR" err="1">
                <a:solidFill>
                  <a:schemeClr val="bg1"/>
                </a:solidFill>
              </a:rPr>
              <a:t>to</a:t>
            </a:r>
            <a:r>
              <a:rPr lang="el-GR">
                <a:solidFill>
                  <a:schemeClr val="bg1"/>
                </a:solidFill>
              </a:rPr>
              <a:t> </a:t>
            </a:r>
            <a:r>
              <a:rPr lang="el-GR" err="1">
                <a:solidFill>
                  <a:schemeClr val="bg1"/>
                </a:solidFill>
              </a:rPr>
              <a:t>systematically</a:t>
            </a:r>
            <a:r>
              <a:rPr lang="el-GR">
                <a:solidFill>
                  <a:schemeClr val="bg1"/>
                </a:solidFill>
              </a:rPr>
              <a:t> </a:t>
            </a:r>
            <a:r>
              <a:rPr lang="el-GR" err="1">
                <a:solidFill>
                  <a:schemeClr val="bg1"/>
                </a:solidFill>
              </a:rPr>
              <a:t>track</a:t>
            </a:r>
            <a:r>
              <a:rPr lang="el-GR">
                <a:solidFill>
                  <a:schemeClr val="bg1"/>
                </a:solidFill>
              </a:rPr>
              <a:t> </a:t>
            </a:r>
            <a:r>
              <a:rPr lang="el-GR" err="1">
                <a:solidFill>
                  <a:schemeClr val="bg1"/>
                </a:solidFill>
              </a:rPr>
              <a:t>project</a:t>
            </a:r>
            <a:r>
              <a:rPr lang="el-GR">
                <a:solidFill>
                  <a:schemeClr val="bg1"/>
                </a:solidFill>
              </a:rPr>
              <a:t> </a:t>
            </a:r>
            <a:r>
              <a:rPr lang="el-GR" err="1">
                <a:solidFill>
                  <a:schemeClr val="bg1"/>
                </a:solidFill>
              </a:rPr>
              <a:t>progress</a:t>
            </a:r>
            <a:r>
              <a:rPr lang="el-GR">
                <a:solidFill>
                  <a:schemeClr val="bg1"/>
                </a:solidFill>
              </a:rPr>
              <a:t> and </a:t>
            </a:r>
            <a:r>
              <a:rPr lang="el-GR" err="1">
                <a:solidFill>
                  <a:schemeClr val="bg1"/>
                </a:solidFill>
              </a:rPr>
              <a:t>document</a:t>
            </a:r>
            <a:r>
              <a:rPr lang="el-GR">
                <a:solidFill>
                  <a:schemeClr val="bg1"/>
                </a:solidFill>
              </a:rPr>
              <a:t> </a:t>
            </a:r>
            <a:r>
              <a:rPr lang="el-GR" err="1">
                <a:solidFill>
                  <a:schemeClr val="bg1"/>
                </a:solidFill>
              </a:rPr>
              <a:t>emerging</a:t>
            </a:r>
            <a:r>
              <a:rPr lang="el-GR">
                <a:solidFill>
                  <a:schemeClr val="bg1"/>
                </a:solidFill>
              </a:rPr>
              <a:t> </a:t>
            </a:r>
            <a:r>
              <a:rPr lang="el-GR" err="1">
                <a:solidFill>
                  <a:schemeClr val="bg1"/>
                </a:solidFill>
              </a:rPr>
              <a:t>technical</a:t>
            </a:r>
            <a:r>
              <a:rPr lang="el-GR">
                <a:solidFill>
                  <a:schemeClr val="bg1"/>
                </a:solidFill>
              </a:rPr>
              <a:t> </a:t>
            </a:r>
            <a:r>
              <a:rPr lang="el-GR" err="1">
                <a:solidFill>
                  <a:schemeClr val="bg1"/>
                </a:solidFill>
              </a:rPr>
              <a:t>issues</a:t>
            </a:r>
            <a:r>
              <a:rPr lang="el-GR">
                <a:solidFill>
                  <a:schemeClr val="bg1"/>
                </a:solidFill>
              </a:rPr>
              <a:t>.</a:t>
            </a:r>
          </a:p>
          <a:p>
            <a:pPr marL="285750" indent="-285750">
              <a:buClr>
                <a:schemeClr val="bg1"/>
              </a:buClr>
              <a:buFont typeface="Arial" panose="020B0604020202020204" pitchFamily="34" charset="0"/>
              <a:buChar char="•"/>
            </a:pPr>
            <a:endParaRPr lang="el-GR" b="1">
              <a:solidFill>
                <a:schemeClr val="bg1"/>
              </a:solidFill>
            </a:endParaRPr>
          </a:p>
          <a:p>
            <a:pPr marL="285750" indent="-285750">
              <a:buClr>
                <a:schemeClr val="bg1"/>
              </a:buClr>
              <a:buFont typeface="Arial" panose="020B0604020202020204" pitchFamily="34" charset="0"/>
              <a:buChar char="•"/>
            </a:pPr>
            <a:r>
              <a:rPr lang="el-GR" b="1" err="1">
                <a:solidFill>
                  <a:schemeClr val="bg1"/>
                </a:solidFill>
              </a:rPr>
              <a:t>Workflow</a:t>
            </a:r>
            <a:r>
              <a:rPr lang="el-GR" b="1">
                <a:solidFill>
                  <a:schemeClr val="bg1"/>
                </a:solidFill>
              </a:rPr>
              <a:t> &amp; </a:t>
            </a:r>
            <a:r>
              <a:rPr lang="el-GR" b="1" err="1">
                <a:solidFill>
                  <a:schemeClr val="bg1"/>
                </a:solidFill>
              </a:rPr>
              <a:t>Syncing</a:t>
            </a:r>
            <a:r>
              <a:rPr lang="el-GR" b="1">
                <a:solidFill>
                  <a:schemeClr val="bg1"/>
                </a:solidFill>
              </a:rPr>
              <a:t>:</a:t>
            </a:r>
            <a:r>
              <a:rPr lang="el-GR">
                <a:solidFill>
                  <a:schemeClr val="bg1"/>
                </a:solidFill>
              </a:rPr>
              <a:t> The </a:t>
            </a:r>
            <a:r>
              <a:rPr lang="el-GR" err="1">
                <a:solidFill>
                  <a:schemeClr val="bg1"/>
                </a:solidFill>
              </a:rPr>
              <a:t>team</a:t>
            </a:r>
            <a:r>
              <a:rPr lang="el-GR">
                <a:solidFill>
                  <a:schemeClr val="bg1"/>
                </a:solidFill>
              </a:rPr>
              <a:t> </a:t>
            </a:r>
            <a:r>
              <a:rPr lang="el-GR" err="1">
                <a:solidFill>
                  <a:schemeClr val="bg1"/>
                </a:solidFill>
              </a:rPr>
              <a:t>maintained</a:t>
            </a:r>
            <a:r>
              <a:rPr lang="el-GR">
                <a:solidFill>
                  <a:schemeClr val="bg1"/>
                </a:solidFill>
              </a:rPr>
              <a:t> </a:t>
            </a:r>
            <a:r>
              <a:rPr lang="el-GR" err="1">
                <a:solidFill>
                  <a:schemeClr val="bg1"/>
                </a:solidFill>
              </a:rPr>
              <a:t>daily</a:t>
            </a:r>
            <a:r>
              <a:rPr lang="el-GR">
                <a:solidFill>
                  <a:schemeClr val="bg1"/>
                </a:solidFill>
              </a:rPr>
              <a:t> </a:t>
            </a:r>
            <a:r>
              <a:rPr lang="el-GR" err="1">
                <a:solidFill>
                  <a:schemeClr val="bg1"/>
                </a:solidFill>
              </a:rPr>
              <a:t>progress</a:t>
            </a:r>
            <a:r>
              <a:rPr lang="el-GR">
                <a:solidFill>
                  <a:schemeClr val="bg1"/>
                </a:solidFill>
              </a:rPr>
              <a:t> </a:t>
            </a:r>
            <a:r>
              <a:rPr lang="el-GR" err="1">
                <a:solidFill>
                  <a:schemeClr val="bg1"/>
                </a:solidFill>
              </a:rPr>
              <a:t>updates</a:t>
            </a:r>
            <a:r>
              <a:rPr lang="el-GR">
                <a:solidFill>
                  <a:schemeClr val="bg1"/>
                </a:solidFill>
              </a:rPr>
              <a:t> </a:t>
            </a:r>
            <a:r>
              <a:rPr lang="el-GR" err="1">
                <a:solidFill>
                  <a:schemeClr val="bg1"/>
                </a:solidFill>
              </a:rPr>
              <a:t>regarding</a:t>
            </a:r>
            <a:r>
              <a:rPr lang="el-GR">
                <a:solidFill>
                  <a:schemeClr val="bg1"/>
                </a:solidFill>
              </a:rPr>
              <a:t> </a:t>
            </a:r>
            <a:r>
              <a:rPr lang="el-GR" err="1">
                <a:solidFill>
                  <a:schemeClr val="bg1"/>
                </a:solidFill>
              </a:rPr>
              <a:t>ongoing</a:t>
            </a:r>
            <a:r>
              <a:rPr lang="el-GR">
                <a:solidFill>
                  <a:schemeClr val="bg1"/>
                </a:solidFill>
              </a:rPr>
              <a:t> </a:t>
            </a:r>
            <a:r>
              <a:rPr lang="el-GR" err="1">
                <a:solidFill>
                  <a:schemeClr val="bg1"/>
                </a:solidFill>
              </a:rPr>
              <a:t>experiments</a:t>
            </a:r>
            <a:r>
              <a:rPr lang="el-GR">
                <a:solidFill>
                  <a:schemeClr val="bg1"/>
                </a:solidFill>
              </a:rPr>
              <a:t> and </a:t>
            </a:r>
            <a:r>
              <a:rPr lang="el-GR" err="1">
                <a:solidFill>
                  <a:schemeClr val="bg1"/>
                </a:solidFill>
              </a:rPr>
              <a:t>assigned</a:t>
            </a:r>
            <a:r>
              <a:rPr lang="el-GR">
                <a:solidFill>
                  <a:schemeClr val="bg1"/>
                </a:solidFill>
              </a:rPr>
              <a:t> </a:t>
            </a:r>
            <a:r>
              <a:rPr lang="el-GR" err="1">
                <a:solidFill>
                  <a:schemeClr val="bg1"/>
                </a:solidFill>
              </a:rPr>
              <a:t>tasks</a:t>
            </a:r>
            <a:r>
              <a:rPr lang="el-GR">
                <a:solidFill>
                  <a:schemeClr val="bg1"/>
                </a:solidFill>
              </a:rPr>
              <a:t>. </a:t>
            </a:r>
            <a:r>
              <a:rPr lang="el-GR" err="1">
                <a:solidFill>
                  <a:schemeClr val="bg1"/>
                </a:solidFill>
              </a:rPr>
              <a:t>This</a:t>
            </a:r>
            <a:r>
              <a:rPr lang="el-GR">
                <a:solidFill>
                  <a:schemeClr val="bg1"/>
                </a:solidFill>
              </a:rPr>
              <a:t> </a:t>
            </a:r>
            <a:r>
              <a:rPr lang="el-GR" err="1">
                <a:solidFill>
                  <a:schemeClr val="bg1"/>
                </a:solidFill>
              </a:rPr>
              <a:t>was</a:t>
            </a:r>
            <a:r>
              <a:rPr lang="el-GR">
                <a:solidFill>
                  <a:schemeClr val="bg1"/>
                </a:solidFill>
              </a:rPr>
              <a:t> </a:t>
            </a:r>
            <a:r>
              <a:rPr lang="el-GR" err="1">
                <a:solidFill>
                  <a:schemeClr val="bg1"/>
                </a:solidFill>
              </a:rPr>
              <a:t>supplemented</a:t>
            </a:r>
            <a:r>
              <a:rPr lang="el-GR">
                <a:solidFill>
                  <a:schemeClr val="bg1"/>
                </a:solidFill>
              </a:rPr>
              <a:t> </a:t>
            </a:r>
            <a:r>
              <a:rPr lang="el-GR" err="1">
                <a:solidFill>
                  <a:schemeClr val="bg1"/>
                </a:solidFill>
              </a:rPr>
              <a:t>by</a:t>
            </a:r>
            <a:r>
              <a:rPr lang="el-GR">
                <a:solidFill>
                  <a:schemeClr val="bg1"/>
                </a:solidFill>
              </a:rPr>
              <a:t> </a:t>
            </a:r>
            <a:r>
              <a:rPr lang="el-GR" err="1">
                <a:solidFill>
                  <a:schemeClr val="bg1"/>
                </a:solidFill>
              </a:rPr>
              <a:t>synchronous</a:t>
            </a:r>
            <a:r>
              <a:rPr lang="el-GR">
                <a:solidFill>
                  <a:schemeClr val="bg1"/>
                </a:solidFill>
              </a:rPr>
              <a:t> </a:t>
            </a:r>
            <a:r>
              <a:rPr lang="el-GR" err="1">
                <a:solidFill>
                  <a:schemeClr val="bg1"/>
                </a:solidFill>
              </a:rPr>
              <a:t>team</a:t>
            </a:r>
            <a:r>
              <a:rPr lang="el-GR">
                <a:solidFill>
                  <a:schemeClr val="bg1"/>
                </a:solidFill>
              </a:rPr>
              <a:t> </a:t>
            </a:r>
            <a:r>
              <a:rPr lang="el-GR" err="1">
                <a:solidFill>
                  <a:schemeClr val="bg1"/>
                </a:solidFill>
              </a:rPr>
              <a:t>meetings</a:t>
            </a:r>
            <a:r>
              <a:rPr lang="el-GR">
                <a:solidFill>
                  <a:schemeClr val="bg1"/>
                </a:solidFill>
              </a:rPr>
              <a:t> (</a:t>
            </a:r>
            <a:r>
              <a:rPr lang="el-GR" err="1">
                <a:solidFill>
                  <a:schemeClr val="bg1"/>
                </a:solidFill>
              </a:rPr>
              <a:t>group</a:t>
            </a:r>
            <a:r>
              <a:rPr lang="el-GR">
                <a:solidFill>
                  <a:schemeClr val="bg1"/>
                </a:solidFill>
              </a:rPr>
              <a:t> </a:t>
            </a:r>
            <a:r>
              <a:rPr lang="el-GR" err="1">
                <a:solidFill>
                  <a:schemeClr val="bg1"/>
                </a:solidFill>
              </a:rPr>
              <a:t>calls</a:t>
            </a:r>
            <a:r>
              <a:rPr lang="el-GR">
                <a:solidFill>
                  <a:schemeClr val="bg1"/>
                </a:solidFill>
              </a:rPr>
              <a:t>) </a:t>
            </a:r>
            <a:r>
              <a:rPr lang="el-GR" err="1">
                <a:solidFill>
                  <a:schemeClr val="bg1"/>
                </a:solidFill>
              </a:rPr>
              <a:t>conducted</a:t>
            </a:r>
            <a:r>
              <a:rPr lang="el-GR">
                <a:solidFill>
                  <a:schemeClr val="bg1"/>
                </a:solidFill>
              </a:rPr>
              <a:t> </a:t>
            </a:r>
            <a:r>
              <a:rPr lang="el-GR" err="1">
                <a:solidFill>
                  <a:schemeClr val="bg1"/>
                </a:solidFill>
              </a:rPr>
              <a:t>at</a:t>
            </a:r>
            <a:r>
              <a:rPr lang="el-GR">
                <a:solidFill>
                  <a:schemeClr val="bg1"/>
                </a:solidFill>
              </a:rPr>
              <a:t> </a:t>
            </a:r>
            <a:r>
              <a:rPr lang="el-GR" err="1">
                <a:solidFill>
                  <a:schemeClr val="bg1"/>
                </a:solidFill>
              </a:rPr>
              <a:t>least</a:t>
            </a:r>
            <a:r>
              <a:rPr lang="el-GR">
                <a:solidFill>
                  <a:schemeClr val="bg1"/>
                </a:solidFill>
              </a:rPr>
              <a:t> </a:t>
            </a:r>
            <a:r>
              <a:rPr lang="el-GR" err="1">
                <a:solidFill>
                  <a:schemeClr val="bg1"/>
                </a:solidFill>
              </a:rPr>
              <a:t>twice</a:t>
            </a:r>
            <a:r>
              <a:rPr lang="el-GR">
                <a:solidFill>
                  <a:schemeClr val="bg1"/>
                </a:solidFill>
              </a:rPr>
              <a:t> a </a:t>
            </a:r>
            <a:r>
              <a:rPr lang="el-GR" err="1">
                <a:solidFill>
                  <a:schemeClr val="bg1"/>
                </a:solidFill>
              </a:rPr>
              <a:t>week</a:t>
            </a:r>
            <a:r>
              <a:rPr lang="el-GR">
                <a:solidFill>
                  <a:schemeClr val="bg1"/>
                </a:solidFill>
              </a:rPr>
              <a:t>.</a:t>
            </a:r>
          </a:p>
          <a:p>
            <a:pPr marL="285750" indent="-285750">
              <a:buFont typeface="Arial" panose="020B0604020202020204" pitchFamily="34" charset="0"/>
              <a:buChar char="•"/>
            </a:pPr>
            <a:endParaRPr lang="el-GR" sz="1600" b="1">
              <a:solidFill>
                <a:schemeClr val="bg1"/>
              </a:solidFill>
            </a:endParaRPr>
          </a:p>
          <a:p>
            <a:endParaRPr lang="el-GR" sz="1600">
              <a:solidFill>
                <a:schemeClr val="bg1"/>
              </a:solidFill>
            </a:endParaRPr>
          </a:p>
          <a:p>
            <a:pPr marL="457200" indent="-457200">
              <a:buFont typeface="Arial" panose="020B0604020202020204" pitchFamily="34" charset="0"/>
              <a:buChar char="•"/>
            </a:pPr>
            <a:endParaRPr lang="el-GR" sz="1600"/>
          </a:p>
          <a:p>
            <a:pPr>
              <a:buFont typeface="Arial" panose="020B0604020202020204" pitchFamily="34" charset="0"/>
              <a:buChar char="•"/>
            </a:pPr>
            <a:endParaRPr lang="el-GR" sz="1600">
              <a:solidFill>
                <a:schemeClr val="bg1"/>
              </a:solidFill>
            </a:endParaRPr>
          </a:p>
          <a:p>
            <a:pPr>
              <a:buFont typeface="Arial" panose="020B0604020202020204" pitchFamily="34" charset="0"/>
              <a:buChar char="•"/>
            </a:pPr>
            <a:endParaRPr lang="el-GR" sz="1600"/>
          </a:p>
        </p:txBody>
      </p:sp>
      <p:sp>
        <p:nvSpPr>
          <p:cNvPr id="7" name="Google Shape;254;p21">
            <a:extLst>
              <a:ext uri="{FF2B5EF4-FFF2-40B4-BE49-F238E27FC236}">
                <a16:creationId xmlns:a16="http://schemas.microsoft.com/office/drawing/2014/main" id="{A558CA26-238A-F67B-0645-D90CE1134033}"/>
              </a:ext>
            </a:extLst>
          </p:cNvPr>
          <p:cNvSpPr txBox="1"/>
          <p:nvPr/>
        </p:nvSpPr>
        <p:spPr>
          <a:xfrm>
            <a:off x="412295" y="223157"/>
            <a:ext cx="11601450" cy="461665"/>
          </a:xfrm>
          <a:prstGeom prst="rect">
            <a:avLst/>
          </a:prstGeom>
          <a:noFill/>
          <a:ln>
            <a:noFill/>
          </a:ln>
        </p:spPr>
        <p:txBody>
          <a:bodyPr spcFirstLastPara="1" wrap="square" lIns="0" tIns="0" rIns="0" bIns="0" anchor="t" anchorCtr="0">
            <a:spAutoFit/>
          </a:bodyPr>
          <a:lstStyle/>
          <a:p>
            <a:pPr lvl="0"/>
            <a:r>
              <a:rPr lang="el-GR" sz="3000" err="1">
                <a:solidFill>
                  <a:schemeClr val="bg1"/>
                </a:solidFill>
                <a:cs typeface="Poppins SemiBold"/>
              </a:rPr>
              <a:t>Evaluation</a:t>
            </a:r>
            <a:endParaRPr lang="el-GR">
              <a:solidFill>
                <a:schemeClr val="bg1"/>
              </a:solidFill>
            </a:endParaRPr>
          </a:p>
        </p:txBody>
      </p:sp>
      <p:sp>
        <p:nvSpPr>
          <p:cNvPr id="9" name="Google Shape;255;p21">
            <a:extLst>
              <a:ext uri="{FF2B5EF4-FFF2-40B4-BE49-F238E27FC236}">
                <a16:creationId xmlns:a16="http://schemas.microsoft.com/office/drawing/2014/main" id="{0C9C8245-7BD9-5A24-A9DE-F72AE5F64D6D}"/>
              </a:ext>
            </a:extLst>
          </p:cNvPr>
          <p:cNvSpPr/>
          <p:nvPr/>
        </p:nvSpPr>
        <p:spPr>
          <a:xfrm>
            <a:off x="412295" y="771856"/>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7687812"/>
      </p:ext>
    </p:extLst>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D86E6BF1-6EF9-EF38-C425-6FB753B412C2}"/>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74976C3F-88C1-134B-3246-F65E33BA96B0}"/>
              </a:ext>
            </a:extLst>
          </p:cNvPr>
          <p:cNvSpPr txBox="1"/>
          <p:nvPr/>
        </p:nvSpPr>
        <p:spPr>
          <a:xfrm>
            <a:off x="590550" y="476250"/>
            <a:ext cx="7353300" cy="461665"/>
          </a:xfrm>
          <a:prstGeom prst="rect">
            <a:avLst/>
          </a:prstGeom>
          <a:noFill/>
          <a:ln>
            <a:noFill/>
          </a:ln>
        </p:spPr>
        <p:txBody>
          <a:bodyPr spcFirstLastPara="1" wrap="square" lIns="0" tIns="0" rIns="0" bIns="0" anchor="t" anchorCtr="0">
            <a:spAutoFit/>
          </a:bodyPr>
          <a:lstStyle/>
          <a:p>
            <a:pPr lvl="0"/>
            <a:r>
              <a:rPr lang="en-US" sz="3000">
                <a:solidFill>
                  <a:schemeClr val="bg1"/>
                </a:solidFill>
                <a:latin typeface="Poppins SemiBold" panose="00000700000000000000" pitchFamily="2" charset="0"/>
                <a:cs typeface="Poppins SemiBold" panose="00000700000000000000" pitchFamily="2" charset="0"/>
              </a:rPr>
              <a:t>FUTURE EXTENSIONS</a:t>
            </a:r>
          </a:p>
        </p:txBody>
      </p:sp>
      <p:sp>
        <p:nvSpPr>
          <p:cNvPr id="255" name="Google Shape;255;p21">
            <a:extLst>
              <a:ext uri="{FF2B5EF4-FFF2-40B4-BE49-F238E27FC236}">
                <a16:creationId xmlns:a16="http://schemas.microsoft.com/office/drawing/2014/main" id="{176C0047-D3DE-C8FB-CE0B-BC9B912043FC}"/>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5" name="Google Shape;139;p16">
            <a:extLst>
              <a:ext uri="{FF2B5EF4-FFF2-40B4-BE49-F238E27FC236}">
                <a16:creationId xmlns:a16="http://schemas.microsoft.com/office/drawing/2014/main" id="{71C09550-BA0B-D8CB-930C-415B4614B21E}"/>
              </a:ext>
            </a:extLst>
          </p:cNvPr>
          <p:cNvGrpSpPr/>
          <p:nvPr/>
        </p:nvGrpSpPr>
        <p:grpSpPr>
          <a:xfrm>
            <a:off x="571500" y="1982399"/>
            <a:ext cx="9952798" cy="437794"/>
            <a:chOff x="571500" y="1628775"/>
            <a:chExt cx="5160855" cy="437794"/>
          </a:xfrm>
        </p:grpSpPr>
        <p:sp>
          <p:nvSpPr>
            <p:cNvPr id="16" name="Google Shape;140;p16">
              <a:extLst>
                <a:ext uri="{FF2B5EF4-FFF2-40B4-BE49-F238E27FC236}">
                  <a16:creationId xmlns:a16="http://schemas.microsoft.com/office/drawing/2014/main" id="{1D3AB996-7C1F-EB75-7516-68082C807C11}"/>
                </a:ext>
              </a:extLst>
            </p:cNvPr>
            <p:cNvSpPr txBox="1"/>
            <p:nvPr/>
          </p:nvSpPr>
          <p:spPr>
            <a:xfrm>
              <a:off x="683955" y="1651071"/>
              <a:ext cx="5048400"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a:solidFill>
                    <a:srgbClr val="C084FC"/>
                  </a:solidFill>
                  <a:latin typeface="Lato"/>
                  <a:ea typeface="Lato"/>
                  <a:cs typeface="Lato"/>
                  <a:sym typeface="Lato"/>
                </a:rPr>
                <a:t>Alternative Dataset</a:t>
              </a:r>
              <a:r>
                <a:rPr lang="en-US" sz="1800" b="1" i="0" u="none" strike="noStrike" cap="none">
                  <a:solidFill>
                    <a:srgbClr val="C084FC"/>
                  </a:solidFill>
                  <a:latin typeface="Lato"/>
                  <a:ea typeface="Lato"/>
                  <a:cs typeface="Lato"/>
                  <a:sym typeface="Lato"/>
                </a:rPr>
                <a:t>:</a:t>
              </a:r>
              <a:r>
                <a:rPr lang="en-US" sz="1800" b="0" i="0" u="none" strike="noStrike" cap="none">
                  <a:solidFill>
                    <a:srgbClr val="E2E8F0"/>
                  </a:solidFill>
                  <a:latin typeface="Lato"/>
                  <a:ea typeface="Lato"/>
                  <a:cs typeface="Lato"/>
                  <a:sym typeface="Lato"/>
                </a:rPr>
                <a:t> Explore the RLSP Framework over different domains.</a:t>
              </a:r>
              <a:endParaRPr/>
            </a:p>
          </p:txBody>
        </p:sp>
        <p:sp>
          <p:nvSpPr>
            <p:cNvPr id="17" name="Google Shape;141;p16">
              <a:extLst>
                <a:ext uri="{FF2B5EF4-FFF2-40B4-BE49-F238E27FC236}">
                  <a16:creationId xmlns:a16="http://schemas.microsoft.com/office/drawing/2014/main" id="{52BE0B0C-598A-7293-213E-9A2AF68C776A}"/>
                </a:ext>
              </a:extLst>
            </p:cNvPr>
            <p:cNvSpPr txBox="1"/>
            <p:nvPr/>
          </p:nvSpPr>
          <p:spPr>
            <a:xfrm>
              <a:off x="571500" y="1628775"/>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18" name="Google Shape;142;p16">
            <a:extLst>
              <a:ext uri="{FF2B5EF4-FFF2-40B4-BE49-F238E27FC236}">
                <a16:creationId xmlns:a16="http://schemas.microsoft.com/office/drawing/2014/main" id="{B07F2BD7-A30C-B19F-28C4-53D3BD876D2A}"/>
              </a:ext>
            </a:extLst>
          </p:cNvPr>
          <p:cNvGrpSpPr/>
          <p:nvPr/>
        </p:nvGrpSpPr>
        <p:grpSpPr>
          <a:xfrm>
            <a:off x="571500" y="2847635"/>
            <a:ext cx="9952798" cy="415498"/>
            <a:chOff x="571500" y="2358771"/>
            <a:chExt cx="5160855" cy="415498"/>
          </a:xfrm>
        </p:grpSpPr>
        <p:sp>
          <p:nvSpPr>
            <p:cNvPr id="19" name="Google Shape;143;p16">
              <a:extLst>
                <a:ext uri="{FF2B5EF4-FFF2-40B4-BE49-F238E27FC236}">
                  <a16:creationId xmlns:a16="http://schemas.microsoft.com/office/drawing/2014/main" id="{AAFA7531-615E-F009-6B1F-F1D85F0B8438}"/>
                </a:ext>
              </a:extLst>
            </p:cNvPr>
            <p:cNvSpPr txBox="1"/>
            <p:nvPr/>
          </p:nvSpPr>
          <p:spPr>
            <a:xfrm>
              <a:off x="683955" y="2358771"/>
              <a:ext cx="5048400"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a:solidFill>
                    <a:srgbClr val="FDE047"/>
                  </a:solidFill>
                  <a:latin typeface="Lato"/>
                  <a:ea typeface="Lato"/>
                  <a:cs typeface="Lato"/>
                  <a:sym typeface="Lato"/>
                </a:rPr>
                <a:t>LLM as a Judge</a:t>
              </a:r>
              <a:endParaRPr/>
            </a:p>
          </p:txBody>
        </p:sp>
        <p:sp>
          <p:nvSpPr>
            <p:cNvPr id="20" name="Google Shape;144;p16">
              <a:extLst>
                <a:ext uri="{FF2B5EF4-FFF2-40B4-BE49-F238E27FC236}">
                  <a16:creationId xmlns:a16="http://schemas.microsoft.com/office/drawing/2014/main" id="{32DCE36B-DFD8-FAE4-EBC2-EEA4DC34AC75}"/>
                </a:ext>
              </a:extLst>
            </p:cNvPr>
            <p:cNvSpPr txBox="1"/>
            <p:nvPr/>
          </p:nvSpPr>
          <p:spPr>
            <a:xfrm>
              <a:off x="571500" y="2358771"/>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21" name="Google Shape;145;p16">
            <a:extLst>
              <a:ext uri="{FF2B5EF4-FFF2-40B4-BE49-F238E27FC236}">
                <a16:creationId xmlns:a16="http://schemas.microsoft.com/office/drawing/2014/main" id="{2CF6A2DA-924E-9B6A-087E-19890FF98C43}"/>
              </a:ext>
            </a:extLst>
          </p:cNvPr>
          <p:cNvGrpSpPr/>
          <p:nvPr/>
        </p:nvGrpSpPr>
        <p:grpSpPr>
          <a:xfrm>
            <a:off x="571500" y="3713742"/>
            <a:ext cx="10691291" cy="415498"/>
            <a:chOff x="571500" y="3129809"/>
            <a:chExt cx="5543788" cy="415498"/>
          </a:xfrm>
        </p:grpSpPr>
        <p:sp>
          <p:nvSpPr>
            <p:cNvPr id="22" name="Google Shape;146;p16">
              <a:extLst>
                <a:ext uri="{FF2B5EF4-FFF2-40B4-BE49-F238E27FC236}">
                  <a16:creationId xmlns:a16="http://schemas.microsoft.com/office/drawing/2014/main" id="{7F0A5171-B263-0EF1-81F2-BE296108B3EE}"/>
                </a:ext>
              </a:extLst>
            </p:cNvPr>
            <p:cNvSpPr txBox="1"/>
            <p:nvPr/>
          </p:nvSpPr>
          <p:spPr>
            <a:xfrm>
              <a:off x="677856" y="3129809"/>
              <a:ext cx="5437432" cy="415498"/>
            </a:xfrm>
            <a:prstGeom prst="rect">
              <a:avLst/>
            </a:prstGeom>
            <a:noFill/>
            <a:ln>
              <a:noFill/>
            </a:ln>
          </p:spPr>
          <p:txBody>
            <a:bodyPr spcFirstLastPara="1" wrap="square" lIns="0" tIns="0" rIns="0" bIns="0" anchor="t" anchorCtr="0">
              <a:spAutoFit/>
            </a:bodyPr>
            <a:lstStyle/>
            <a:p>
              <a:pPr>
                <a:lnSpc>
                  <a:spcPct val="150000"/>
                </a:lnSpc>
              </a:pPr>
              <a:r>
                <a:rPr lang="en-US" sz="1800" b="1">
                  <a:solidFill>
                    <a:srgbClr val="C084FC"/>
                  </a:solidFill>
                  <a:latin typeface="Lato"/>
                  <a:ea typeface="Lato"/>
                  <a:cs typeface="Lato"/>
                  <a:sym typeface="Lato"/>
                </a:rPr>
                <a:t>Further Experimentation of Dynamic Hyperparameter </a:t>
              </a:r>
              <a:r>
                <a:rPr lang="el-GR" sz="1800" b="1">
                  <a:solidFill>
                    <a:srgbClr val="C084FC"/>
                  </a:solidFill>
                  <a:latin typeface="Lato"/>
                  <a:ea typeface="Lato"/>
                  <a:cs typeface="Lato"/>
                  <a:sym typeface="Lato"/>
                </a:rPr>
                <a:t>α </a:t>
              </a:r>
              <a:r>
                <a:rPr lang="en-US" sz="1800" b="1">
                  <a:solidFill>
                    <a:srgbClr val="C084FC"/>
                  </a:solidFill>
                  <a:latin typeface="Lato"/>
                  <a:ea typeface="Lato"/>
                  <a:cs typeface="Lato"/>
                  <a:sym typeface="Lato"/>
                </a:rPr>
                <a:t>and Exploration Reward functions</a:t>
              </a:r>
              <a:endParaRPr lang="en-US" sz="1800">
                <a:solidFill>
                  <a:schemeClr val="bg1"/>
                </a:solidFill>
                <a:latin typeface="Lato"/>
                <a:ea typeface="Lato"/>
                <a:cs typeface="Lato"/>
              </a:endParaRPr>
            </a:p>
          </p:txBody>
        </p:sp>
        <p:sp>
          <p:nvSpPr>
            <p:cNvPr id="23" name="Google Shape;147;p16">
              <a:extLst>
                <a:ext uri="{FF2B5EF4-FFF2-40B4-BE49-F238E27FC236}">
                  <a16:creationId xmlns:a16="http://schemas.microsoft.com/office/drawing/2014/main" id="{65C6F595-DE99-F43B-1FE8-F6F68CD18932}"/>
                </a:ext>
              </a:extLst>
            </p:cNvPr>
            <p:cNvSpPr txBox="1"/>
            <p:nvPr/>
          </p:nvSpPr>
          <p:spPr>
            <a:xfrm>
              <a:off x="571500" y="3137151"/>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grpSp>
        <p:nvGrpSpPr>
          <p:cNvPr id="24" name="Google Shape;148;p16">
            <a:extLst>
              <a:ext uri="{FF2B5EF4-FFF2-40B4-BE49-F238E27FC236}">
                <a16:creationId xmlns:a16="http://schemas.microsoft.com/office/drawing/2014/main" id="{67E41578-1546-EFE0-9B67-7ED76A869420}"/>
              </a:ext>
            </a:extLst>
          </p:cNvPr>
          <p:cNvGrpSpPr/>
          <p:nvPr/>
        </p:nvGrpSpPr>
        <p:grpSpPr>
          <a:xfrm>
            <a:off x="561875" y="4594533"/>
            <a:ext cx="10987612" cy="830997"/>
            <a:chOff x="571500" y="4257675"/>
            <a:chExt cx="5581827" cy="830997"/>
          </a:xfrm>
        </p:grpSpPr>
        <p:sp>
          <p:nvSpPr>
            <p:cNvPr id="25" name="Google Shape;149;p16">
              <a:extLst>
                <a:ext uri="{FF2B5EF4-FFF2-40B4-BE49-F238E27FC236}">
                  <a16:creationId xmlns:a16="http://schemas.microsoft.com/office/drawing/2014/main" id="{96265349-E120-00C5-6A16-D0C6B89BB071}"/>
                </a:ext>
              </a:extLst>
            </p:cNvPr>
            <p:cNvSpPr txBox="1"/>
            <p:nvPr/>
          </p:nvSpPr>
          <p:spPr>
            <a:xfrm>
              <a:off x="676200" y="4257675"/>
              <a:ext cx="5477127" cy="830997"/>
            </a:xfrm>
            <a:prstGeom prst="rect">
              <a:avLst/>
            </a:prstGeom>
            <a:noFill/>
            <a:ln>
              <a:noFill/>
            </a:ln>
          </p:spPr>
          <p:txBody>
            <a:bodyPr spcFirstLastPara="1" wrap="square" lIns="0" tIns="0" rIns="0" bIns="0" anchor="t" anchorCtr="0">
              <a:spAutoFit/>
            </a:bodyPr>
            <a:lstStyle/>
            <a:p>
              <a:pPr algn="just">
                <a:lnSpc>
                  <a:spcPct val="150000"/>
                </a:lnSpc>
              </a:pPr>
              <a:r>
                <a:rPr lang="en-US" sz="1800" b="1">
                  <a:solidFill>
                    <a:srgbClr val="FDE047"/>
                  </a:solidFill>
                  <a:latin typeface="Lato"/>
                  <a:ea typeface="Lato"/>
                  <a:cs typeface="Lato"/>
                  <a:sym typeface="Lato"/>
                </a:rPr>
                <a:t>Further Research on Extension of RLSP to the Subsequent levels of abstraction</a:t>
              </a:r>
              <a:r>
                <a:rPr lang="el-GR" sz="1800" b="1">
                  <a:solidFill>
                    <a:srgbClr val="FDE047"/>
                  </a:solidFill>
                  <a:latin typeface="Lato"/>
                  <a:ea typeface="Lato"/>
                  <a:cs typeface="Lato"/>
                  <a:sym typeface="Lato"/>
                </a:rPr>
                <a:t>:</a:t>
              </a:r>
              <a:r>
                <a:rPr lang="en-US" sz="1800">
                  <a:solidFill>
                    <a:srgbClr val="E2E8F0"/>
                  </a:solidFill>
                  <a:latin typeface="Lato"/>
                  <a:ea typeface="Lato"/>
                  <a:cs typeface="Lato"/>
                  <a:sym typeface="Lato"/>
                </a:rPr>
                <a:t> Ability to create abstractions and tools (theorems, new definitions, validation techniques) and solve open-ended problems.</a:t>
              </a:r>
              <a:endParaRPr/>
            </a:p>
          </p:txBody>
        </p:sp>
        <p:sp>
          <p:nvSpPr>
            <p:cNvPr id="26" name="Google Shape;150;p16">
              <a:extLst>
                <a:ext uri="{FF2B5EF4-FFF2-40B4-BE49-F238E27FC236}">
                  <a16:creationId xmlns:a16="http://schemas.microsoft.com/office/drawing/2014/main" id="{D00FD4A7-03FD-C18F-8777-004C04C2FB29}"/>
                </a:ext>
              </a:extLst>
            </p:cNvPr>
            <p:cNvSpPr txBox="1"/>
            <p:nvPr/>
          </p:nvSpPr>
          <p:spPr>
            <a:xfrm>
              <a:off x="571500" y="4257675"/>
              <a:ext cx="1047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FDE047"/>
                  </a:solidFill>
                  <a:latin typeface="Lato"/>
                  <a:ea typeface="Lato"/>
                  <a:cs typeface="Lato"/>
                  <a:sym typeface="Lato"/>
                </a:rPr>
                <a:t>▹</a:t>
              </a:r>
              <a:endParaRPr/>
            </a:p>
          </p:txBody>
        </p:sp>
      </p:grpSp>
    </p:spTree>
    <p:extLst>
      <p:ext uri="{BB962C8B-B14F-4D97-AF65-F5344CB8AC3E}">
        <p14:creationId xmlns:p14="http://schemas.microsoft.com/office/powerpoint/2010/main" val="445582662"/>
      </p:ext>
    </p:extLst>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DC35CB2A-D780-7A85-3EF8-69322DD4CBF4}"/>
            </a:ext>
          </a:extLst>
        </p:cNvPr>
        <p:cNvGrpSpPr/>
        <p:nvPr/>
      </p:nvGrpSpPr>
      <p:grpSpPr>
        <a:xfrm>
          <a:off x="0" y="0"/>
          <a:ext cx="0" cy="0"/>
          <a:chOff x="0" y="0"/>
          <a:chExt cx="0" cy="0"/>
        </a:xfrm>
      </p:grpSpPr>
      <p:sp>
        <p:nvSpPr>
          <p:cNvPr id="254" name="Google Shape;254;p21">
            <a:extLst>
              <a:ext uri="{FF2B5EF4-FFF2-40B4-BE49-F238E27FC236}">
                <a16:creationId xmlns:a16="http://schemas.microsoft.com/office/drawing/2014/main" id="{01EAA895-0C95-9912-748C-7B358D178B17}"/>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FFFFFF"/>
                </a:solidFill>
                <a:latin typeface="Poppins SemiBold"/>
                <a:ea typeface="Poppins SemiBold"/>
                <a:cs typeface="Poppins SemiBold"/>
                <a:sym typeface="Poppins SemiBold"/>
              </a:rPr>
              <a:t>Team Roles &amp; Task Assignment</a:t>
            </a:r>
            <a:endParaRPr/>
          </a:p>
        </p:txBody>
      </p:sp>
      <p:sp>
        <p:nvSpPr>
          <p:cNvPr id="255" name="Google Shape;255;p21">
            <a:extLst>
              <a:ext uri="{FF2B5EF4-FFF2-40B4-BE49-F238E27FC236}">
                <a16:creationId xmlns:a16="http://schemas.microsoft.com/office/drawing/2014/main" id="{F053047B-4403-1873-7FA3-2F8577B31D35}"/>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5" name="Group 14">
            <a:extLst>
              <a:ext uri="{FF2B5EF4-FFF2-40B4-BE49-F238E27FC236}">
                <a16:creationId xmlns:a16="http://schemas.microsoft.com/office/drawing/2014/main" id="{21B1C1A9-3422-CE46-931C-21729E39FE0D}"/>
              </a:ext>
            </a:extLst>
          </p:cNvPr>
          <p:cNvGrpSpPr/>
          <p:nvPr/>
        </p:nvGrpSpPr>
        <p:grpSpPr>
          <a:xfrm>
            <a:off x="581000" y="2174876"/>
            <a:ext cx="11039500" cy="3540125"/>
            <a:chOff x="576250" y="2366964"/>
            <a:chExt cx="11039500" cy="2897308"/>
          </a:xfrm>
        </p:grpSpPr>
        <p:grpSp>
          <p:nvGrpSpPr>
            <p:cNvPr id="14" name="Group 13">
              <a:extLst>
                <a:ext uri="{FF2B5EF4-FFF2-40B4-BE49-F238E27FC236}">
                  <a16:creationId xmlns:a16="http://schemas.microsoft.com/office/drawing/2014/main" id="{17AB1BF5-FD97-1F00-337B-63AE4C4AE128}"/>
                </a:ext>
              </a:extLst>
            </p:cNvPr>
            <p:cNvGrpSpPr/>
            <p:nvPr/>
          </p:nvGrpSpPr>
          <p:grpSpPr>
            <a:xfrm>
              <a:off x="576250" y="2366964"/>
              <a:ext cx="11039500" cy="2897308"/>
              <a:chOff x="576250" y="2366964"/>
              <a:chExt cx="11039500" cy="2897308"/>
            </a:xfrm>
          </p:grpSpPr>
          <p:graphicFrame>
            <p:nvGraphicFramePr>
              <p:cNvPr id="247" name="Google Shape;247;p21">
                <a:extLst>
                  <a:ext uri="{FF2B5EF4-FFF2-40B4-BE49-F238E27FC236}">
                    <a16:creationId xmlns:a16="http://schemas.microsoft.com/office/drawing/2014/main" id="{6B002B38-7366-1642-58D0-1C42912D54E9}"/>
                  </a:ext>
                </a:extLst>
              </p:cNvPr>
              <p:cNvGraphicFramePr/>
              <p:nvPr>
                <p:extLst>
                  <p:ext uri="{D42A27DB-BD31-4B8C-83A1-F6EECF244321}">
                    <p14:modId xmlns:p14="http://schemas.microsoft.com/office/powerpoint/2010/main" val="3480272825"/>
                  </p:ext>
                </p:extLst>
              </p:nvPr>
            </p:nvGraphicFramePr>
            <p:xfrm>
              <a:off x="576250" y="2366964"/>
              <a:ext cx="11039500" cy="2897308"/>
            </p:xfrm>
            <a:graphic>
              <a:graphicData uri="http://schemas.openxmlformats.org/drawingml/2006/table">
                <a:tbl>
                  <a:tblPr firstRow="1" bandRow="1">
                    <a:noFill/>
                    <a:tableStyleId>{9F999E4E-5BA7-4DE1-9601-BB02968FC5E9}</a:tableStyleId>
                  </a:tblPr>
                  <a:tblGrid>
                    <a:gridCol w="2125564">
                      <a:extLst>
                        <a:ext uri="{9D8B030D-6E8A-4147-A177-3AD203B41FA5}">
                          <a16:colId xmlns:a16="http://schemas.microsoft.com/office/drawing/2014/main" val="20000"/>
                        </a:ext>
                      </a:extLst>
                    </a:gridCol>
                    <a:gridCol w="2375397">
                      <a:extLst>
                        <a:ext uri="{9D8B030D-6E8A-4147-A177-3AD203B41FA5}">
                          <a16:colId xmlns:a16="http://schemas.microsoft.com/office/drawing/2014/main" val="20001"/>
                        </a:ext>
                      </a:extLst>
                    </a:gridCol>
                    <a:gridCol w="2179513">
                      <a:extLst>
                        <a:ext uri="{9D8B030D-6E8A-4147-A177-3AD203B41FA5}">
                          <a16:colId xmlns:a16="http://schemas.microsoft.com/office/drawing/2014/main" val="20002"/>
                        </a:ext>
                      </a:extLst>
                    </a:gridCol>
                    <a:gridCol w="2179513">
                      <a:extLst>
                        <a:ext uri="{9D8B030D-6E8A-4147-A177-3AD203B41FA5}">
                          <a16:colId xmlns:a16="http://schemas.microsoft.com/office/drawing/2014/main" val="2838619080"/>
                        </a:ext>
                      </a:extLst>
                    </a:gridCol>
                    <a:gridCol w="2179513">
                      <a:extLst>
                        <a:ext uri="{9D8B030D-6E8A-4147-A177-3AD203B41FA5}">
                          <a16:colId xmlns:a16="http://schemas.microsoft.com/office/drawing/2014/main" val="1227529663"/>
                        </a:ext>
                      </a:extLst>
                    </a:gridCol>
                  </a:tblGrid>
                  <a:tr h="708025">
                    <a:tc>
                      <a:txBody>
                        <a:bodyPr/>
                        <a:lstStyle/>
                        <a:p>
                          <a:pPr marL="0" marR="0" lvl="0" indent="0" algn="l" rtl="0">
                            <a:spcBef>
                              <a:spcPts val="0"/>
                            </a:spcBef>
                            <a:spcAft>
                              <a:spcPts val="0"/>
                            </a:spcAft>
                            <a:buNone/>
                          </a:pPr>
                          <a:endParaRPr>
                            <a:solidFill>
                              <a:srgbClr val="C084FC"/>
                            </a:solidFill>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rPr>
                            <a:t>Verification of Paper's Results</a:t>
                          </a:r>
                          <a:endParaRPr lang="el-GR" sz="1650" b="1" i="0" u="none" strike="noStrike" cap="none">
                            <a:solidFill>
                              <a:srgbClr val="C084FC"/>
                            </a:solidFill>
                            <a:latin typeface="Lato"/>
                            <a:ea typeface="Lato"/>
                            <a:cs typeface="Lato"/>
                            <a:sym typeface="Lato"/>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rPr>
                            <a:t>GRPO Implementation</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rPr>
                            <a:t>Dynamic Tuning of α Hyperparameter</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tc>
                      <a:txBody>
                        <a:bodyPr/>
                        <a:lstStyle/>
                        <a:p>
                          <a:pPr marL="0" marR="0" lvl="0" indent="0" algn="ctr" rtl="0">
                            <a:spcBef>
                              <a:spcPts val="0"/>
                            </a:spcBef>
                            <a:spcAft>
                              <a:spcPts val="0"/>
                            </a:spcAft>
                            <a:buNone/>
                          </a:pPr>
                          <a:r>
                            <a:rPr lang="en-US" sz="1650" b="1" i="0" u="none" strike="noStrike" cap="none">
                              <a:solidFill>
                                <a:srgbClr val="C084FC"/>
                              </a:solidFill>
                              <a:latin typeface="Lato"/>
                              <a:ea typeface="Lato"/>
                              <a:cs typeface="Lato"/>
                            </a:rPr>
                            <a:t>Generalizing the Reward Function</a:t>
                          </a: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2448"/>
                        </a:solidFill>
                      </a:tcPr>
                    </a:tc>
                    <a:extLst>
                      <a:ext uri="{0D108BD9-81ED-4DB2-BD59-A6C34878D82A}">
                        <a16:rowId xmlns:a16="http://schemas.microsoft.com/office/drawing/2014/main" val="10000"/>
                      </a:ext>
                    </a:extLst>
                  </a:tr>
                  <a:tr h="708025">
                    <a:tc>
                      <a:txBody>
                        <a:bodyPr/>
                        <a:lstStyle/>
                        <a:p>
                          <a:pPr marL="0" marR="0" lvl="0" indent="0" algn="ctr">
                            <a:spcBef>
                              <a:spcPts val="0"/>
                            </a:spcBef>
                            <a:spcAft>
                              <a:spcPts val="0"/>
                            </a:spcAft>
                            <a:buNone/>
                          </a:pPr>
                          <a:r>
                            <a:rPr lang="el-GR" sz="1650" b="1" i="0" u="none" strike="noStrike" cap="none" baseline="0" noProof="0">
                              <a:solidFill>
                                <a:srgbClr val="FFFFFF"/>
                              </a:solidFill>
                              <a:latin typeface="Lato"/>
                              <a:ea typeface="Lato"/>
                              <a:cs typeface="Lato"/>
                            </a:rPr>
                            <a:t>Σταύρος Μανιατογιάννης</a:t>
                          </a:r>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Clr>
                              <a:schemeClr val="bg1"/>
                            </a:buClr>
                            <a:buFont typeface="Wingdings" panose="05000000000000000000" pitchFamily="2" charset="2"/>
                            <a:buNone/>
                          </a:pPr>
                          <a:endParaRPr lang="en-US">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0001"/>
                      </a:ext>
                    </a:extLst>
                  </a:tr>
                  <a:tr h="708025">
                    <a:tc>
                      <a:txBody>
                        <a:bodyPr/>
                        <a:lstStyle/>
                        <a:p>
                          <a:pPr marL="0" marR="0" lvl="0" indent="0" algn="ctr">
                            <a:spcBef>
                              <a:spcPts val="0"/>
                            </a:spcBef>
                            <a:spcAft>
                              <a:spcPts val="0"/>
                            </a:spcAft>
                            <a:buNone/>
                          </a:pPr>
                          <a:r>
                            <a:rPr lang="el-GR" sz="1650" b="1" i="0" u="none" strike="noStrike" cap="none" baseline="0" noProof="0">
                              <a:solidFill>
                                <a:srgbClr val="FFFFFF"/>
                              </a:solidFill>
                              <a:latin typeface="Lato"/>
                              <a:ea typeface="Lato"/>
                              <a:cs typeface="Lato"/>
                            </a:rPr>
                            <a:t>Αναστάσιος Γιωτίτσας</a:t>
                          </a:r>
                          <a:endParaRPr lang="en-US"/>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0002"/>
                      </a:ext>
                    </a:extLst>
                  </a:tr>
                  <a:tr h="708025">
                    <a:tc>
                      <a:txBody>
                        <a:bodyPr/>
                        <a:lstStyle/>
                        <a:p>
                          <a:pPr marL="0" marR="0" lvl="0" indent="0" algn="ctr" rtl="0" eaLnBrk="1" fontAlgn="auto" latinLnBrk="0" hangingPunct="1">
                            <a:lnSpc>
                              <a:spcPct val="100000"/>
                            </a:lnSpc>
                            <a:spcBef>
                              <a:spcPts val="0"/>
                            </a:spcBef>
                            <a:spcAft>
                              <a:spcPts val="0"/>
                            </a:spcAft>
                            <a:buClr>
                              <a:srgbClr val="000000"/>
                            </a:buClr>
                            <a:buSzTx/>
                            <a:buFont typeface="Arial"/>
                            <a:buNone/>
                          </a:pPr>
                          <a:r>
                            <a:rPr lang="el-GR" sz="1650" b="1" i="0" u="none" strike="noStrike" kern="0" cap="none" spc="0" normalizeH="0" baseline="0" noProof="0">
                              <a:ln>
                                <a:noFill/>
                              </a:ln>
                              <a:solidFill>
                                <a:srgbClr val="FFFFFF"/>
                              </a:solidFill>
                              <a:effectLst/>
                              <a:uLnTx/>
                              <a:uFillTx/>
                              <a:latin typeface="Lato"/>
                              <a:ea typeface="Lato"/>
                              <a:cs typeface="Lato"/>
                            </a:rPr>
                            <a:t>Ηλίας Στυλιανός Ηλιάδης</a:t>
                          </a:r>
                          <a:endParaRPr kumimoji="0" lang="el-GR" sz="1650" b="1" i="0" u="none" strike="noStrike" kern="0" cap="none" spc="0" normalizeH="0" baseline="0" noProof="0">
                            <a:ln>
                              <a:noFill/>
                            </a:ln>
                            <a:solidFill>
                              <a:srgbClr val="FFFFFF"/>
                            </a:solidFill>
                            <a:effectLst/>
                            <a:uLnTx/>
                            <a:uFillTx/>
                            <a:latin typeface="Lato"/>
                            <a:ea typeface="Lato"/>
                            <a:cs typeface="Lato"/>
                            <a:sym typeface="Arial"/>
                          </a:endParaRP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1158250696"/>
                      </a:ext>
                    </a:extLst>
                  </a:tr>
                  <a:tr h="708025">
                    <a:tc>
                      <a:txBody>
                        <a:bodyPr/>
                        <a:lstStyle/>
                        <a:p>
                          <a:pPr marL="0" lvl="0" indent="0" algn="ctr">
                            <a:lnSpc>
                              <a:spcPct val="100000"/>
                            </a:lnSpc>
                            <a:buNone/>
                          </a:pPr>
                          <a:r>
                            <a:rPr lang="el-GR" sz="1650" b="1" i="0" u="none" strike="noStrike" kern="0" cap="none" spc="0" normalizeH="0" baseline="0" noProof="0">
                              <a:ln>
                                <a:noFill/>
                              </a:ln>
                              <a:solidFill>
                                <a:srgbClr val="FFFFFF"/>
                              </a:solidFill>
                              <a:effectLst/>
                              <a:uLnTx/>
                              <a:uFillTx/>
                              <a:latin typeface="Lato"/>
                              <a:ea typeface="Lato"/>
                              <a:cs typeface="Lato"/>
                            </a:rPr>
                            <a:t>Δημήτριος Λιβανάς</a:t>
                          </a:r>
                          <a:endParaRPr lang="el-GR"/>
                        </a:p>
                      </a:txBody>
                      <a:tcPr marL="63500" marR="63500" marT="25400" marB="2540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tc>
                      <a:txBody>
                        <a:bodyPr/>
                        <a:lstStyle/>
                        <a:p>
                          <a:pPr marL="0" marR="0" lvl="0" indent="0" algn="ctr" rtl="0">
                            <a:spcBef>
                              <a:spcPts val="0"/>
                            </a:spcBef>
                            <a:spcAft>
                              <a:spcPts val="0"/>
                            </a:spcAft>
                            <a:buNone/>
                          </a:pPr>
                          <a:endParaRPr>
                            <a:solidFill>
                              <a:schemeClr val="bg1"/>
                            </a:solidFill>
                          </a:endParaRPr>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11A33"/>
                        </a:solidFill>
                      </a:tcPr>
                    </a:tc>
                    <a:extLst>
                      <a:ext uri="{0D108BD9-81ED-4DB2-BD59-A6C34878D82A}">
                        <a16:rowId xmlns:a16="http://schemas.microsoft.com/office/drawing/2014/main" val="3513277314"/>
                      </a:ext>
                    </a:extLst>
                  </a:tr>
                </a:tbl>
              </a:graphicData>
            </a:graphic>
          </p:graphicFrame>
          <p:sp>
            <p:nvSpPr>
              <p:cNvPr id="3" name="Right Triangle 2">
                <a:extLst>
                  <a:ext uri="{FF2B5EF4-FFF2-40B4-BE49-F238E27FC236}">
                    <a16:creationId xmlns:a16="http://schemas.microsoft.com/office/drawing/2014/main" id="{61B0733B-2111-349B-36D6-152EED3ED2BE}"/>
                  </a:ext>
                </a:extLst>
              </p:cNvPr>
              <p:cNvSpPr/>
              <p:nvPr/>
            </p:nvSpPr>
            <p:spPr>
              <a:xfrm>
                <a:off x="595312" y="2381254"/>
                <a:ext cx="2071688" cy="561272"/>
              </a:xfrm>
              <a:prstGeom prst="rtTriangle">
                <a:avLst/>
              </a:prstGeom>
              <a:solidFill>
                <a:srgbClr val="111A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45576F-8164-795B-65D3-FFD790C136CE}"/>
                  </a:ext>
                </a:extLst>
              </p:cNvPr>
              <p:cNvSpPr txBox="1"/>
              <p:nvPr/>
            </p:nvSpPr>
            <p:spPr>
              <a:xfrm>
                <a:off x="832125" y="2694862"/>
                <a:ext cx="1259388" cy="346249"/>
              </a:xfrm>
              <a:prstGeom prst="rect">
                <a:avLst/>
              </a:prstGeom>
              <a:noFill/>
            </p:spPr>
            <p:txBody>
              <a:bodyPr wrap="square">
                <a:spAutoFit/>
              </a:bodyPr>
              <a:lstStyle/>
              <a:p>
                <a:r>
                  <a:rPr lang="en-US" sz="1650" b="1">
                    <a:solidFill>
                      <a:schemeClr val="bg1"/>
                    </a:solidFill>
                    <a:latin typeface="Lato" panose="020F0502020204030203" pitchFamily="34" charset="0"/>
                    <a:ea typeface="Lato" panose="020F0502020204030203" pitchFamily="34" charset="0"/>
                    <a:cs typeface="Lato" panose="020F0502020204030203" pitchFamily="34" charset="0"/>
                  </a:rPr>
                  <a:t>MEMBERS</a:t>
                </a:r>
              </a:p>
            </p:txBody>
          </p:sp>
        </p:grpSp>
        <p:sp>
          <p:nvSpPr>
            <p:cNvPr id="6" name="TextBox 5">
              <a:extLst>
                <a:ext uri="{FF2B5EF4-FFF2-40B4-BE49-F238E27FC236}">
                  <a16:creationId xmlns:a16="http://schemas.microsoft.com/office/drawing/2014/main" id="{040AC37B-C364-96D8-B4E3-C49F821D781C}"/>
                </a:ext>
              </a:extLst>
            </p:cNvPr>
            <p:cNvSpPr txBox="1"/>
            <p:nvPr/>
          </p:nvSpPr>
          <p:spPr>
            <a:xfrm>
              <a:off x="1722137" y="2474566"/>
              <a:ext cx="832468" cy="346249"/>
            </a:xfrm>
            <a:prstGeom prst="rect">
              <a:avLst/>
            </a:prstGeom>
            <a:noFill/>
          </p:spPr>
          <p:txBody>
            <a:bodyPr wrap="square">
              <a:spAutoFit/>
            </a:bodyPr>
            <a:lstStyle/>
            <a:p>
              <a:r>
                <a:rPr lang="en-US" sz="1650" b="1">
                  <a:solidFill>
                    <a:srgbClr val="C084FC"/>
                  </a:solidFill>
                  <a:latin typeface="Lato" panose="020F0502020204030203" pitchFamily="34" charset="0"/>
                  <a:ea typeface="Lato" panose="020F0502020204030203" pitchFamily="34" charset="0"/>
                  <a:cs typeface="Lato" panose="020F0502020204030203" pitchFamily="34" charset="0"/>
                </a:rPr>
                <a:t>TASKS</a:t>
              </a:r>
              <a:endParaRPr lang="en-US" sz="1650" b="1">
                <a:latin typeface="Lato" panose="020F0502020204030203" pitchFamily="34" charset="0"/>
                <a:ea typeface="Lato" panose="020F0502020204030203" pitchFamily="34" charset="0"/>
                <a:cs typeface="Lato" panose="020F0502020204030203" pitchFamily="34" charset="0"/>
              </a:endParaRPr>
            </a:p>
          </p:txBody>
        </p:sp>
      </p:grpSp>
      <p:pic>
        <p:nvPicPr>
          <p:cNvPr id="16" name="Graphic 15" descr="Checkbox Checked with solid fill">
            <a:extLst>
              <a:ext uri="{FF2B5EF4-FFF2-40B4-BE49-F238E27FC236}">
                <a16:creationId xmlns:a16="http://schemas.microsoft.com/office/drawing/2014/main" id="{F169E448-43A4-15B8-FC72-38206EFC9C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5315" y="4382558"/>
            <a:ext cx="519290" cy="519290"/>
          </a:xfrm>
          <a:prstGeom prst="rect">
            <a:avLst/>
          </a:prstGeom>
        </p:spPr>
      </p:pic>
      <p:pic>
        <p:nvPicPr>
          <p:cNvPr id="18" name="Graphic 17" descr="Checkbox Checked with solid fill">
            <a:extLst>
              <a:ext uri="{FF2B5EF4-FFF2-40B4-BE49-F238E27FC236}">
                <a16:creationId xmlns:a16="http://schemas.microsoft.com/office/drawing/2014/main" id="{D05A9DDA-2AB7-AC71-0CBD-8BC4933C7E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5515" y="2974976"/>
            <a:ext cx="519290" cy="519290"/>
          </a:xfrm>
          <a:prstGeom prst="rect">
            <a:avLst/>
          </a:prstGeom>
        </p:spPr>
      </p:pic>
      <p:pic>
        <p:nvPicPr>
          <p:cNvPr id="19" name="Graphic 18" descr="Checkbox Checked with solid fill">
            <a:extLst>
              <a:ext uri="{FF2B5EF4-FFF2-40B4-BE49-F238E27FC236}">
                <a16:creationId xmlns:a16="http://schemas.microsoft.com/office/drawing/2014/main" id="{33DBCECC-4AC2-F159-4814-D1C43E4CC4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78595" y="3006992"/>
            <a:ext cx="519290" cy="519290"/>
          </a:xfrm>
          <a:prstGeom prst="rect">
            <a:avLst/>
          </a:prstGeom>
        </p:spPr>
      </p:pic>
      <p:pic>
        <p:nvPicPr>
          <p:cNvPr id="25" name="Graphic 15" descr="Checkbox Checked with solid fill">
            <a:extLst>
              <a:ext uri="{FF2B5EF4-FFF2-40B4-BE49-F238E27FC236}">
                <a16:creationId xmlns:a16="http://schemas.microsoft.com/office/drawing/2014/main" id="{5A229AA5-FF3E-51CC-DF4E-75FC29410F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1282" y="3677709"/>
            <a:ext cx="519290" cy="519290"/>
          </a:xfrm>
          <a:prstGeom prst="rect">
            <a:avLst/>
          </a:prstGeom>
        </p:spPr>
      </p:pic>
      <p:pic>
        <p:nvPicPr>
          <p:cNvPr id="27" name="Graphic 15" descr="Checkbox Checked with solid fill">
            <a:extLst>
              <a:ext uri="{FF2B5EF4-FFF2-40B4-BE49-F238E27FC236}">
                <a16:creationId xmlns:a16="http://schemas.microsoft.com/office/drawing/2014/main" id="{3FE3A4B1-144D-71A2-B9A6-4848E00EEB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1282" y="4386793"/>
            <a:ext cx="519290" cy="519290"/>
          </a:xfrm>
          <a:prstGeom prst="rect">
            <a:avLst/>
          </a:prstGeom>
        </p:spPr>
      </p:pic>
      <p:pic>
        <p:nvPicPr>
          <p:cNvPr id="44" name="Graphic 15" descr="Checkbox Checked with solid fill">
            <a:extLst>
              <a:ext uri="{FF2B5EF4-FFF2-40B4-BE49-F238E27FC236}">
                <a16:creationId xmlns:a16="http://schemas.microsoft.com/office/drawing/2014/main" id="{B8B4814F-36D0-64A7-424F-6928719239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1049" y="3677709"/>
            <a:ext cx="519290" cy="519290"/>
          </a:xfrm>
          <a:prstGeom prst="rect">
            <a:avLst/>
          </a:prstGeom>
        </p:spPr>
      </p:pic>
      <p:pic>
        <p:nvPicPr>
          <p:cNvPr id="26" name="Graphic 25" descr="Checkbox Checked with solid fill">
            <a:extLst>
              <a:ext uri="{FF2B5EF4-FFF2-40B4-BE49-F238E27FC236}">
                <a16:creationId xmlns:a16="http://schemas.microsoft.com/office/drawing/2014/main" id="{B6BC1C5E-4BD1-D285-BD5F-A35622072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5315" y="5087408"/>
            <a:ext cx="519290" cy="519290"/>
          </a:xfrm>
          <a:prstGeom prst="rect">
            <a:avLst/>
          </a:prstGeom>
        </p:spPr>
      </p:pic>
      <p:pic>
        <p:nvPicPr>
          <p:cNvPr id="48" name="Graphic 47" descr="Checkbox Checked with solid fill">
            <a:extLst>
              <a:ext uri="{FF2B5EF4-FFF2-40B4-BE49-F238E27FC236}">
                <a16:creationId xmlns:a16="http://schemas.microsoft.com/office/drawing/2014/main" id="{EA5C4443-982C-7172-7201-29159CB1F5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1047" y="4382558"/>
            <a:ext cx="519290" cy="519290"/>
          </a:xfrm>
          <a:prstGeom prst="rect">
            <a:avLst/>
          </a:prstGeom>
        </p:spPr>
      </p:pic>
      <p:pic>
        <p:nvPicPr>
          <p:cNvPr id="50" name="Graphic 49" descr="Checkbox Checked with solid fill">
            <a:extLst>
              <a:ext uri="{FF2B5EF4-FFF2-40B4-BE49-F238E27FC236}">
                <a16:creationId xmlns:a16="http://schemas.microsoft.com/office/drawing/2014/main" id="{711B7AF5-B921-9FDC-F318-371D4A52EA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0222" y="5087408"/>
            <a:ext cx="519290" cy="519290"/>
          </a:xfrm>
          <a:prstGeom prst="rect">
            <a:avLst/>
          </a:prstGeom>
        </p:spPr>
      </p:pic>
      <p:pic>
        <p:nvPicPr>
          <p:cNvPr id="51" name="Graphic 50" descr="Checkbox Checked with solid fill">
            <a:extLst>
              <a:ext uri="{FF2B5EF4-FFF2-40B4-BE49-F238E27FC236}">
                <a16:creationId xmlns:a16="http://schemas.microsoft.com/office/drawing/2014/main" id="{89187DD2-3368-0D4E-ACD7-69E099E2A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11722" y="3677709"/>
            <a:ext cx="519290" cy="519290"/>
          </a:xfrm>
          <a:prstGeom prst="rect">
            <a:avLst/>
          </a:prstGeom>
        </p:spPr>
      </p:pic>
    </p:spTree>
    <p:extLst>
      <p:ext uri="{BB962C8B-B14F-4D97-AF65-F5344CB8AC3E}">
        <p14:creationId xmlns:p14="http://schemas.microsoft.com/office/powerpoint/2010/main" val="337698836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additive="base">
                                        <p:cTn id="31" dur="500" fill="hold"/>
                                        <p:tgtEl>
                                          <p:spTgt spid="48"/>
                                        </p:tgtEl>
                                        <p:attrNameLst>
                                          <p:attrName>ppt_x</p:attrName>
                                        </p:attrNameLst>
                                      </p:cBhvr>
                                      <p:tavLst>
                                        <p:tav tm="0">
                                          <p:val>
                                            <p:strVal val="#ppt_x"/>
                                          </p:val>
                                        </p:tav>
                                        <p:tav tm="100000">
                                          <p:val>
                                            <p:strVal val="#ppt_x"/>
                                          </p:val>
                                        </p:tav>
                                      </p:tavLst>
                                    </p:anim>
                                    <p:anim calcmode="lin" valueType="num">
                                      <p:cBhvr additive="base">
                                        <p:cTn id="32" dur="500" fill="hold"/>
                                        <p:tgtEl>
                                          <p:spTgt spid="48"/>
                                        </p:tgtEl>
                                        <p:attrNameLst>
                                          <p:attrName>ppt_y</p:attrName>
                                        </p:attrNameLst>
                                      </p:cBhvr>
                                      <p:tavLst>
                                        <p:tav tm="0">
                                          <p:val>
                                            <p:strVal val="0-#ppt_h/2"/>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ppt_x"/>
                                          </p:val>
                                        </p:tav>
                                        <p:tav tm="100000">
                                          <p:val>
                                            <p:strVal val="#ppt_x"/>
                                          </p:val>
                                        </p:tav>
                                      </p:tavLst>
                                    </p:anim>
                                    <p:anim calcmode="lin" valueType="num">
                                      <p:cBhvr additive="base">
                                        <p:cTn id="36" dur="500" fill="hold"/>
                                        <p:tgtEl>
                                          <p:spTgt spid="27"/>
                                        </p:tgtEl>
                                        <p:attrNameLst>
                                          <p:attrName>ppt_y</p:attrName>
                                        </p:attrNameLst>
                                      </p:cBhvr>
                                      <p:tavLst>
                                        <p:tav tm="0">
                                          <p:val>
                                            <p:strVal val="0-#ppt_h/2"/>
                                          </p:val>
                                        </p:tav>
                                        <p:tav tm="100000">
                                          <p:val>
                                            <p:strVal val="#ppt_y"/>
                                          </p:val>
                                        </p:tav>
                                      </p:tavLst>
                                    </p:anim>
                                  </p:childTnLst>
                                </p:cTn>
                              </p:par>
                              <p:par>
                                <p:cTn id="37" presetID="2" presetClass="entr" presetSubtype="1"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anim calcmode="lin" valueType="num">
                                      <p:cBhvr additive="base">
                                        <p:cTn id="39" dur="500" fill="hold"/>
                                        <p:tgtEl>
                                          <p:spTgt spid="50"/>
                                        </p:tgtEl>
                                        <p:attrNameLst>
                                          <p:attrName>ppt_x</p:attrName>
                                        </p:attrNameLst>
                                      </p:cBhvr>
                                      <p:tavLst>
                                        <p:tav tm="0">
                                          <p:val>
                                            <p:strVal val="#ppt_x"/>
                                          </p:val>
                                        </p:tav>
                                        <p:tav tm="100000">
                                          <p:val>
                                            <p:strVal val="#ppt_x"/>
                                          </p:val>
                                        </p:tav>
                                      </p:tavLst>
                                    </p:anim>
                                    <p:anim calcmode="lin" valueType="num">
                                      <p:cBhvr additive="base">
                                        <p:cTn id="40" dur="500" fill="hold"/>
                                        <p:tgtEl>
                                          <p:spTgt spid="50"/>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anim calcmode="lin" valueType="num">
                                      <p:cBhvr additive="base">
                                        <p:cTn id="43" dur="500" fill="hold"/>
                                        <p:tgtEl>
                                          <p:spTgt spid="51"/>
                                        </p:tgtEl>
                                        <p:attrNameLst>
                                          <p:attrName>ppt_x</p:attrName>
                                        </p:attrNameLst>
                                      </p:cBhvr>
                                      <p:tavLst>
                                        <p:tav tm="0">
                                          <p:val>
                                            <p:strVal val="#ppt_x"/>
                                          </p:val>
                                        </p:tav>
                                        <p:tav tm="100000">
                                          <p:val>
                                            <p:strVal val="#ppt_x"/>
                                          </p:val>
                                        </p:tav>
                                      </p:tavLst>
                                    </p:anim>
                                    <p:anim calcmode="lin" valueType="num">
                                      <p:cBhvr additive="base">
                                        <p:cTn id="44"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BA03DDB3-693D-8C6B-3AC1-F368D8C04B7E}"/>
            </a:ext>
          </a:extLst>
        </p:cNvPr>
        <p:cNvGrpSpPr/>
        <p:nvPr/>
      </p:nvGrpSpPr>
      <p:grpSpPr>
        <a:xfrm>
          <a:off x="0" y="0"/>
          <a:ext cx="0" cy="0"/>
          <a:chOff x="0" y="0"/>
          <a:chExt cx="0" cy="0"/>
        </a:xfrm>
      </p:grpSpPr>
      <p:sp>
        <p:nvSpPr>
          <p:cNvPr id="12" name="Google Shape;233;p20">
            <a:extLst>
              <a:ext uri="{FF2B5EF4-FFF2-40B4-BE49-F238E27FC236}">
                <a16:creationId xmlns:a16="http://schemas.microsoft.com/office/drawing/2014/main" id="{62496454-DF5E-F757-FDCD-769C6C8125BC}"/>
              </a:ext>
            </a:extLst>
          </p:cNvPr>
          <p:cNvSpPr/>
          <p:nvPr/>
        </p:nvSpPr>
        <p:spPr>
          <a:xfrm>
            <a:off x="6905625" y="2171284"/>
            <a:ext cx="4152900" cy="4429540"/>
          </a:xfrm>
          <a:prstGeom prst="roundRect">
            <a:avLst>
              <a:gd name="adj" fmla="val 505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 name="Google Shape;234;p20">
            <a:extLst>
              <a:ext uri="{FF2B5EF4-FFF2-40B4-BE49-F238E27FC236}">
                <a16:creationId xmlns:a16="http://schemas.microsoft.com/office/drawing/2014/main" id="{DB4AAC6B-6CB9-7C6A-B60D-93BAFF19CF61}"/>
              </a:ext>
            </a:extLst>
          </p:cNvPr>
          <p:cNvSpPr/>
          <p:nvPr/>
        </p:nvSpPr>
        <p:spPr>
          <a:xfrm>
            <a:off x="1328346" y="1504535"/>
            <a:ext cx="4152900" cy="452139"/>
          </a:xfrm>
          <a:prstGeom prst="roundRect">
            <a:avLst>
              <a:gd name="adj" fmla="val 33147"/>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4" name="Google Shape;233;p20">
            <a:extLst>
              <a:ext uri="{FF2B5EF4-FFF2-40B4-BE49-F238E27FC236}">
                <a16:creationId xmlns:a16="http://schemas.microsoft.com/office/drawing/2014/main" id="{45B9EFAF-2E65-A29A-E3E9-2824AA5EC329}"/>
              </a:ext>
            </a:extLst>
          </p:cNvPr>
          <p:cNvSpPr/>
          <p:nvPr/>
        </p:nvSpPr>
        <p:spPr>
          <a:xfrm>
            <a:off x="1328346" y="2171283"/>
            <a:ext cx="4152900" cy="4429541"/>
          </a:xfrm>
          <a:prstGeom prst="roundRect">
            <a:avLst>
              <a:gd name="adj" fmla="val 5053"/>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21">
            <a:extLst>
              <a:ext uri="{FF2B5EF4-FFF2-40B4-BE49-F238E27FC236}">
                <a16:creationId xmlns:a16="http://schemas.microsoft.com/office/drawing/2014/main" id="{EFC87327-CB34-C778-8060-55E36014FF7F}"/>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pPr lvl="0"/>
            <a:r>
              <a:rPr lang="en-US" sz="3000">
                <a:solidFill>
                  <a:srgbClr val="FFFFFF"/>
                </a:solidFill>
                <a:latin typeface="Poppins SemiBold"/>
                <a:ea typeface="Poppins SemiBold"/>
                <a:cs typeface="Poppins SemiBold"/>
                <a:sym typeface="Poppins SemiBold"/>
              </a:rPr>
              <a:t>Retrospective</a:t>
            </a:r>
            <a:endParaRPr lang="en-US" sz="3200"/>
          </a:p>
        </p:txBody>
      </p:sp>
      <p:sp>
        <p:nvSpPr>
          <p:cNvPr id="255" name="Google Shape;255;p21">
            <a:extLst>
              <a:ext uri="{FF2B5EF4-FFF2-40B4-BE49-F238E27FC236}">
                <a16:creationId xmlns:a16="http://schemas.microsoft.com/office/drawing/2014/main" id="{D40B6DDC-126F-719E-1F38-31FBFD0D8399}"/>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F05B598F-3D81-315F-D559-5DCB7F93DC05}"/>
              </a:ext>
            </a:extLst>
          </p:cNvPr>
          <p:cNvSpPr txBox="1"/>
          <p:nvPr/>
        </p:nvSpPr>
        <p:spPr>
          <a:xfrm>
            <a:off x="1592075" y="2413337"/>
            <a:ext cx="3455783" cy="3139321"/>
          </a:xfrm>
          <a:prstGeom prst="rect">
            <a:avLst/>
          </a:prstGeom>
          <a:noFill/>
        </p:spPr>
        <p:txBody>
          <a:bodyPr wrap="square" lIns="91440" tIns="45720" rIns="91440" bIns="45720" rtlCol="0" anchor="t">
            <a:spAutoFit/>
          </a:bodyPr>
          <a:lstStyle/>
          <a:p>
            <a:pPr marL="285750" indent="-285750" algn="just">
              <a:buClr>
                <a:schemeClr val="bg1"/>
              </a:buClr>
              <a:buFont typeface="Arial" panose="020B0604020202020204" pitchFamily="34" charset="0"/>
              <a:buChar char="•"/>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A primary bottleneck in our project was the severe</a:t>
            </a:r>
            <a:r>
              <a:rPr lang="en-US" sz="1800" b="1" u="sng">
                <a:solidFill>
                  <a:srgbClr val="FF0000"/>
                </a:solidFill>
                <a:latin typeface="Lato" panose="020F0502020204030203" pitchFamily="34" charset="0"/>
                <a:ea typeface="Lato" panose="020F0502020204030203" pitchFamily="34" charset="0"/>
                <a:cs typeface="Lato" panose="020F0502020204030203" pitchFamily="34" charset="0"/>
              </a:rPr>
              <a:t> </a:t>
            </a: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limitation of computational resources. </a:t>
            </a:r>
          </a:p>
          <a:p>
            <a:pPr marL="520700" lvl="2" indent="-285750" algn="just">
              <a:buClr>
                <a:schemeClr val="bg1"/>
              </a:buClr>
              <a:buFont typeface="Courier New" panose="02070309020205020404" pitchFamily="49" charset="0"/>
              <a:buChar char="o"/>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we faced inadequate processing speeds during the model training phase and critically insufficient Video RAM (VRAM),. </a:t>
            </a:r>
          </a:p>
          <a:p>
            <a:pPr marL="520700" lvl="2" indent="-285750" algn="just">
              <a:buClr>
                <a:schemeClr val="bg1"/>
              </a:buClr>
              <a:buFont typeface="Courier New" panose="02070309020205020404" pitchFamily="49" charset="0"/>
              <a:buChar char="o"/>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Small Size Models</a:t>
            </a:r>
          </a:p>
          <a:p>
            <a:pPr marL="285750" indent="-285750" algn="just">
              <a:buClr>
                <a:schemeClr val="bg1"/>
              </a:buClr>
              <a:buFont typeface="Arial" panose="020B0604020202020204" pitchFamily="34" charset="0"/>
              <a:buChar char="•"/>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Time Constraints</a:t>
            </a:r>
            <a:endParaRPr lang="el-GR" sz="18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51AAAB41-FDCB-A5F7-0CA8-AFB290DA847F}"/>
              </a:ext>
            </a:extLst>
          </p:cNvPr>
          <p:cNvSpPr txBox="1"/>
          <p:nvPr/>
        </p:nvSpPr>
        <p:spPr>
          <a:xfrm>
            <a:off x="2333233" y="1516349"/>
            <a:ext cx="2143125" cy="461665"/>
          </a:xfrm>
          <a:prstGeom prst="rect">
            <a:avLst/>
          </a:prstGeom>
          <a:noFill/>
        </p:spPr>
        <p:txBody>
          <a:bodyPr wrap="square">
            <a:spAutoFit/>
          </a:bodyPr>
          <a:lstStyle/>
          <a:p>
            <a:r>
              <a:rPr lang="en-US" sz="2400" b="1">
                <a:solidFill>
                  <a:srgbClr val="C084FC"/>
                </a:solidFill>
                <a:latin typeface="Poppins SemiBold" panose="00000700000000000000" pitchFamily="2" charset="0"/>
                <a:cs typeface="Poppins SemiBold" panose="00000700000000000000" pitchFamily="2" charset="0"/>
              </a:rPr>
              <a:t>CHALLENGES</a:t>
            </a:r>
            <a:endParaRPr lang="en-US">
              <a:solidFill>
                <a:srgbClr val="C084FC"/>
              </a:solidFill>
              <a:latin typeface="Poppins SemiBold" panose="00000700000000000000" pitchFamily="2" charset="0"/>
              <a:cs typeface="Poppins SemiBold" panose="00000700000000000000" pitchFamily="2" charset="0"/>
            </a:endParaRPr>
          </a:p>
        </p:txBody>
      </p:sp>
      <p:sp>
        <p:nvSpPr>
          <p:cNvPr id="10" name="Google Shape;234;p20">
            <a:extLst>
              <a:ext uri="{FF2B5EF4-FFF2-40B4-BE49-F238E27FC236}">
                <a16:creationId xmlns:a16="http://schemas.microsoft.com/office/drawing/2014/main" id="{E3A1675B-9F7C-0DD7-6C53-CFC07AFD6B1D}"/>
              </a:ext>
            </a:extLst>
          </p:cNvPr>
          <p:cNvSpPr/>
          <p:nvPr/>
        </p:nvSpPr>
        <p:spPr>
          <a:xfrm>
            <a:off x="6905625" y="1504535"/>
            <a:ext cx="4152900" cy="452139"/>
          </a:xfrm>
          <a:prstGeom prst="roundRect">
            <a:avLst>
              <a:gd name="adj" fmla="val 33147"/>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sz="1138"/>
          </a:p>
        </p:txBody>
      </p:sp>
      <p:sp>
        <p:nvSpPr>
          <p:cNvPr id="14" name="TextBox 13">
            <a:extLst>
              <a:ext uri="{FF2B5EF4-FFF2-40B4-BE49-F238E27FC236}">
                <a16:creationId xmlns:a16="http://schemas.microsoft.com/office/drawing/2014/main" id="{B8C47994-62FA-150C-D259-0C94C66440E5}"/>
              </a:ext>
            </a:extLst>
          </p:cNvPr>
          <p:cNvSpPr txBox="1"/>
          <p:nvPr/>
        </p:nvSpPr>
        <p:spPr>
          <a:xfrm>
            <a:off x="6905625" y="1495009"/>
            <a:ext cx="4152900" cy="461665"/>
          </a:xfrm>
          <a:prstGeom prst="rect">
            <a:avLst/>
          </a:prstGeom>
          <a:noFill/>
        </p:spPr>
        <p:txBody>
          <a:bodyPr wrap="square">
            <a:spAutoFit/>
          </a:bodyPr>
          <a:lstStyle/>
          <a:p>
            <a:r>
              <a:rPr lang="en-US" sz="2400" b="1">
                <a:solidFill>
                  <a:srgbClr val="C084FC"/>
                </a:solidFill>
                <a:latin typeface="Poppins SemiBold" panose="00000700000000000000" pitchFamily="2" charset="0"/>
                <a:cs typeface="Poppins SemiBold" panose="00000700000000000000" pitchFamily="2" charset="0"/>
              </a:rPr>
              <a:t>POSSIBLY IMPROVEMENTS</a:t>
            </a:r>
            <a:endParaRPr lang="en-US">
              <a:solidFill>
                <a:srgbClr val="C084FC"/>
              </a:solidFill>
              <a:latin typeface="Poppins SemiBold" panose="00000700000000000000" pitchFamily="2" charset="0"/>
              <a:cs typeface="Poppins SemiBold" panose="00000700000000000000" pitchFamily="2" charset="0"/>
            </a:endParaRPr>
          </a:p>
        </p:txBody>
      </p:sp>
      <p:sp>
        <p:nvSpPr>
          <p:cNvPr id="16" name="TextBox 15">
            <a:extLst>
              <a:ext uri="{FF2B5EF4-FFF2-40B4-BE49-F238E27FC236}">
                <a16:creationId xmlns:a16="http://schemas.microsoft.com/office/drawing/2014/main" id="{32791624-29A9-A394-F66F-03F71E956893}"/>
              </a:ext>
            </a:extLst>
          </p:cNvPr>
          <p:cNvSpPr txBox="1"/>
          <p:nvPr/>
        </p:nvSpPr>
        <p:spPr>
          <a:xfrm>
            <a:off x="7165376" y="2413337"/>
            <a:ext cx="3510357" cy="2031325"/>
          </a:xfrm>
          <a:prstGeom prst="rect">
            <a:avLst/>
          </a:prstGeom>
          <a:noFill/>
        </p:spPr>
        <p:txBody>
          <a:bodyPr wrap="square">
            <a:spAutoFit/>
          </a:bodyPr>
          <a:lstStyle/>
          <a:p>
            <a:pPr marL="285750" indent="-285750" algn="just">
              <a:buClr>
                <a:schemeClr val="bg1"/>
              </a:buClr>
              <a:buFont typeface="Arial" panose="020B0604020202020204" pitchFamily="34" charset="0"/>
              <a:buChar char="•"/>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Implemented comprehensive runtime logging from project inception</a:t>
            </a:r>
          </a:p>
          <a:p>
            <a:pPr marL="285750" indent="-285750" algn="just">
              <a:buClr>
                <a:schemeClr val="bg1"/>
              </a:buClr>
              <a:buFont typeface="Arial" panose="020B0604020202020204" pitchFamily="34" charset="0"/>
              <a:buChar char="•"/>
            </a:pPr>
            <a:r>
              <a:rPr lang="en-US" sz="1800" b="1">
                <a:solidFill>
                  <a:schemeClr val="bg1"/>
                </a:solidFill>
                <a:latin typeface="Lato" panose="020F0502020204030203" pitchFamily="34" charset="0"/>
                <a:ea typeface="Lato" panose="020F0502020204030203" pitchFamily="34" charset="0"/>
                <a:cs typeface="Lato" panose="020F0502020204030203" pitchFamily="34" charset="0"/>
              </a:rPr>
              <a:t>Optimizer Memory Handling in order to increase token length capacity during training phase</a:t>
            </a:r>
          </a:p>
        </p:txBody>
      </p:sp>
    </p:spTree>
    <p:extLst>
      <p:ext uri="{BB962C8B-B14F-4D97-AF65-F5344CB8AC3E}">
        <p14:creationId xmlns:p14="http://schemas.microsoft.com/office/powerpoint/2010/main" val="1602878032"/>
      </p:ext>
    </p:extLst>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0CD352AC-0CC9-7662-09F8-D2EC5653067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FF90B02-6BD0-E3AF-622D-BC7404D292F6}"/>
              </a:ext>
            </a:extLst>
          </p:cNvPr>
          <p:cNvSpPr/>
          <p:nvPr/>
        </p:nvSpPr>
        <p:spPr>
          <a:xfrm>
            <a:off x="2260954" y="4978865"/>
            <a:ext cx="7773035" cy="1015663"/>
          </a:xfrm>
          <a:prstGeom prst="roundRect">
            <a:avLst/>
          </a:prstGeom>
          <a:gradFill flip="none" rotWithShape="0">
            <a:gsLst>
              <a:gs pos="14000">
                <a:srgbClr val="0F111C">
                  <a:alpha val="0"/>
                </a:srgbClr>
              </a:gs>
              <a:gs pos="28000">
                <a:schemeClr val="accent1">
                  <a:lumMod val="0"/>
                </a:schemeClr>
              </a:gs>
              <a:gs pos="58000">
                <a:srgbClr val="0F111D"/>
              </a:gs>
              <a:gs pos="86000">
                <a:srgbClr val="0F1320">
                  <a:lumMod val="100000"/>
                  <a:alpha val="0"/>
                </a:srgbClr>
              </a:gs>
            </a:gsLst>
            <a:lin ang="10800000" scaled="0"/>
            <a:tileRect/>
          </a:gradFill>
          <a:ln w="12700">
            <a:noFill/>
          </a:ln>
          <a:effectLst>
            <a:glow>
              <a:srgbClr val="111A33"/>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Question mind Images - Free Download on Magnific (formerly Freepik)">
            <a:extLst>
              <a:ext uri="{FF2B5EF4-FFF2-40B4-BE49-F238E27FC236}">
                <a16:creationId xmlns:a16="http://schemas.microsoft.com/office/drawing/2014/main" id="{9CAD70C5-3718-417B-8D99-87C88E6E0C8E}"/>
              </a:ext>
            </a:extLst>
          </p:cNvPr>
          <p:cNvPicPr>
            <a:picLocks noChangeArrowheads="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11500"/>
                    </a14:imgEffect>
                    <a14:imgEffect>
                      <a14:saturation sat="400000"/>
                    </a14:imgEffect>
                  </a14:imgLayer>
                </a14:imgProps>
              </a:ext>
            </a:extLst>
          </a:blip>
          <a:srcRect/>
          <a:stretch/>
        </p:blipFill>
        <p:spPr bwMode="auto">
          <a:xfrm>
            <a:off x="3927193" y="1618690"/>
            <a:ext cx="4440555" cy="4128769"/>
          </a:xfrm>
          <a:prstGeom prst="ellipse">
            <a:avLst/>
          </a:prstGeom>
          <a:noFill/>
          <a:ln w="63500" cap="rnd">
            <a:noFill/>
          </a:ln>
          <a:effectLst>
            <a:glow rad="812800">
              <a:srgbClr val="514860">
                <a:alpha val="32000"/>
              </a:srgbClr>
            </a:glow>
            <a:outerShdw blurRad="381000" dist="292100" dir="5400000" sx="-80000" sy="-18000" rotWithShape="0">
              <a:srgbClr val="000000">
                <a:alpha val="22000"/>
              </a:srgbClr>
            </a:outerShdw>
            <a:softEdge rad="1270000"/>
          </a:effectLst>
          <a:scene3d>
            <a:camera prst="orthographicFront"/>
            <a:lightRig rig="contrasting" dir="t">
              <a:rot lat="0" lon="0" rev="3000000"/>
            </a:lightRig>
          </a:scene3d>
          <a:sp3d contourW="7620">
            <a:bevelT w="95250" h="31750"/>
            <a:contourClr>
              <a:srgbClr val="333333"/>
            </a:contourClr>
          </a:sp3d>
        </p:spPr>
      </p:pic>
      <p:sp>
        <p:nvSpPr>
          <p:cNvPr id="254" name="Google Shape;254;p21">
            <a:extLst>
              <a:ext uri="{FF2B5EF4-FFF2-40B4-BE49-F238E27FC236}">
                <a16:creationId xmlns:a16="http://schemas.microsoft.com/office/drawing/2014/main" id="{FB6A838A-D8E2-6AC1-CDF9-6EAA73CB4884}"/>
              </a:ext>
            </a:extLst>
          </p:cNvPr>
          <p:cNvSpPr txBox="1"/>
          <p:nvPr/>
        </p:nvSpPr>
        <p:spPr>
          <a:xfrm>
            <a:off x="571500" y="476250"/>
            <a:ext cx="11601450" cy="461665"/>
          </a:xfrm>
          <a:prstGeom prst="rect">
            <a:avLst/>
          </a:prstGeom>
          <a:noFill/>
          <a:ln>
            <a:noFill/>
          </a:ln>
        </p:spPr>
        <p:txBody>
          <a:bodyPr spcFirstLastPara="1" wrap="square" lIns="0" tIns="0" rIns="0" bIns="0" anchor="t" anchorCtr="0">
            <a:spAutoFit/>
          </a:bodyPr>
          <a:lstStyle/>
          <a:p>
            <a:r>
              <a:rPr lang="en-US" sz="3000" b="1">
                <a:solidFill>
                  <a:schemeClr val="bg1"/>
                </a:solidFill>
                <a:latin typeface="Poppins SemiBold" panose="00000700000000000000" pitchFamily="2" charset="0"/>
                <a:cs typeface="Poppins SemiBold" panose="00000700000000000000" pitchFamily="2" charset="0"/>
              </a:rPr>
              <a:t>THANK YOU FOR YOUR ATTENTION</a:t>
            </a:r>
          </a:p>
        </p:txBody>
      </p:sp>
      <p:sp>
        <p:nvSpPr>
          <p:cNvPr id="255" name="Google Shape;255;p21">
            <a:extLst>
              <a:ext uri="{FF2B5EF4-FFF2-40B4-BE49-F238E27FC236}">
                <a16:creationId xmlns:a16="http://schemas.microsoft.com/office/drawing/2014/main" id="{1BCAAE2B-9654-9E1C-E464-631BA7547BCF}"/>
              </a:ext>
            </a:extLst>
          </p:cNvPr>
          <p:cNvSpPr/>
          <p:nvPr/>
        </p:nvSpPr>
        <p:spPr>
          <a:xfrm>
            <a:off x="571500" y="1143000"/>
            <a:ext cx="11049000" cy="9525"/>
          </a:xfrm>
          <a:prstGeom prst="rect">
            <a:avLst/>
          </a:prstGeom>
          <a:solidFill>
            <a:srgbClr val="2A3A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TextBox 13">
            <a:extLst>
              <a:ext uri="{FF2B5EF4-FFF2-40B4-BE49-F238E27FC236}">
                <a16:creationId xmlns:a16="http://schemas.microsoft.com/office/drawing/2014/main" id="{8AA7093C-75B1-8B26-D42A-D8E5B38000C7}"/>
              </a:ext>
            </a:extLst>
          </p:cNvPr>
          <p:cNvSpPr txBox="1"/>
          <p:nvPr/>
        </p:nvSpPr>
        <p:spPr>
          <a:xfrm>
            <a:off x="3540434" y="4978865"/>
            <a:ext cx="5663582" cy="830997"/>
          </a:xfrm>
          <a:prstGeom prst="rect">
            <a:avLst/>
          </a:prstGeom>
          <a:noFill/>
          <a:ln w="19050">
            <a:noFill/>
          </a:ln>
        </p:spPr>
        <p:txBody>
          <a:bodyPr wrap="square" rtlCol="0">
            <a:spAutoFit/>
          </a:bodyPr>
          <a:lstStyle/>
          <a:p>
            <a:r>
              <a:rPr lang="en-US" sz="4800" b="1" u="sng">
                <a:solidFill>
                  <a:srgbClr val="FDE047"/>
                </a:solidFill>
                <a:latin typeface="Poppins SemiBold" panose="00000700000000000000" pitchFamily="2" charset="0"/>
                <a:ea typeface="Lato" panose="020F0502020204030203" pitchFamily="34" charset="0"/>
                <a:cs typeface="Poppins SemiBold" panose="00000700000000000000" pitchFamily="2" charset="0"/>
              </a:rPr>
              <a:t>ANY QUESTIONS</a:t>
            </a:r>
            <a:r>
              <a:rPr lang="en-US" sz="4800" b="1" u="sng">
                <a:solidFill>
                  <a:srgbClr val="FDE047"/>
                </a:solidFill>
                <a:latin typeface="Poppins SemiBold" panose="00000700000000000000" pitchFamily="2" charset="0"/>
                <a:cs typeface="Poppins SemiBold" panose="00000700000000000000" pitchFamily="2" charset="0"/>
              </a:rPr>
              <a:t>?</a:t>
            </a:r>
          </a:p>
        </p:txBody>
      </p:sp>
    </p:spTree>
    <p:extLst>
      <p:ext uri="{BB962C8B-B14F-4D97-AF65-F5344CB8AC3E}">
        <p14:creationId xmlns:p14="http://schemas.microsoft.com/office/powerpoint/2010/main" val="266932553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Vertical)">
                                      <p:cBhvr>
                                        <p:cTn id="7" dur="500"/>
                                        <p:tgtEl>
                                          <p:spTgt spid="9"/>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outVertical)">
                                      <p:cBhvr>
                                        <p:cTn id="10" dur="500"/>
                                        <p:tgtEl>
                                          <p:spTgt spid="1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outVertical)">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Ευρεία οθόνη</PresentationFormat>
  <Slides>20</Slides>
  <Notes>20</Notes>
  <HiddenSlides>0</HiddenSlides>
  <ScaleCrop>false</ScaleCrop>
  <HeadingPairs>
    <vt:vector size="4" baseType="variant">
      <vt:variant>
        <vt:lpstr>Θέμα</vt:lpstr>
      </vt:variant>
      <vt:variant>
        <vt:i4>1</vt:i4>
      </vt:variant>
      <vt:variant>
        <vt:lpstr>Τίτλοι διαφανειών</vt:lpstr>
      </vt:variant>
      <vt:variant>
        <vt:i4>20</vt:i4>
      </vt:variant>
    </vt:vector>
  </HeadingPairs>
  <TitlesOfParts>
    <vt:vector size="21" baseType="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dimitris</dc:creator>
  <cp:revision>2</cp:revision>
  <dcterms:modified xsi:type="dcterms:W3CDTF">2026-07-01T08:58:50Z</dcterms:modified>
</cp:coreProperties>
</file>